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08" r:id="rId2"/>
    <p:sldId id="30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6" r:id="rId35"/>
    <p:sldId id="288" r:id="rId36"/>
    <p:sldId id="289" r:id="rId37"/>
    <p:sldId id="290" r:id="rId38"/>
    <p:sldId id="291" r:id="rId39"/>
    <p:sldId id="292" r:id="rId40"/>
    <p:sldId id="310" r:id="rId41"/>
    <p:sldId id="297" r:id="rId42"/>
    <p:sldId id="298" r:id="rId43"/>
    <p:sldId id="299" r:id="rId44"/>
    <p:sldId id="300" r:id="rId45"/>
    <p:sldId id="301" r:id="rId46"/>
    <p:sldId id="302" r:id="rId47"/>
    <p:sldId id="303" r:id="rId48"/>
    <p:sldId id="304" r:id="rId49"/>
    <p:sldId id="305" r:id="rId50"/>
    <p:sldId id="293" r:id="rId51"/>
    <p:sldId id="294" r:id="rId52"/>
    <p:sldId id="306"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9" autoAdjust="0"/>
    <p:restoredTop sz="94660"/>
  </p:normalViewPr>
  <p:slideViewPr>
    <p:cSldViewPr snapToGrid="0">
      <p:cViewPr varScale="1">
        <p:scale>
          <a:sx n="68" d="100"/>
          <a:sy n="68" d="100"/>
        </p:scale>
        <p:origin x="8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5B102A-34D5-474A-842F-C62C072D09B4}"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3FF894-65BE-4BD1-BEC2-5A6C9D096164}" type="slidenum">
              <a:rPr lang="en-US" smtClean="0"/>
              <a:t>‹#›</a:t>
            </a:fld>
            <a:endParaRPr lang="en-US"/>
          </a:p>
        </p:txBody>
      </p:sp>
    </p:spTree>
    <p:extLst>
      <p:ext uri="{BB962C8B-B14F-4D97-AF65-F5344CB8AC3E}">
        <p14:creationId xmlns:p14="http://schemas.microsoft.com/office/powerpoint/2010/main" val="3769708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3FF894-65BE-4BD1-BEC2-5A6C9D096164}" type="slidenum">
              <a:rPr lang="en-US" smtClean="0"/>
              <a:t>51</a:t>
            </a:fld>
            <a:endParaRPr lang="en-US"/>
          </a:p>
        </p:txBody>
      </p:sp>
    </p:spTree>
    <p:extLst>
      <p:ext uri="{BB962C8B-B14F-4D97-AF65-F5344CB8AC3E}">
        <p14:creationId xmlns:p14="http://schemas.microsoft.com/office/powerpoint/2010/main" val="4122246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4275-CBF3-DA99-4F0D-5AFFD3081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BA688D-0BD0-F913-45C5-6F645CE6C3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69B7CD-1F91-84E1-F2EE-A4395E52E0E3}"/>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5" name="Footer Placeholder 4">
            <a:extLst>
              <a:ext uri="{FF2B5EF4-FFF2-40B4-BE49-F238E27FC236}">
                <a16:creationId xmlns:a16="http://schemas.microsoft.com/office/drawing/2014/main" id="{21B827B8-4838-AD9C-209E-2499B3405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F0223-32C0-9717-7DFA-180B07C6113F}"/>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210953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0738-67BA-00B5-AE4A-FF3CC046E9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362169-0661-760E-4155-C5BE5D075F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10EA5C-FE95-54DE-E3B7-CE1F9B24000B}"/>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5" name="Footer Placeholder 4">
            <a:extLst>
              <a:ext uri="{FF2B5EF4-FFF2-40B4-BE49-F238E27FC236}">
                <a16:creationId xmlns:a16="http://schemas.microsoft.com/office/drawing/2014/main" id="{B030B63C-0166-6218-D970-A6FB7B6C17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29FC05-C31D-CEF2-793D-D4270A8AED53}"/>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3300864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36E81-C5CD-40E2-141B-8E1C417547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FD1ADB-3D54-385A-7F5B-FEA2AE5564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9FA8D5-74DF-1C38-CFBA-904A01E6A6CE}"/>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5" name="Footer Placeholder 4">
            <a:extLst>
              <a:ext uri="{FF2B5EF4-FFF2-40B4-BE49-F238E27FC236}">
                <a16:creationId xmlns:a16="http://schemas.microsoft.com/office/drawing/2014/main" id="{62BC566C-4844-591C-FF35-34E3B13EDC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4AACDC-9499-51E1-5E7D-652E1E582EBA}"/>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1853022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84323-BFFA-3B6F-B05D-02E627C5E5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EA500-5196-DF14-2222-A465F624C1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7F29D1-8823-A7E5-5997-90E65ABD6F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465AE2-EA52-0CEC-FB23-AE6E555B82A3}"/>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6" name="Footer Placeholder 5">
            <a:extLst>
              <a:ext uri="{FF2B5EF4-FFF2-40B4-BE49-F238E27FC236}">
                <a16:creationId xmlns:a16="http://schemas.microsoft.com/office/drawing/2014/main" id="{0A55CD17-BF89-93CC-8CBD-026678D6FC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1C147-4212-EAD8-3C49-C4352E8CA946}"/>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939229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0B219-9E63-DB70-65A1-D84704D77C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24F406-51C2-F925-D07C-211A87DBF8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70CB01-E728-B20C-0C15-FABB9C1478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343B52-C519-C477-ADC4-CE1FE480B5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8AA1C3-9C91-430F-1756-321582644E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EF15E-658B-A87A-76D3-2E7CDFB24B33}"/>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8" name="Footer Placeholder 7">
            <a:extLst>
              <a:ext uri="{FF2B5EF4-FFF2-40B4-BE49-F238E27FC236}">
                <a16:creationId xmlns:a16="http://schemas.microsoft.com/office/drawing/2014/main" id="{1BF93CA7-A00C-19B1-B3DD-05120F93FF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F015EB-F05F-4073-87B6-DF1BBF8983C4}"/>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44722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D3E56-E6CE-BF39-8556-D198C612DF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40F024-AF0B-9C80-E0F5-BB58C72B824F}"/>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4" name="Footer Placeholder 3">
            <a:extLst>
              <a:ext uri="{FF2B5EF4-FFF2-40B4-BE49-F238E27FC236}">
                <a16:creationId xmlns:a16="http://schemas.microsoft.com/office/drawing/2014/main" id="{6C6BC41C-61E0-11AD-EBD6-9D50602155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643B12-F5B8-A9F6-1107-F0112904D1B4}"/>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3277080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AD8EEE-3C86-9C91-F554-B27488A99B2F}"/>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3" name="Footer Placeholder 2">
            <a:extLst>
              <a:ext uri="{FF2B5EF4-FFF2-40B4-BE49-F238E27FC236}">
                <a16:creationId xmlns:a16="http://schemas.microsoft.com/office/drawing/2014/main" id="{7D48A580-F87A-365E-BA9F-B8938826B2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6D949D-A571-C0CF-A65F-3CE68EEDD8C1}"/>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2876564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18E6D-CD9B-A1B9-D2A6-F4A255E946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0071A-61E8-9244-39AF-851C4E825B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0DDFF3-AEEA-1749-CED2-C78241DE33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EA7F59-E1FB-26DC-8371-4ACCB57F70F2}"/>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6" name="Footer Placeholder 5">
            <a:extLst>
              <a:ext uri="{FF2B5EF4-FFF2-40B4-BE49-F238E27FC236}">
                <a16:creationId xmlns:a16="http://schemas.microsoft.com/office/drawing/2014/main" id="{5234EE51-1523-EE21-2D31-B3CE95BA60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C0BE10-4EE7-C8D1-2914-C053499B033B}"/>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3882500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9B416-A315-136A-8D5A-6050B075D2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27F83C-0006-7211-CE02-7C4A34D691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15CFEE-F397-F6FD-9330-B41469A3C4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AD599D-B4A6-0CF0-7F1A-C55A727C2F38}"/>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6" name="Footer Placeholder 5">
            <a:extLst>
              <a:ext uri="{FF2B5EF4-FFF2-40B4-BE49-F238E27FC236}">
                <a16:creationId xmlns:a16="http://schemas.microsoft.com/office/drawing/2014/main" id="{6C8B4D4E-BC68-D260-6229-0B6F5566C1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6493E2-7D68-FB26-65EA-7F7EA3EB7342}"/>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2126275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3C32-BC77-8E0D-AB95-C1F51F61F6A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2C134D-C6D9-0755-28DB-8FB63FAC81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0816C-8B2E-E9A6-20E3-C0D42F84AB49}"/>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5" name="Footer Placeholder 4">
            <a:extLst>
              <a:ext uri="{FF2B5EF4-FFF2-40B4-BE49-F238E27FC236}">
                <a16:creationId xmlns:a16="http://schemas.microsoft.com/office/drawing/2014/main" id="{FE9B93A4-724F-C1B8-A7FA-879AB99C2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5FC614-0E7F-8EA3-3202-3B3613B0CAF9}"/>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2851590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5965F2-516B-479C-968A-0047F855D0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1EB83A-8015-79C6-A23F-5948D2F64A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AFC92-0A88-9DB1-886F-74D8320C04A3}"/>
              </a:ext>
            </a:extLst>
          </p:cNvPr>
          <p:cNvSpPr>
            <a:spLocks noGrp="1"/>
          </p:cNvSpPr>
          <p:nvPr>
            <p:ph type="dt" sz="half" idx="10"/>
          </p:nvPr>
        </p:nvSpPr>
        <p:spPr/>
        <p:txBody>
          <a:bodyPr/>
          <a:lstStyle/>
          <a:p>
            <a:fld id="{B5532371-C0CA-4C7D-AD92-B36425C9DE42}" type="datetimeFigureOut">
              <a:rPr lang="en-US" smtClean="0"/>
              <a:t>7/29/2026</a:t>
            </a:fld>
            <a:endParaRPr lang="en-US"/>
          </a:p>
        </p:txBody>
      </p:sp>
      <p:sp>
        <p:nvSpPr>
          <p:cNvPr id="5" name="Footer Placeholder 4">
            <a:extLst>
              <a:ext uri="{FF2B5EF4-FFF2-40B4-BE49-F238E27FC236}">
                <a16:creationId xmlns:a16="http://schemas.microsoft.com/office/drawing/2014/main" id="{9DFB7257-AFF3-260D-31CE-FF86C27BF5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32A15-65C4-3A09-47FC-14A444FE5C25}"/>
              </a:ext>
            </a:extLst>
          </p:cNvPr>
          <p:cNvSpPr>
            <a:spLocks noGrp="1"/>
          </p:cNvSpPr>
          <p:nvPr>
            <p:ph type="sldNum" sz="quarter" idx="12"/>
          </p:nvPr>
        </p:nvSpPr>
        <p:spPr/>
        <p:txBody>
          <a:bodyPr/>
          <a:lstStyle/>
          <a:p>
            <a:fld id="{7E2D4E70-196A-40BB-B65F-3455FA3FDB14}" type="slidenum">
              <a:rPr lang="en-US" smtClean="0"/>
              <a:t>‹#›</a:t>
            </a:fld>
            <a:endParaRPr lang="en-US"/>
          </a:p>
        </p:txBody>
      </p:sp>
    </p:spTree>
    <p:extLst>
      <p:ext uri="{BB962C8B-B14F-4D97-AF65-F5344CB8AC3E}">
        <p14:creationId xmlns:p14="http://schemas.microsoft.com/office/powerpoint/2010/main" val="4137280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2DCA64-D2FD-9F5E-A960-D6945504AF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25DE51-42FB-DADD-245F-02950CF04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843777-80CB-1DE4-1C65-F70CEF01F6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532371-C0CA-4C7D-AD92-B36425C9DE42}" type="datetimeFigureOut">
              <a:rPr lang="en-US" smtClean="0"/>
              <a:t>7/29/2026</a:t>
            </a:fld>
            <a:endParaRPr lang="en-US"/>
          </a:p>
        </p:txBody>
      </p:sp>
      <p:sp>
        <p:nvSpPr>
          <p:cNvPr id="5" name="Footer Placeholder 4">
            <a:extLst>
              <a:ext uri="{FF2B5EF4-FFF2-40B4-BE49-F238E27FC236}">
                <a16:creationId xmlns:a16="http://schemas.microsoft.com/office/drawing/2014/main" id="{D554911A-9FB0-4899-BD05-0F3572553D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0D1110-B6F2-EEA8-4D05-E7EEF35952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2D4E70-196A-40BB-B65F-3455FA3FDB14}" type="slidenum">
              <a:rPr lang="en-US" smtClean="0"/>
              <a:t>‹#›</a:t>
            </a:fld>
            <a:endParaRPr lang="en-US"/>
          </a:p>
        </p:txBody>
      </p:sp>
    </p:spTree>
    <p:extLst>
      <p:ext uri="{BB962C8B-B14F-4D97-AF65-F5344CB8AC3E}">
        <p14:creationId xmlns:p14="http://schemas.microsoft.com/office/powerpoint/2010/main" val="1249771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rchive.ics.uci.edu/dataset/222/bank+market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archive.ics.uci.edu/dataset/222/bank+marketin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imbalanced-learn.org/stable/references/generated/imblearn.combine.SMOTETomek.html" TargetMode="External"/><Relationship Id="rId4" Type="http://schemas.openxmlformats.org/officeDocument/2006/relationships/hyperlink" Target="https://www.geeksforgeeks.org/python/detecting-multicollinearity-with-vif-pyth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FAD397B7-7594-4E82-B114-4CFA69AF8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01549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AF06BE-AE06-49BF-B91A-FBFB326DA688}"/>
              </a:ext>
            </a:extLst>
          </p:cNvPr>
          <p:cNvSpPr/>
          <p:nvPr/>
        </p:nvSpPr>
        <p:spPr>
          <a:xfrm>
            <a:off x="0" y="-133644"/>
            <a:ext cx="3123028" cy="970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b="1" u="sng" dirty="0">
                <a:solidFill>
                  <a:schemeClr val="tx1"/>
                </a:solidFill>
              </a:rPr>
              <a:t>Outlines:</a:t>
            </a:r>
          </a:p>
        </p:txBody>
      </p:sp>
      <p:sp>
        <p:nvSpPr>
          <p:cNvPr id="4" name="Rectangle 3">
            <a:extLst>
              <a:ext uri="{FF2B5EF4-FFF2-40B4-BE49-F238E27FC236}">
                <a16:creationId xmlns:a16="http://schemas.microsoft.com/office/drawing/2014/main" id="{4E4E656C-ED0F-496E-BC00-9C322722D054}"/>
              </a:ext>
            </a:extLst>
          </p:cNvPr>
          <p:cNvSpPr/>
          <p:nvPr/>
        </p:nvSpPr>
        <p:spPr>
          <a:xfrm>
            <a:off x="1460696" y="3134751"/>
            <a:ext cx="3123028" cy="9706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endParaRPr lang="en-US" sz="2800" dirty="0">
              <a:solidFill>
                <a:schemeClr val="tx1"/>
              </a:solidFill>
            </a:endParaRPr>
          </a:p>
        </p:txBody>
      </p:sp>
      <p:sp>
        <p:nvSpPr>
          <p:cNvPr id="5" name="Rectangle 4">
            <a:extLst>
              <a:ext uri="{FF2B5EF4-FFF2-40B4-BE49-F238E27FC236}">
                <a16:creationId xmlns:a16="http://schemas.microsoft.com/office/drawing/2014/main" id="{69E93CF7-AFE7-4992-81E8-BFA6F6861738}"/>
              </a:ext>
            </a:extLst>
          </p:cNvPr>
          <p:cNvSpPr/>
          <p:nvPr/>
        </p:nvSpPr>
        <p:spPr>
          <a:xfrm>
            <a:off x="492370" y="713935"/>
            <a:ext cx="4726744" cy="6020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2000" dirty="0">
                <a:solidFill>
                  <a:schemeClr val="tx1"/>
                </a:solidFill>
                <a:effectLst/>
                <a:latin typeface="Calibri" panose="020F0502020204030204" pitchFamily="34" charset="0"/>
                <a:cs typeface="Calibri" panose="020F0502020204030204" pitchFamily="34" charset="0"/>
              </a:rPr>
              <a:t>Introduction</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Data Collection</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Discovery For Data</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EDA (Exploratory Data Analysis)</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Data Cleaning</a:t>
            </a:r>
          </a:p>
          <a:p>
            <a:pPr marL="742950" lvl="1" indent="-285750">
              <a:buFont typeface="Wingdings" panose="05000000000000000000" pitchFamily="2" charset="2"/>
              <a:buChar char="§"/>
            </a:pPr>
            <a:r>
              <a:rPr lang="en-US" sz="2000" dirty="0">
                <a:solidFill>
                  <a:schemeClr val="tx1"/>
                </a:solidFill>
                <a:latin typeface="Calibri" panose="020F0502020204030204" pitchFamily="34" charset="0"/>
                <a:cs typeface="Calibri" panose="020F0502020204030204" pitchFamily="34" charset="0"/>
              </a:rPr>
              <a:t>Missing value treatment</a:t>
            </a:r>
          </a:p>
          <a:p>
            <a:pPr marL="742950" lvl="1" indent="-285750">
              <a:buFont typeface="Wingdings" panose="05000000000000000000" pitchFamily="2" charset="2"/>
              <a:buChar char="§"/>
            </a:pPr>
            <a:r>
              <a:rPr lang="en-US" sz="2000" dirty="0">
                <a:solidFill>
                  <a:schemeClr val="tx1"/>
                </a:solidFill>
                <a:latin typeface="Calibri" panose="020F0502020204030204" pitchFamily="34" charset="0"/>
                <a:cs typeface="Calibri" panose="020F0502020204030204" pitchFamily="34" charset="0"/>
              </a:rPr>
              <a:t>Outliers </a:t>
            </a:r>
            <a:r>
              <a:rPr lang="en-US" sz="2000" dirty="0" err="1">
                <a:solidFill>
                  <a:schemeClr val="tx1"/>
                </a:solidFill>
                <a:latin typeface="Calibri" panose="020F0502020204030204" pitchFamily="34" charset="0"/>
                <a:cs typeface="Calibri" panose="020F0502020204030204" pitchFamily="34" charset="0"/>
              </a:rPr>
              <a:t>Treatement</a:t>
            </a:r>
            <a:endParaRPr lang="en-US" sz="2000" dirty="0">
              <a:solidFill>
                <a:schemeClr val="tx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Preprocessing</a:t>
            </a:r>
          </a:p>
          <a:p>
            <a:pPr marL="742950" lvl="1" indent="-285750">
              <a:buFont typeface="Wingdings" panose="05000000000000000000" pitchFamily="2" charset="2"/>
              <a:buChar char="§"/>
            </a:pPr>
            <a:r>
              <a:rPr lang="en-US" sz="2000" dirty="0">
                <a:solidFill>
                  <a:schemeClr val="tx1"/>
                </a:solidFill>
                <a:latin typeface="Calibri" panose="020F0502020204030204" pitchFamily="34" charset="0"/>
                <a:cs typeface="Calibri" panose="020F0502020204030204" pitchFamily="34" charset="0"/>
              </a:rPr>
              <a:t>Feature Engineering</a:t>
            </a:r>
          </a:p>
          <a:p>
            <a:pPr marL="742950" lvl="1" indent="-285750">
              <a:buFont typeface="Wingdings" panose="05000000000000000000" pitchFamily="2" charset="2"/>
              <a:buChar char="§"/>
            </a:pPr>
            <a:r>
              <a:rPr lang="en-US" sz="2000" dirty="0">
                <a:solidFill>
                  <a:schemeClr val="tx1"/>
                </a:solidFill>
                <a:latin typeface="Calibri" panose="020F0502020204030204" pitchFamily="34" charset="0"/>
                <a:cs typeface="Calibri" panose="020F0502020204030204" pitchFamily="34" charset="0"/>
              </a:rPr>
              <a:t>Feature Encoding</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Correlation and VIF</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One Hot Encoding</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Feature Selection/Feature Importance</a:t>
            </a:r>
          </a:p>
          <a:p>
            <a:pPr marL="285750" indent="-285750">
              <a:buFont typeface="Arial" panose="020B0604020202020204" pitchFamily="34" charset="0"/>
              <a:buChar char="•"/>
            </a:pPr>
            <a:r>
              <a:rPr lang="en-US" sz="2000" dirty="0">
                <a:solidFill>
                  <a:schemeClr val="tx1"/>
                </a:solidFill>
                <a:latin typeface="Calibri" panose="020F0502020204030204" pitchFamily="34" charset="0"/>
                <a:cs typeface="Calibri" panose="020F0502020204030204" pitchFamily="34" charset="0"/>
              </a:rPr>
              <a:t>Handling Imbalance classes (</a:t>
            </a:r>
            <a:r>
              <a:rPr lang="en-US" sz="2000" dirty="0" err="1">
                <a:solidFill>
                  <a:schemeClr val="tx1"/>
                </a:solidFill>
                <a:latin typeface="Calibri" panose="020F0502020204030204" pitchFamily="34" charset="0"/>
                <a:cs typeface="Calibri" panose="020F0502020204030204" pitchFamily="34" charset="0"/>
              </a:rPr>
              <a:t>SMOTETomek</a:t>
            </a:r>
            <a:r>
              <a:rPr lang="en-US" sz="2000" dirty="0">
                <a:solidFill>
                  <a:schemeClr val="tx1"/>
                </a:solidFill>
                <a:latin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US" sz="2000" kern="100" dirty="0">
                <a:solidFill>
                  <a:schemeClr val="tx1"/>
                </a:solidFill>
                <a:latin typeface="Calibri" panose="020F0502020204030204" pitchFamily="34" charset="0"/>
                <a:ea typeface="Aptos" panose="020B0004020202020204" pitchFamily="34" charset="0"/>
                <a:cs typeface="Calibri" panose="020F0502020204030204" pitchFamily="34" charset="0"/>
              </a:rPr>
              <a:t>Handling Imbalanced Classes (</a:t>
            </a:r>
            <a:r>
              <a:rPr lang="en-US" sz="2000" kern="100" dirty="0" err="1">
                <a:solidFill>
                  <a:schemeClr val="tx1"/>
                </a:solidFill>
                <a:latin typeface="Calibri" panose="020F0502020204030204" pitchFamily="34" charset="0"/>
                <a:ea typeface="Aptos" panose="020B0004020202020204" pitchFamily="34" charset="0"/>
                <a:cs typeface="Calibri" panose="020F0502020204030204" pitchFamily="34" charset="0"/>
              </a:rPr>
              <a:t>NearMiss</a:t>
            </a:r>
            <a:r>
              <a:rPr lang="en-US" sz="2000" kern="100" dirty="0">
                <a:solidFill>
                  <a:schemeClr val="tx1"/>
                </a:solidFill>
                <a:latin typeface="Calibri" panose="020F0502020204030204" pitchFamily="34" charset="0"/>
                <a:ea typeface="Aptos" panose="020B0004020202020204" pitchFamily="34" charset="0"/>
                <a:cs typeface="Calibri" panose="020F0502020204030204" pitchFamily="34" charset="0"/>
              </a:rPr>
              <a:t>)</a:t>
            </a:r>
          </a:p>
          <a:p>
            <a:pPr marL="285750" indent="-285750">
              <a:buFont typeface="Arial" panose="020B0604020202020204" pitchFamily="34" charset="0"/>
              <a:buChar char="•"/>
            </a:pPr>
            <a:r>
              <a:rPr lang="en-US" sz="2000" kern="100" dirty="0">
                <a:solidFill>
                  <a:schemeClr val="tx1"/>
                </a:solidFill>
                <a:latin typeface="Calibri" panose="020F0502020204030204" pitchFamily="34" charset="0"/>
                <a:ea typeface="Aptos" panose="020B0004020202020204" pitchFamily="34" charset="0"/>
                <a:cs typeface="Calibri" panose="020F0502020204030204" pitchFamily="34" charset="0"/>
              </a:rPr>
              <a:t>Model Building</a:t>
            </a:r>
          </a:p>
          <a:p>
            <a:pPr marL="285750" indent="-285750">
              <a:buFont typeface="Arial" panose="020B0604020202020204" pitchFamily="34" charset="0"/>
              <a:buChar char="•"/>
            </a:pPr>
            <a:r>
              <a:rPr lang="en-US" sz="2000" kern="100" dirty="0">
                <a:solidFill>
                  <a:schemeClr val="tx1"/>
                </a:solidFill>
                <a:latin typeface="Calibri" panose="020F0502020204030204" pitchFamily="34" charset="0"/>
                <a:ea typeface="Aptos" panose="020B0004020202020204" pitchFamily="34" charset="0"/>
                <a:cs typeface="Calibri" panose="020F0502020204030204" pitchFamily="34" charset="0"/>
              </a:rPr>
              <a:t>Model Evaluation</a:t>
            </a:r>
          </a:p>
          <a:p>
            <a:pPr marL="285750" indent="-285750">
              <a:buFont typeface="Arial" panose="020B0604020202020204" pitchFamily="34" charset="0"/>
              <a:buChar char="•"/>
            </a:pPr>
            <a:r>
              <a:rPr lang="en-US" sz="2000" kern="100" dirty="0">
                <a:solidFill>
                  <a:schemeClr val="tx1"/>
                </a:solidFill>
                <a:latin typeface="Calibri" panose="020F0502020204030204" pitchFamily="34" charset="0"/>
                <a:ea typeface="Aptos" panose="020B0004020202020204" pitchFamily="34" charset="0"/>
                <a:cs typeface="Calibri" panose="020F0502020204030204" pitchFamily="34" charset="0"/>
              </a:rPr>
              <a:t>Finding Best Model</a:t>
            </a:r>
            <a:endParaRPr lang="en-US" sz="20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4062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F4F357-3E3F-F00F-8F82-7BAB61C00570}"/>
              </a:ext>
            </a:extLst>
          </p:cNvPr>
          <p:cNvSpPr txBox="1"/>
          <p:nvPr/>
        </p:nvSpPr>
        <p:spPr>
          <a:xfrm>
            <a:off x="828318" y="866407"/>
            <a:ext cx="9778722" cy="4700454"/>
          </a:xfrm>
          <a:prstGeom prst="rect">
            <a:avLst/>
          </a:prstGeom>
          <a:noFill/>
        </p:spPr>
        <p:txBody>
          <a:bodyPr wrap="square">
            <a:spAutoFit/>
          </a:bodyPr>
          <a:lstStyle/>
          <a:p>
            <a:pPr marL="0" marR="0">
              <a:lnSpc>
                <a:spcPct val="115000"/>
              </a:lnSpc>
              <a:spcAft>
                <a:spcPts val="800"/>
              </a:spcAft>
              <a:buNone/>
            </a:pPr>
            <a:r>
              <a:rPr lang="en-US" sz="4000" b="1" u="sng" kern="100" dirty="0">
                <a:effectLst/>
                <a:latin typeface="Aptos" panose="020B0004020202020204" pitchFamily="34" charset="0"/>
                <a:ea typeface="Aptos" panose="020B0004020202020204" pitchFamily="34" charset="0"/>
                <a:cs typeface="Arial" panose="020B0604020202020204" pitchFamily="34" charset="0"/>
              </a:rPr>
              <a:t>Introduction:</a:t>
            </a:r>
            <a:endParaRPr lang="en-US" sz="40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Arial" panose="020B0604020202020204" pitchFamily="34" charset="0"/>
              </a:rPr>
              <a:t>This project focuses on analyzing a bank marketing dataset to understand which customers are more likely to subscribe to a term deposit. The data includes information about clients such as their age, account balance, and the duration of previous marketing calls, and campaign details. Following data modeling steps: preprocessing, exploratory analysis, and building the classification model, our </a:t>
            </a:r>
            <a:r>
              <a:rPr lang="en-US" sz="2400" kern="100" dirty="0">
                <a:latin typeface="Aptos" panose="020B0004020202020204" pitchFamily="34" charset="0"/>
                <a:ea typeface="Aptos" panose="020B0004020202020204" pitchFamily="34" charset="0"/>
                <a:cs typeface="Arial" panose="020B0604020202020204" pitchFamily="34" charset="0"/>
              </a:rPr>
              <a:t>aim</a:t>
            </a:r>
            <a:r>
              <a:rPr lang="en-US" sz="2400" kern="100" dirty="0">
                <a:effectLst/>
                <a:latin typeface="Aptos" panose="020B0004020202020204" pitchFamily="34" charset="0"/>
                <a:ea typeface="Aptos" panose="020B0004020202020204" pitchFamily="34" charset="0"/>
                <a:cs typeface="Arial" panose="020B0604020202020204" pitchFamily="34" charset="0"/>
              </a:rPr>
              <a:t> is to identify the factors that influence customer decisions in order to build a model that can predict subscription outcomes accurately. This helps improve targeting strategies and supports better decision-making in future marketing campaigns.</a:t>
            </a:r>
          </a:p>
        </p:txBody>
      </p:sp>
    </p:spTree>
    <p:extLst>
      <p:ext uri="{BB962C8B-B14F-4D97-AF65-F5344CB8AC3E}">
        <p14:creationId xmlns:p14="http://schemas.microsoft.com/office/powerpoint/2010/main" val="143080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5CD76E-ADEE-0D13-67EB-946C5CDD63A7}"/>
              </a:ext>
            </a:extLst>
          </p:cNvPr>
          <p:cNvSpPr txBox="1"/>
          <p:nvPr/>
        </p:nvSpPr>
        <p:spPr>
          <a:xfrm>
            <a:off x="365760" y="383229"/>
            <a:ext cx="10816549" cy="4771243"/>
          </a:xfrm>
          <a:prstGeom prst="rect">
            <a:avLst/>
          </a:prstGeom>
          <a:noFill/>
        </p:spPr>
        <p:txBody>
          <a:bodyPr wrap="square">
            <a:spAutoFit/>
          </a:bodyPr>
          <a:lstStyle/>
          <a:p>
            <a:pPr marL="0" marR="0">
              <a:lnSpc>
                <a:spcPct val="115000"/>
              </a:lnSpc>
              <a:spcAft>
                <a:spcPts val="800"/>
              </a:spcAft>
              <a:buNone/>
            </a:pPr>
            <a:r>
              <a:rPr lang="en-US" sz="3600" b="1" u="sng" kern="100" dirty="0">
                <a:effectLst/>
                <a:latin typeface="Aptos" panose="020B0004020202020204" pitchFamily="34" charset="0"/>
                <a:ea typeface="Aptos" panose="020B0004020202020204" pitchFamily="34" charset="0"/>
                <a:cs typeface="Arial" panose="020B0604020202020204" pitchFamily="34" charset="0"/>
              </a:rPr>
              <a:t>Project Phases:</a:t>
            </a:r>
            <a:endParaRPr lang="en-US" sz="3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nSpc>
                <a:spcPct val="115000"/>
              </a:lnSpc>
              <a:buFont typeface="Wingdings" panose="05000000000000000000" pitchFamily="2" charset="2"/>
              <a:buChar char=""/>
            </a:pPr>
            <a:r>
              <a:rPr lang="en-US" sz="3200" b="1" u="sng" kern="100" dirty="0">
                <a:effectLst/>
                <a:latin typeface="Aptos" panose="020B0004020202020204" pitchFamily="34" charset="0"/>
                <a:ea typeface="Aptos" panose="020B0004020202020204" pitchFamily="34" charset="0"/>
                <a:cs typeface="Arial" panose="020B0604020202020204" pitchFamily="34" charset="0"/>
              </a:rPr>
              <a:t>Data Collection</a:t>
            </a: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The dataset for this project was taken from the </a:t>
            </a:r>
            <a:r>
              <a:rPr lang="en-US" sz="2400" b="1" kern="100" dirty="0">
                <a:effectLst/>
                <a:latin typeface="Aptos" panose="020B0004020202020204" pitchFamily="34" charset="0"/>
                <a:ea typeface="Aptos" panose="020B0004020202020204" pitchFamily="34" charset="0"/>
                <a:cs typeface="Arial" panose="020B0604020202020204" pitchFamily="34" charset="0"/>
              </a:rPr>
              <a:t>UCI Machine Learning</a:t>
            </a:r>
            <a:r>
              <a:rPr lang="en-US" sz="2400" kern="100" dirty="0">
                <a:effectLst/>
                <a:latin typeface="Aptos" panose="020B0004020202020204" pitchFamily="34" charset="0"/>
                <a:ea typeface="Aptos" panose="020B0004020202020204" pitchFamily="34" charset="0"/>
                <a:cs typeface="Arial" panose="020B0604020202020204" pitchFamily="34" charset="0"/>
              </a:rPr>
              <a:t> </a:t>
            </a:r>
            <a:r>
              <a:rPr lang="en-US" sz="2400" b="1" kern="100" dirty="0">
                <a:effectLst/>
                <a:latin typeface="Aptos" panose="020B0004020202020204" pitchFamily="34" charset="0"/>
                <a:ea typeface="Aptos" panose="020B0004020202020204" pitchFamily="34" charset="0"/>
                <a:cs typeface="Arial" panose="020B0604020202020204" pitchFamily="34" charset="0"/>
              </a:rPr>
              <a:t>Repository</a:t>
            </a:r>
            <a:r>
              <a:rPr lang="en-US" sz="2400" kern="100" dirty="0">
                <a:effectLst/>
                <a:latin typeface="Aptos" panose="020B0004020202020204" pitchFamily="34" charset="0"/>
                <a:ea typeface="Aptos" panose="020B0004020202020204" pitchFamily="34" charset="0"/>
                <a:cs typeface="Arial" panose="020B0604020202020204" pitchFamily="34" charset="0"/>
              </a:rPr>
              <a:t>, a well-known source for high quality, and machine learning related datasets. It contains real information from a Portuguese bank’s marketing campaign, where the bank called clients to ask if they would subscribe to a term deposit. In this phase, we obtained the dataset, load it properly on our IDE, and make sure all columns and records were ready for the project’s next steps.</a:t>
            </a: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Dataset link: </a:t>
            </a:r>
            <a:r>
              <a:rPr lang="en-US" sz="2400" u="sng" kern="100" dirty="0">
                <a:solidFill>
                  <a:srgbClr val="0000FF"/>
                </a:solidFill>
                <a:effectLst/>
                <a:latin typeface="Aptos" panose="020B0004020202020204" pitchFamily="34" charset="0"/>
                <a:ea typeface="Aptos" panose="020B0004020202020204" pitchFamily="34" charset="0"/>
                <a:cs typeface="Arial" panose="020B0604020202020204" pitchFamily="34" charset="0"/>
                <a:hlinkClick r:id="rId2"/>
              </a:rPr>
              <a:t>UCI</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Arial" panose="020B0604020202020204" pitchFamily="34" charset="0"/>
              </a:rPr>
              <a:t>Used Data Name: </a:t>
            </a:r>
            <a:r>
              <a:rPr lang="en-US" sz="2400" b="1" kern="100" dirty="0">
                <a:effectLst/>
                <a:latin typeface="Aptos" panose="020B0004020202020204" pitchFamily="34" charset="0"/>
                <a:ea typeface="Aptos" panose="020B0004020202020204" pitchFamily="34" charset="0"/>
                <a:cs typeface="Arial" panose="020B0604020202020204" pitchFamily="34" charset="0"/>
              </a:rPr>
              <a:t>bank-full.csv</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983523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8E421B-92B0-149F-6CF3-95F052B4BDBD}"/>
              </a:ext>
            </a:extLst>
          </p:cNvPr>
          <p:cNvSpPr txBox="1"/>
          <p:nvPr/>
        </p:nvSpPr>
        <p:spPr>
          <a:xfrm>
            <a:off x="267286" y="271811"/>
            <a:ext cx="10999260" cy="6073458"/>
          </a:xfrm>
          <a:prstGeom prst="rect">
            <a:avLst/>
          </a:prstGeom>
          <a:noFill/>
        </p:spPr>
        <p:txBody>
          <a:bodyPr wrap="square">
            <a:spAutoFit/>
          </a:bodyPr>
          <a:lstStyle/>
          <a:p>
            <a:pPr marL="342900" marR="0" lvl="0" indent="-342900" rtl="0">
              <a:lnSpc>
                <a:spcPct val="115000"/>
              </a:lnSpc>
              <a:spcAft>
                <a:spcPts val="800"/>
              </a:spcAft>
              <a:buFont typeface="Wingdings" panose="05000000000000000000" pitchFamily="2" charset="2"/>
              <a:buChar char=""/>
            </a:pPr>
            <a:r>
              <a:rPr lang="en-US" sz="4000" b="1" u="sng" kern="100" dirty="0">
                <a:effectLst/>
                <a:latin typeface="Aptos" panose="020B0004020202020204" pitchFamily="34" charset="0"/>
                <a:ea typeface="Aptos" panose="020B0004020202020204" pitchFamily="34" charset="0"/>
                <a:cs typeface="Arial" panose="020B0604020202020204" pitchFamily="34" charset="0"/>
              </a:rPr>
              <a:t>Discovery For Data</a:t>
            </a:r>
            <a:endParaRPr lang="en-US" sz="4000" b="1" kern="100" dirty="0">
              <a:effectLst/>
              <a:latin typeface="Aptos" panose="020B0004020202020204" pitchFamily="34" charset="0"/>
              <a:ea typeface="Aptos" panose="020B0004020202020204" pitchFamily="34" charset="0"/>
              <a:cs typeface="Arial" panose="020B0604020202020204" pitchFamily="34" charset="0"/>
            </a:endParaRPr>
          </a:p>
          <a:p>
            <a:pPr lvl="2"/>
            <a:endParaRPr lang="en-US" sz="2800" dirty="0">
              <a:effectLst/>
              <a:latin typeface="Aptos" panose="020B0004020202020204" pitchFamily="34" charset="0"/>
              <a:ea typeface="Aptos" panose="020B0004020202020204" pitchFamily="34" charset="0"/>
              <a:cs typeface="Arial" panose="020B0604020202020204" pitchFamily="34" charset="0"/>
            </a:endParaRPr>
          </a:p>
          <a:p>
            <a:pPr lvl="2"/>
            <a:r>
              <a:rPr lang="en-US" sz="2800" dirty="0">
                <a:effectLst/>
                <a:latin typeface="Aptos" panose="020B0004020202020204" pitchFamily="34" charset="0"/>
                <a:ea typeface="Aptos" panose="020B0004020202020204" pitchFamily="34" charset="0"/>
                <a:cs typeface="Arial" panose="020B0604020202020204" pitchFamily="34" charset="0"/>
              </a:rPr>
              <a:t>We started by checking the </a:t>
            </a:r>
            <a:r>
              <a:rPr lang="en-US" sz="2800" b="1" dirty="0">
                <a:effectLst/>
                <a:latin typeface="Aptos" panose="020B0004020202020204" pitchFamily="34" charset="0"/>
                <a:ea typeface="Aptos" panose="020B0004020202020204" pitchFamily="34" charset="0"/>
                <a:cs typeface="Arial" panose="020B0604020202020204" pitchFamily="34" charset="0"/>
              </a:rPr>
              <a:t>shape of the dataset</a:t>
            </a:r>
            <a:r>
              <a:rPr lang="en-US" sz="2800" dirty="0">
                <a:effectLst/>
                <a:latin typeface="Aptos" panose="020B0004020202020204" pitchFamily="34" charset="0"/>
                <a:ea typeface="Aptos" panose="020B0004020202020204" pitchFamily="34" charset="0"/>
                <a:cs typeface="Arial" panose="020B0604020202020204" pitchFamily="34" charset="0"/>
              </a:rPr>
              <a:t> to see the total number of rows and columns. Next, we saw the </a:t>
            </a:r>
            <a:r>
              <a:rPr lang="en-US" sz="2800" b="1" dirty="0">
                <a:effectLst/>
                <a:latin typeface="Aptos" panose="020B0004020202020204" pitchFamily="34" charset="0"/>
                <a:ea typeface="Aptos" panose="020B0004020202020204" pitchFamily="34" charset="0"/>
                <a:cs typeface="Arial" panose="020B0604020202020204" pitchFamily="34" charset="0"/>
              </a:rPr>
              <a:t>data types of all columns</a:t>
            </a:r>
            <a:r>
              <a:rPr lang="en-US" sz="2800" dirty="0">
                <a:effectLst/>
                <a:latin typeface="Aptos" panose="020B0004020202020204" pitchFamily="34" charset="0"/>
                <a:ea typeface="Aptos" panose="020B0004020202020204" pitchFamily="34" charset="0"/>
                <a:cs typeface="Arial" panose="020B0604020202020204" pitchFamily="34" charset="0"/>
              </a:rPr>
              <a:t>, then we listed the names of </a:t>
            </a:r>
            <a:r>
              <a:rPr lang="en-US" sz="2800" b="1" dirty="0">
                <a:effectLst/>
                <a:latin typeface="Aptos" panose="020B0004020202020204" pitchFamily="34" charset="0"/>
                <a:ea typeface="Aptos" panose="020B0004020202020204" pitchFamily="34" charset="0"/>
                <a:cs typeface="Arial" panose="020B0604020202020204" pitchFamily="34" charset="0"/>
              </a:rPr>
              <a:t>numeric</a:t>
            </a:r>
            <a:r>
              <a:rPr lang="en-US" sz="2800" dirty="0">
                <a:effectLst/>
                <a:latin typeface="Aptos" panose="020B0004020202020204" pitchFamily="34" charset="0"/>
                <a:ea typeface="Aptos" panose="020B0004020202020204" pitchFamily="34" charset="0"/>
                <a:cs typeface="Arial" panose="020B0604020202020204" pitchFamily="34" charset="0"/>
              </a:rPr>
              <a:t> and </a:t>
            </a:r>
            <a:r>
              <a:rPr lang="en-US" sz="2800" b="1" dirty="0">
                <a:effectLst/>
                <a:latin typeface="Aptos" panose="020B0004020202020204" pitchFamily="34" charset="0"/>
                <a:ea typeface="Aptos" panose="020B0004020202020204" pitchFamily="34" charset="0"/>
                <a:cs typeface="Arial" panose="020B0604020202020204" pitchFamily="34" charset="0"/>
              </a:rPr>
              <a:t>categorical</a:t>
            </a:r>
            <a:r>
              <a:rPr lang="en-US" sz="2800" dirty="0">
                <a:effectLst/>
                <a:latin typeface="Aptos" panose="020B0004020202020204" pitchFamily="34" charset="0"/>
                <a:ea typeface="Aptos" panose="020B0004020202020204" pitchFamily="34" charset="0"/>
                <a:cs typeface="Arial" panose="020B0604020202020204" pitchFamily="34" charset="0"/>
              </a:rPr>
              <a:t> columns we are handling separately. Then we saw the </a:t>
            </a:r>
            <a:r>
              <a:rPr lang="en-US" sz="2800" b="1" dirty="0">
                <a:effectLst/>
                <a:latin typeface="Aptos" panose="020B0004020202020204" pitchFamily="34" charset="0"/>
                <a:ea typeface="Aptos" panose="020B0004020202020204" pitchFamily="34" charset="0"/>
                <a:cs typeface="Arial" panose="020B0604020202020204" pitchFamily="34" charset="0"/>
              </a:rPr>
              <a:t>statistical summary</a:t>
            </a:r>
            <a:r>
              <a:rPr lang="en-US" sz="2800" dirty="0">
                <a:effectLst/>
                <a:latin typeface="Aptos" panose="020B0004020202020204" pitchFamily="34" charset="0"/>
                <a:ea typeface="Aptos" panose="020B0004020202020204" pitchFamily="34" charset="0"/>
                <a:cs typeface="Arial" panose="020B0604020202020204" pitchFamily="34" charset="0"/>
              </a:rPr>
              <a:t> to understand the distribution of the numeric variables. After that, we described the dataset in more detail, including the number of columns, rows, and the kinds of values stored in each feature. We checked for missing values, unique values, and values each column consists of, we checked the target variable distribution </a:t>
            </a:r>
            <a:r>
              <a:rPr lang="en-US" sz="2800" b="1" dirty="0"/>
              <a:t>(Imbalanced check), </a:t>
            </a:r>
            <a:r>
              <a:rPr lang="en-US" sz="2800" dirty="0"/>
              <a:t>and for convenience we convert month names to month numbers</a:t>
            </a:r>
          </a:p>
        </p:txBody>
      </p:sp>
    </p:spTree>
    <p:extLst>
      <p:ext uri="{BB962C8B-B14F-4D97-AF65-F5344CB8AC3E}">
        <p14:creationId xmlns:p14="http://schemas.microsoft.com/office/powerpoint/2010/main" val="1978105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EDE4F4-EF6B-1955-2151-3CED6A1241A9}"/>
              </a:ext>
            </a:extLst>
          </p:cNvPr>
          <p:cNvSpPr txBox="1"/>
          <p:nvPr/>
        </p:nvSpPr>
        <p:spPr>
          <a:xfrm>
            <a:off x="1132115" y="1076625"/>
            <a:ext cx="10319656" cy="5621219"/>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2800" b="1" u="sng" kern="100" dirty="0">
                <a:effectLst/>
                <a:latin typeface="Aptos" panose="020B0004020202020204" pitchFamily="34" charset="0"/>
                <a:ea typeface="Aptos" panose="020B0004020202020204" pitchFamily="34" charset="0"/>
                <a:cs typeface="Arial" panose="020B0604020202020204" pitchFamily="34" charset="0"/>
              </a:rPr>
              <a:t>EDA (Exploratory Data Analysis)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spcAft>
                <a:spcPts val="800"/>
              </a:spcAft>
              <a:buNone/>
            </a:pPr>
            <a:r>
              <a:rPr lang="en-US" sz="2800" kern="100" dirty="0">
                <a:effectLst/>
                <a:latin typeface="Aptos" panose="020B0004020202020204" pitchFamily="34" charset="0"/>
                <a:ea typeface="Aptos" panose="020B0004020202020204" pitchFamily="34" charset="0"/>
                <a:cs typeface="Arial" panose="020B0604020202020204" pitchFamily="34" charset="0"/>
              </a:rPr>
              <a:t>During the EDA phase, we first visualized the </a:t>
            </a:r>
            <a:r>
              <a:rPr lang="en-US" sz="2800" b="1" kern="100" dirty="0">
                <a:effectLst/>
                <a:latin typeface="Aptos" panose="020B0004020202020204" pitchFamily="34" charset="0"/>
                <a:ea typeface="Aptos" panose="020B0004020202020204" pitchFamily="34" charset="0"/>
                <a:cs typeface="Arial" panose="020B0604020202020204" pitchFamily="34" charset="0"/>
              </a:rPr>
              <a:t>class imbalance</a:t>
            </a:r>
            <a:r>
              <a:rPr lang="en-US" sz="2800" kern="100" dirty="0">
                <a:effectLst/>
                <a:latin typeface="Aptos" panose="020B0004020202020204" pitchFamily="34" charset="0"/>
                <a:ea typeface="Aptos" panose="020B0004020202020204" pitchFamily="34" charset="0"/>
                <a:cs typeface="Arial" panose="020B0604020202020204" pitchFamily="34" charset="0"/>
              </a:rPr>
              <a:t> in the target variable to understand how imbalanced the “yes” and “no” responses were. We then created a </a:t>
            </a:r>
            <a:r>
              <a:rPr lang="en-US" sz="2800" b="1" kern="100" dirty="0" err="1">
                <a:effectLst/>
                <a:latin typeface="Aptos" panose="020B0004020202020204" pitchFamily="34" charset="0"/>
                <a:ea typeface="Aptos" panose="020B0004020202020204" pitchFamily="34" charset="0"/>
                <a:cs typeface="Arial" panose="020B0604020202020204" pitchFamily="34" charset="0"/>
              </a:rPr>
              <a:t>pairplot</a:t>
            </a:r>
            <a:r>
              <a:rPr lang="en-US" sz="2800" kern="100" dirty="0">
                <a:effectLst/>
                <a:latin typeface="Aptos" panose="020B0004020202020204" pitchFamily="34" charset="0"/>
                <a:ea typeface="Aptos" panose="020B0004020202020204" pitchFamily="34" charset="0"/>
                <a:cs typeface="Arial" panose="020B0604020202020204" pitchFamily="34" charset="0"/>
              </a:rPr>
              <a:t> to explore the relationships between some of the main numeric variables. For the categorical features, we visualized the </a:t>
            </a:r>
            <a:r>
              <a:rPr lang="en-US" sz="2800" b="1" kern="100" dirty="0">
                <a:effectLst/>
                <a:latin typeface="Aptos" panose="020B0004020202020204" pitchFamily="34" charset="0"/>
                <a:ea typeface="Aptos" panose="020B0004020202020204" pitchFamily="34" charset="0"/>
                <a:cs typeface="Arial" panose="020B0604020202020204" pitchFamily="34" charset="0"/>
              </a:rPr>
              <a:t>top categories</a:t>
            </a:r>
            <a:r>
              <a:rPr lang="en-US" sz="2800" kern="100" dirty="0">
                <a:effectLst/>
                <a:latin typeface="Aptos" panose="020B0004020202020204" pitchFamily="34" charset="0"/>
                <a:ea typeface="Aptos" panose="020B0004020202020204" pitchFamily="34" charset="0"/>
                <a:cs typeface="Arial" panose="020B0604020202020204" pitchFamily="34" charset="0"/>
              </a:rPr>
              <a:t> in each column to see which values were most common. We also compared all categorical variables with the target </a:t>
            </a:r>
            <a:r>
              <a:rPr lang="en-US" sz="2800" b="1" kern="100" dirty="0">
                <a:effectLst/>
                <a:latin typeface="Aptos" panose="020B0004020202020204" pitchFamily="34" charset="0"/>
                <a:ea typeface="Aptos" panose="020B0004020202020204" pitchFamily="34" charset="0"/>
                <a:cs typeface="Arial" panose="020B0604020202020204" pitchFamily="34" charset="0"/>
              </a:rPr>
              <a:t>y</a:t>
            </a:r>
            <a:r>
              <a:rPr lang="en-US" sz="2800" kern="100" dirty="0">
                <a:effectLst/>
                <a:latin typeface="Aptos" panose="020B0004020202020204" pitchFamily="34" charset="0"/>
                <a:ea typeface="Aptos" panose="020B0004020202020204" pitchFamily="34" charset="0"/>
                <a:cs typeface="Arial" panose="020B0604020202020204" pitchFamily="34" charset="0"/>
              </a:rPr>
              <a:t> using </a:t>
            </a:r>
            <a:r>
              <a:rPr lang="en-US" sz="2800" b="1" kern="100" dirty="0">
                <a:effectLst/>
                <a:latin typeface="Aptos" panose="020B0004020202020204" pitchFamily="34" charset="0"/>
                <a:ea typeface="Aptos" panose="020B0004020202020204" pitchFamily="34" charset="0"/>
                <a:cs typeface="Arial" panose="020B0604020202020204" pitchFamily="34" charset="0"/>
              </a:rPr>
              <a:t>bar charts</a:t>
            </a:r>
            <a:r>
              <a:rPr lang="en-US" sz="2800" kern="100" dirty="0">
                <a:effectLst/>
                <a:latin typeface="Aptos" panose="020B0004020202020204" pitchFamily="34" charset="0"/>
                <a:ea typeface="Aptos" panose="020B0004020202020204" pitchFamily="34" charset="0"/>
                <a:cs typeface="Arial" panose="020B0604020202020204" pitchFamily="34" charset="0"/>
              </a:rPr>
              <a:t>, which helped us observe how each category relates of subscribing to a term deposit.</a:t>
            </a:r>
          </a:p>
          <a:p>
            <a:pPr marL="457200" marR="0">
              <a:lnSpc>
                <a:spcPct val="115000"/>
              </a:lnSpc>
              <a:spcAft>
                <a:spcPts val="800"/>
              </a:spcAft>
              <a:buNone/>
            </a:pPr>
            <a:r>
              <a:rPr lang="en-US" sz="2800" kern="100" dirty="0">
                <a:latin typeface="Aptos" panose="020B0004020202020204" pitchFamily="34" charset="0"/>
                <a:ea typeface="Aptos" panose="020B0004020202020204" pitchFamily="34" charset="0"/>
                <a:cs typeface="Arial" panose="020B0604020202020204" pitchFamily="34" charset="0"/>
              </a:rPr>
              <a:t>The Visualizations will be presented as follows:</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162281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487709-D899-EAA9-43B7-724180B44001}"/>
              </a:ext>
            </a:extLst>
          </p:cNvPr>
          <p:cNvPicPr>
            <a:picLocks noChangeAspect="1"/>
          </p:cNvPicPr>
          <p:nvPr/>
        </p:nvPicPr>
        <p:blipFill>
          <a:blip r:embed="rId2"/>
          <a:stretch>
            <a:fillRect/>
          </a:stretch>
        </p:blipFill>
        <p:spPr>
          <a:xfrm>
            <a:off x="1088570" y="0"/>
            <a:ext cx="8313338" cy="6009982"/>
          </a:xfrm>
          <a:prstGeom prst="rect">
            <a:avLst/>
          </a:prstGeom>
        </p:spPr>
      </p:pic>
      <p:sp>
        <p:nvSpPr>
          <p:cNvPr id="9" name="TextBox 8">
            <a:extLst>
              <a:ext uri="{FF2B5EF4-FFF2-40B4-BE49-F238E27FC236}">
                <a16:creationId xmlns:a16="http://schemas.microsoft.com/office/drawing/2014/main" id="{3F15E75B-9A66-878D-8F33-DF983A6016F8}"/>
              </a:ext>
            </a:extLst>
          </p:cNvPr>
          <p:cNvSpPr txBox="1"/>
          <p:nvPr/>
        </p:nvSpPr>
        <p:spPr>
          <a:xfrm>
            <a:off x="1088570" y="5944668"/>
            <a:ext cx="9361715" cy="707886"/>
          </a:xfrm>
          <a:prstGeom prst="rect">
            <a:avLst/>
          </a:prstGeom>
          <a:noFill/>
        </p:spPr>
        <p:txBody>
          <a:bodyPr wrap="square" rtlCol="0">
            <a:spAutoFit/>
          </a:bodyPr>
          <a:lstStyle/>
          <a:p>
            <a:r>
              <a:rPr lang="en-US" sz="2000" b="1" dirty="0"/>
              <a:t>Interpretation: </a:t>
            </a:r>
            <a:r>
              <a:rPr lang="en-US" sz="2000" dirty="0"/>
              <a:t>Number of “no” responses is much higher than the “yes” response which shows how imbalance the target column (y) is.</a:t>
            </a:r>
          </a:p>
        </p:txBody>
      </p:sp>
    </p:spTree>
    <p:extLst>
      <p:ext uri="{BB962C8B-B14F-4D97-AF65-F5344CB8AC3E}">
        <p14:creationId xmlns:p14="http://schemas.microsoft.com/office/powerpoint/2010/main" val="99969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graphs showing different types of data">
            <a:extLst>
              <a:ext uri="{FF2B5EF4-FFF2-40B4-BE49-F238E27FC236}">
                <a16:creationId xmlns:a16="http://schemas.microsoft.com/office/drawing/2014/main" id="{0AD43405-4FA4-59D2-3FCB-6EB05DD0C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519" y="701034"/>
            <a:ext cx="10478962" cy="5934903"/>
          </a:xfrm>
          <a:prstGeom prst="rect">
            <a:avLst/>
          </a:prstGeom>
        </p:spPr>
      </p:pic>
      <p:sp>
        <p:nvSpPr>
          <p:cNvPr id="6" name="TextBox 5">
            <a:extLst>
              <a:ext uri="{FF2B5EF4-FFF2-40B4-BE49-F238E27FC236}">
                <a16:creationId xmlns:a16="http://schemas.microsoft.com/office/drawing/2014/main" id="{5604899C-C133-1907-69F8-78400CF67A4A}"/>
              </a:ext>
            </a:extLst>
          </p:cNvPr>
          <p:cNvSpPr txBox="1"/>
          <p:nvPr/>
        </p:nvSpPr>
        <p:spPr>
          <a:xfrm>
            <a:off x="1023257" y="130628"/>
            <a:ext cx="7979229" cy="461665"/>
          </a:xfrm>
          <a:prstGeom prst="rect">
            <a:avLst/>
          </a:prstGeom>
          <a:noFill/>
        </p:spPr>
        <p:txBody>
          <a:bodyPr wrap="square" rtlCol="0">
            <a:spAutoFit/>
          </a:bodyPr>
          <a:lstStyle/>
          <a:p>
            <a:r>
              <a:rPr lang="en-US" sz="2400" b="1" u="sng" dirty="0"/>
              <a:t>Numeric Variables </a:t>
            </a:r>
            <a:r>
              <a:rPr lang="en-US" sz="2400" b="1" u="sng" dirty="0" err="1"/>
              <a:t>Pairplot</a:t>
            </a:r>
            <a:endParaRPr lang="en-US" sz="2400" b="1" u="sng" dirty="0"/>
          </a:p>
        </p:txBody>
      </p:sp>
    </p:spTree>
    <p:extLst>
      <p:ext uri="{BB962C8B-B14F-4D97-AF65-F5344CB8AC3E}">
        <p14:creationId xmlns:p14="http://schemas.microsoft.com/office/powerpoint/2010/main" val="2387814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different colored bars&#10;&#10;AI-generated content may be incorrect.">
            <a:extLst>
              <a:ext uri="{FF2B5EF4-FFF2-40B4-BE49-F238E27FC236}">
                <a16:creationId xmlns:a16="http://schemas.microsoft.com/office/drawing/2014/main" id="{DAD6E4B2-BE80-51DD-AD6F-C8F85679FD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9456" y="794545"/>
            <a:ext cx="8948058" cy="5878398"/>
          </a:xfrm>
          <a:prstGeom prst="rect">
            <a:avLst/>
          </a:prstGeom>
        </p:spPr>
      </p:pic>
    </p:spTree>
    <p:extLst>
      <p:ext uri="{BB962C8B-B14F-4D97-AF65-F5344CB8AC3E}">
        <p14:creationId xmlns:p14="http://schemas.microsoft.com/office/powerpoint/2010/main" val="3378224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with different colored squares&#10;&#10;AI-generated content may be incorrect.">
            <a:extLst>
              <a:ext uri="{FF2B5EF4-FFF2-40B4-BE49-F238E27FC236}">
                <a16:creationId xmlns:a16="http://schemas.microsoft.com/office/drawing/2014/main" id="{AB658385-FFD4-5CFE-A985-ABD42430A5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448" y="643466"/>
            <a:ext cx="8473104" cy="5571067"/>
          </a:xfrm>
          <a:prstGeom prst="rect">
            <a:avLst/>
          </a:prstGeom>
        </p:spPr>
      </p:pic>
    </p:spTree>
    <p:extLst>
      <p:ext uri="{BB962C8B-B14F-4D97-AF65-F5344CB8AC3E}">
        <p14:creationId xmlns:p14="http://schemas.microsoft.com/office/powerpoint/2010/main" val="2392719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showing different colored bars&#10;&#10;AI-generated content may be incorrect.">
            <a:extLst>
              <a:ext uri="{FF2B5EF4-FFF2-40B4-BE49-F238E27FC236}">
                <a16:creationId xmlns:a16="http://schemas.microsoft.com/office/drawing/2014/main" id="{B0F64124-F682-505C-06AB-6AE1F1D69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5494" y="643466"/>
            <a:ext cx="8441011" cy="5571067"/>
          </a:xfrm>
          <a:prstGeom prst="rect">
            <a:avLst/>
          </a:prstGeom>
        </p:spPr>
      </p:pic>
    </p:spTree>
    <p:extLst>
      <p:ext uri="{BB962C8B-B14F-4D97-AF65-F5344CB8AC3E}">
        <p14:creationId xmlns:p14="http://schemas.microsoft.com/office/powerpoint/2010/main" val="1060818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blue rectangular object with black text&#10;&#10;AI-generated content may be incorrect.">
            <a:extLst>
              <a:ext uri="{FF2B5EF4-FFF2-40B4-BE49-F238E27FC236}">
                <a16:creationId xmlns:a16="http://schemas.microsoft.com/office/drawing/2014/main" id="{B3FA1EC0-3BF2-6924-ADC5-A109C9A6A7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448" y="643466"/>
            <a:ext cx="8473104" cy="5571067"/>
          </a:xfrm>
          <a:prstGeom prst="rect">
            <a:avLst/>
          </a:prstGeom>
        </p:spPr>
      </p:pic>
    </p:spTree>
    <p:extLst>
      <p:ext uri="{BB962C8B-B14F-4D97-AF65-F5344CB8AC3E}">
        <p14:creationId xmlns:p14="http://schemas.microsoft.com/office/powerpoint/2010/main" val="474444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descr="A graph showing different colored rectangles&#10;&#10;AI-generated content may be incorrect.">
            <a:extLst>
              <a:ext uri="{FF2B5EF4-FFF2-40B4-BE49-F238E27FC236}">
                <a16:creationId xmlns:a16="http://schemas.microsoft.com/office/drawing/2014/main" id="{D925CC60-12ED-E542-EAD7-D6F8416F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5494" y="643466"/>
            <a:ext cx="8441011" cy="5571067"/>
          </a:xfrm>
          <a:prstGeom prst="rect">
            <a:avLst/>
          </a:prstGeom>
        </p:spPr>
      </p:pic>
    </p:spTree>
    <p:extLst>
      <p:ext uri="{BB962C8B-B14F-4D97-AF65-F5344CB8AC3E}">
        <p14:creationId xmlns:p14="http://schemas.microsoft.com/office/powerpoint/2010/main" val="2925646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with blue and orange rectangles&#10;&#10;AI-generated content may be incorrect.">
            <a:extLst>
              <a:ext uri="{FF2B5EF4-FFF2-40B4-BE49-F238E27FC236}">
                <a16:creationId xmlns:a16="http://schemas.microsoft.com/office/drawing/2014/main" id="{DF45C4CC-44B7-F394-4567-A9859EC836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448" y="643466"/>
            <a:ext cx="8473104" cy="5571067"/>
          </a:xfrm>
          <a:prstGeom prst="rect">
            <a:avLst/>
          </a:prstGeom>
        </p:spPr>
      </p:pic>
    </p:spTree>
    <p:extLst>
      <p:ext uri="{BB962C8B-B14F-4D97-AF65-F5344CB8AC3E}">
        <p14:creationId xmlns:p14="http://schemas.microsoft.com/office/powerpoint/2010/main" val="1712890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showing different colored squares&#10;&#10;AI-generated content may be incorrect.">
            <a:extLst>
              <a:ext uri="{FF2B5EF4-FFF2-40B4-BE49-F238E27FC236}">
                <a16:creationId xmlns:a16="http://schemas.microsoft.com/office/drawing/2014/main" id="{F83EFB7F-5424-DDA0-D345-3A1895593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448" y="643466"/>
            <a:ext cx="8473104" cy="5571067"/>
          </a:xfrm>
          <a:prstGeom prst="rect">
            <a:avLst/>
          </a:prstGeom>
        </p:spPr>
      </p:pic>
    </p:spTree>
    <p:extLst>
      <p:ext uri="{BB962C8B-B14F-4D97-AF65-F5344CB8AC3E}">
        <p14:creationId xmlns:p14="http://schemas.microsoft.com/office/powerpoint/2010/main" val="1176117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aph with different colored bars&#10;&#10;AI-generated content may be incorrect.">
            <a:extLst>
              <a:ext uri="{FF2B5EF4-FFF2-40B4-BE49-F238E27FC236}">
                <a16:creationId xmlns:a16="http://schemas.microsoft.com/office/drawing/2014/main" id="{EE2B650B-4756-92CA-E3B0-B29E5AFEC7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3276" y="643466"/>
            <a:ext cx="8505447" cy="5571067"/>
          </a:xfrm>
          <a:prstGeom prst="rect">
            <a:avLst/>
          </a:prstGeom>
        </p:spPr>
      </p:pic>
    </p:spTree>
    <p:extLst>
      <p:ext uri="{BB962C8B-B14F-4D97-AF65-F5344CB8AC3E}">
        <p14:creationId xmlns:p14="http://schemas.microsoft.com/office/powerpoint/2010/main" val="4221613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6839A11-F5A8-3DB4-0CBC-79BF279CE07B}"/>
              </a:ext>
            </a:extLst>
          </p:cNvPr>
          <p:cNvSpPr txBox="1"/>
          <p:nvPr/>
        </p:nvSpPr>
        <p:spPr>
          <a:xfrm>
            <a:off x="838200" y="184805"/>
            <a:ext cx="10515600" cy="150588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b="1" u="sng" kern="1200">
                <a:solidFill>
                  <a:schemeClr val="tx1"/>
                </a:solidFill>
                <a:latin typeface="+mj-lt"/>
                <a:ea typeface="+mj-ea"/>
                <a:cs typeface="+mj-cs"/>
              </a:rPr>
              <a:t>Comparing all categorical variables with the target (y)</a:t>
            </a:r>
          </a:p>
        </p:txBody>
      </p:sp>
      <p:pic>
        <p:nvPicPr>
          <p:cNvPr id="6" name="Picture 5" descr="A graph of different colored columns&#10;&#10;AI-generated content may be incorrect.">
            <a:extLst>
              <a:ext uri="{FF2B5EF4-FFF2-40B4-BE49-F238E27FC236}">
                <a16:creationId xmlns:a16="http://schemas.microsoft.com/office/drawing/2014/main" id="{17444532-2A42-619B-078C-0F4A1E64A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3349" y="1845426"/>
            <a:ext cx="9550080" cy="4718660"/>
          </a:xfrm>
          <a:prstGeom prst="rect">
            <a:avLst/>
          </a:prstGeom>
        </p:spPr>
      </p:pic>
    </p:spTree>
    <p:extLst>
      <p:ext uri="{BB962C8B-B14F-4D97-AF65-F5344CB8AC3E}">
        <p14:creationId xmlns:p14="http://schemas.microsoft.com/office/powerpoint/2010/main" val="1644904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with different colored squares&#10;&#10;AI-generated content may be incorrect.">
            <a:extLst>
              <a:ext uri="{FF2B5EF4-FFF2-40B4-BE49-F238E27FC236}">
                <a16:creationId xmlns:a16="http://schemas.microsoft.com/office/drawing/2014/main" id="{084C9D1A-AAC1-1EB3-C664-B3C917F2A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57258"/>
            <a:ext cx="10905066" cy="5343483"/>
          </a:xfrm>
          <a:prstGeom prst="rect">
            <a:avLst/>
          </a:prstGeom>
          <a:ln>
            <a:noFill/>
          </a:ln>
        </p:spPr>
      </p:pic>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4252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green and orange bars&#10;&#10;AI-generated content may be incorrect.">
            <a:extLst>
              <a:ext uri="{FF2B5EF4-FFF2-40B4-BE49-F238E27FC236}">
                <a16:creationId xmlns:a16="http://schemas.microsoft.com/office/drawing/2014/main" id="{F8A13DFF-5E19-D5BA-8F9F-7EAF1C819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57258"/>
            <a:ext cx="10905066" cy="5343483"/>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2501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green and orange bars&#10;&#10;AI-generated content may be incorrect.">
            <a:extLst>
              <a:ext uri="{FF2B5EF4-FFF2-40B4-BE49-F238E27FC236}">
                <a16:creationId xmlns:a16="http://schemas.microsoft.com/office/drawing/2014/main" id="{894CE014-12DA-DC77-2D59-A6EEB31EE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43627"/>
            <a:ext cx="10905066" cy="5370744"/>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4695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green and blue squares&#10;&#10;AI-generated content may be incorrect.">
            <a:extLst>
              <a:ext uri="{FF2B5EF4-FFF2-40B4-BE49-F238E27FC236}">
                <a16:creationId xmlns:a16="http://schemas.microsoft.com/office/drawing/2014/main" id="{A40549E8-D0E0-161D-D513-1BF38A8562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70890"/>
            <a:ext cx="10905066" cy="5316218"/>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9014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EA7DDE1-4000-4603-4D04-B85330EE6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70890"/>
            <a:ext cx="10905066" cy="5316218"/>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1681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different colored squares&#10;&#10;AI-generated content may be incorrect.">
            <a:extLst>
              <a:ext uri="{FF2B5EF4-FFF2-40B4-BE49-F238E27FC236}">
                <a16:creationId xmlns:a16="http://schemas.microsoft.com/office/drawing/2014/main" id="{6E8A1E43-B13B-C763-AD6E-03D703B5F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57258"/>
            <a:ext cx="10905066" cy="5343483"/>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015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different colored squares&#10;&#10;AI-generated content may be incorrect.">
            <a:extLst>
              <a:ext uri="{FF2B5EF4-FFF2-40B4-BE49-F238E27FC236}">
                <a16:creationId xmlns:a16="http://schemas.microsoft.com/office/drawing/2014/main" id="{0E0794AF-A28D-1652-E6DA-8EB57ECABC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784521"/>
            <a:ext cx="10905066" cy="5288956"/>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5249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D4CBF8D-DB06-7521-92BB-697AE7D32DA0}"/>
              </a:ext>
            </a:extLst>
          </p:cNvPr>
          <p:cNvSpPr txBox="1"/>
          <p:nvPr/>
        </p:nvSpPr>
        <p:spPr>
          <a:xfrm>
            <a:off x="440788" y="873598"/>
            <a:ext cx="11310424" cy="4555093"/>
          </a:xfrm>
          <a:prstGeom prst="rect">
            <a:avLst/>
          </a:prstGeom>
          <a:noFill/>
        </p:spPr>
        <p:txBody>
          <a:bodyPr wrap="square" rtlCol="0">
            <a:spAutoFit/>
          </a:bodyPr>
          <a:lstStyle/>
          <a:p>
            <a:pPr lvl="0"/>
            <a:r>
              <a:rPr lang="en-US" sz="4000" b="1" u="sng" dirty="0"/>
              <a:t>Data Cleaning</a:t>
            </a:r>
          </a:p>
          <a:p>
            <a:pPr lvl="0"/>
            <a:endParaRPr lang="en-US" sz="4000" dirty="0"/>
          </a:p>
          <a:p>
            <a:pPr lvl="0"/>
            <a:r>
              <a:rPr lang="en-US" sz="2400" dirty="0"/>
              <a:t>In the data cleaning phase, we first handled the </a:t>
            </a:r>
            <a:r>
              <a:rPr lang="en-US" sz="2400" b="1" dirty="0"/>
              <a:t>missing values</a:t>
            </a:r>
            <a:r>
              <a:rPr lang="en-US" sz="2400" dirty="0"/>
              <a:t>, and since this dataset represents missing information using the label </a:t>
            </a:r>
            <a:r>
              <a:rPr lang="en-US" sz="2400" b="1" dirty="0"/>
              <a:t>"unknown"</a:t>
            </a:r>
            <a:r>
              <a:rPr lang="en-US" sz="2400" dirty="0"/>
              <a:t>, we counted these values to understand whether they appeared randomly or followed a pattern. The results showed no meaningful pattern, so each column with “unknown” was treated independently. Some “unknown” values were replaced with </a:t>
            </a:r>
            <a:r>
              <a:rPr lang="en-US" sz="2400" b="1" dirty="0"/>
              <a:t>“other”</a:t>
            </a:r>
            <a:r>
              <a:rPr lang="en-US" sz="2400" dirty="0"/>
              <a:t> when they simply represented an unspecified category. For the </a:t>
            </a:r>
            <a:r>
              <a:rPr lang="en-US" sz="2400" i="1" dirty="0" err="1"/>
              <a:t>poutcome</a:t>
            </a:r>
            <a:r>
              <a:rPr lang="en-US" sz="2400" dirty="0"/>
              <a:t> column, the value “unknown” actually means the client was </a:t>
            </a:r>
            <a:r>
              <a:rPr lang="en-US" sz="2400" b="1" dirty="0"/>
              <a:t>never contacted in a previous campaign</a:t>
            </a:r>
            <a:r>
              <a:rPr lang="en-US" sz="2400" dirty="0"/>
              <a:t>, so we replaced it with a more meaningful label such as </a:t>
            </a:r>
            <a:r>
              <a:rPr lang="en-US" sz="2400" b="1" dirty="0"/>
              <a:t>“nonexistent”</a:t>
            </a:r>
            <a:r>
              <a:rPr lang="en-US" sz="2400" dirty="0"/>
              <a:t> to avoid confusion and to improve processing.</a:t>
            </a:r>
          </a:p>
          <a:p>
            <a:endParaRPr lang="en-US" dirty="0"/>
          </a:p>
        </p:txBody>
      </p:sp>
    </p:spTree>
    <p:extLst>
      <p:ext uri="{BB962C8B-B14F-4D97-AF65-F5344CB8AC3E}">
        <p14:creationId xmlns:p14="http://schemas.microsoft.com/office/powerpoint/2010/main" val="2018327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82D118-C3A9-946A-365A-7C91FB6496D7}"/>
              </a:ext>
            </a:extLst>
          </p:cNvPr>
          <p:cNvSpPr txBox="1"/>
          <p:nvPr/>
        </p:nvSpPr>
        <p:spPr>
          <a:xfrm>
            <a:off x="1208315" y="1582340"/>
            <a:ext cx="10287000" cy="3693319"/>
          </a:xfrm>
          <a:prstGeom prst="rect">
            <a:avLst/>
          </a:prstGeom>
          <a:noFill/>
        </p:spPr>
        <p:txBody>
          <a:bodyPr wrap="square" rtlCol="0">
            <a:spAutoFit/>
          </a:bodyPr>
          <a:lstStyle/>
          <a:p>
            <a:r>
              <a:rPr lang="en-US" sz="2400" dirty="0"/>
              <a:t>In the next step, we identified </a:t>
            </a:r>
            <a:r>
              <a:rPr lang="en-US" sz="2400" b="1" dirty="0"/>
              <a:t>outliers</a:t>
            </a:r>
            <a:r>
              <a:rPr lang="en-US" sz="2400" dirty="0"/>
              <a:t> using boxplots, which showed that the </a:t>
            </a:r>
            <a:r>
              <a:rPr lang="en-US" sz="2400" b="1" dirty="0"/>
              <a:t>balance</a:t>
            </a:r>
            <a:r>
              <a:rPr lang="en-US" sz="2400" dirty="0"/>
              <a:t> column had very high values on the upper end that could negatively affect modeling. Based on age distribution</a:t>
            </a:r>
            <a:r>
              <a:rPr lang="hi-IN" sz="2400" dirty="0"/>
              <a:t> </a:t>
            </a:r>
            <a:r>
              <a:rPr lang="en-US" sz="2400" dirty="0"/>
              <a:t>shape and IQR, the reasonable upper limit was around 3500, but because bank balances naturally vary among clients, we used a more flexible threshold of </a:t>
            </a:r>
            <a:r>
              <a:rPr lang="en-US" sz="2400" b="1" dirty="0"/>
              <a:t>5000</a:t>
            </a:r>
            <a:r>
              <a:rPr lang="en-US" sz="2400" dirty="0"/>
              <a:t>. To avoid losing the already small number of positive (“yes”) cases, we removed only the extreme outliers where the client did </a:t>
            </a:r>
            <a:r>
              <a:rPr lang="en-US" sz="2400" b="1" dirty="0"/>
              <a:t>not</a:t>
            </a:r>
            <a:r>
              <a:rPr lang="en-US" sz="2400" dirty="0"/>
              <a:t> subscribe, and kept all records where the balance was high but the client subscribed. This approach </a:t>
            </a:r>
            <a:r>
              <a:rPr lang="en-US" sz="2400" b="1" dirty="0"/>
              <a:t>reduces noise</a:t>
            </a:r>
            <a:r>
              <a:rPr lang="en-US" sz="2400" dirty="0"/>
              <a:t> without harming model performance on the minority class.</a:t>
            </a:r>
          </a:p>
          <a:p>
            <a:endParaRPr lang="en-US" dirty="0"/>
          </a:p>
        </p:txBody>
      </p:sp>
    </p:spTree>
    <p:extLst>
      <p:ext uri="{BB962C8B-B14F-4D97-AF65-F5344CB8AC3E}">
        <p14:creationId xmlns:p14="http://schemas.microsoft.com/office/powerpoint/2010/main" val="1386678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graph showing a number of people&#10;&#10;AI-generated content may be incorrect.">
            <a:extLst>
              <a:ext uri="{FF2B5EF4-FFF2-40B4-BE49-F238E27FC236}">
                <a16:creationId xmlns:a16="http://schemas.microsoft.com/office/drawing/2014/main" id="{39724D40-2738-5A12-89F0-02C21DFCE2FE}"/>
              </a:ext>
            </a:extLst>
          </p:cNvPr>
          <p:cNvPicPr>
            <a:picLocks noChangeAspect="1"/>
          </p:cNvPicPr>
          <p:nvPr/>
        </p:nvPicPr>
        <p:blipFill>
          <a:blip r:embed="rId2">
            <a:extLst>
              <a:ext uri="{28A0092B-C50C-407E-A947-70E740481C1C}">
                <a14:useLocalDpi xmlns:a14="http://schemas.microsoft.com/office/drawing/2010/main" val="0"/>
              </a:ext>
            </a:extLst>
          </a:blip>
          <a:srcRect r="8427"/>
          <a:stretch>
            <a:fillRect/>
          </a:stretch>
        </p:blipFill>
        <p:spPr>
          <a:xfrm>
            <a:off x="20" y="1282"/>
            <a:ext cx="12191980" cy="6856718"/>
          </a:xfrm>
          <a:prstGeom prst="rect">
            <a:avLst/>
          </a:prstGeom>
        </p:spPr>
      </p:pic>
    </p:spTree>
    <p:extLst>
      <p:ext uri="{BB962C8B-B14F-4D97-AF65-F5344CB8AC3E}">
        <p14:creationId xmlns:p14="http://schemas.microsoft.com/office/powerpoint/2010/main" val="4047776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241BC8-4653-5A73-5054-5C752AFEB81A}"/>
              </a:ext>
            </a:extLst>
          </p:cNvPr>
          <p:cNvSpPr txBox="1"/>
          <p:nvPr/>
        </p:nvSpPr>
        <p:spPr>
          <a:xfrm>
            <a:off x="543616" y="228123"/>
            <a:ext cx="10668000" cy="6401753"/>
          </a:xfrm>
          <a:prstGeom prst="rect">
            <a:avLst/>
          </a:prstGeom>
          <a:noFill/>
        </p:spPr>
        <p:txBody>
          <a:bodyPr wrap="square" rtlCol="0">
            <a:spAutoFit/>
          </a:bodyPr>
          <a:lstStyle/>
          <a:p>
            <a:pPr lvl="0"/>
            <a:r>
              <a:rPr lang="en-US" sz="4000" b="1" u="sng" dirty="0"/>
              <a:t>Feature Engineering</a:t>
            </a:r>
          </a:p>
          <a:p>
            <a:pPr lvl="0"/>
            <a:endParaRPr lang="en-US" sz="4000" dirty="0"/>
          </a:p>
          <a:p>
            <a:r>
              <a:rPr lang="en-US" sz="2400" dirty="0"/>
              <a:t>This step involves creating or transforming features to help the model understand the data better and improve its performance. In this project, we applied a logical transformation to the </a:t>
            </a:r>
            <a:r>
              <a:rPr lang="en-US" sz="2400" b="1" dirty="0"/>
              <a:t>day</a:t>
            </a:r>
            <a:r>
              <a:rPr lang="en-US" sz="2400" dirty="0"/>
              <a:t> column. Since the days of the month (1–30) do not have a meaningful ordinal weight, using them directly can negatively affect the model. To fix this, we converted the day numbers into </a:t>
            </a:r>
            <a:r>
              <a:rPr lang="en-US" sz="2400" b="1" dirty="0"/>
              <a:t>week categories</a:t>
            </a:r>
            <a:r>
              <a:rPr lang="en-US" sz="2400" dirty="0"/>
              <a:t>. We assumed a simple structure where a month has 4 weeks:</a:t>
            </a:r>
          </a:p>
          <a:p>
            <a:pPr lvl="0"/>
            <a:r>
              <a:rPr lang="en-US" sz="2400" dirty="0"/>
              <a:t>Days </a:t>
            </a:r>
            <a:r>
              <a:rPr lang="en-US" sz="2400" b="1" dirty="0"/>
              <a:t>1–7</a:t>
            </a:r>
            <a:r>
              <a:rPr lang="en-US" sz="2400" dirty="0"/>
              <a:t> → Week 1</a:t>
            </a:r>
          </a:p>
          <a:p>
            <a:pPr lvl="0"/>
            <a:r>
              <a:rPr lang="en-US" sz="2400" dirty="0"/>
              <a:t>Days </a:t>
            </a:r>
            <a:r>
              <a:rPr lang="en-US" sz="2400" b="1" dirty="0"/>
              <a:t>8–14</a:t>
            </a:r>
            <a:r>
              <a:rPr lang="en-US" sz="2400" dirty="0"/>
              <a:t> → Week 2</a:t>
            </a:r>
          </a:p>
          <a:p>
            <a:pPr lvl="0"/>
            <a:r>
              <a:rPr lang="en-US" sz="2400" dirty="0"/>
              <a:t>Days </a:t>
            </a:r>
            <a:r>
              <a:rPr lang="en-US" sz="2400" b="1" dirty="0"/>
              <a:t>15–21</a:t>
            </a:r>
            <a:r>
              <a:rPr lang="en-US" sz="2400" dirty="0"/>
              <a:t> → Week 3</a:t>
            </a:r>
          </a:p>
          <a:p>
            <a:pPr lvl="0"/>
            <a:r>
              <a:rPr lang="en-US" sz="2400" dirty="0"/>
              <a:t>Days </a:t>
            </a:r>
            <a:r>
              <a:rPr lang="en-US" sz="2400" b="1" dirty="0"/>
              <a:t>22–31</a:t>
            </a:r>
            <a:r>
              <a:rPr lang="en-US" sz="2400" dirty="0"/>
              <a:t> → Week 4</a:t>
            </a:r>
          </a:p>
          <a:p>
            <a:pPr lvl="0"/>
            <a:endParaRPr lang="en-US" sz="2400" dirty="0"/>
          </a:p>
          <a:p>
            <a:r>
              <a:rPr lang="en-US" sz="2400" dirty="0"/>
              <a:t>This transformation allows the model to understand which</a:t>
            </a:r>
            <a:r>
              <a:rPr lang="en-US" sz="2400" i="1" dirty="0"/>
              <a:t> </a:t>
            </a:r>
            <a:r>
              <a:rPr lang="en-US" sz="2400" dirty="0"/>
              <a:t>part</a:t>
            </a:r>
            <a:r>
              <a:rPr lang="en-US" sz="2400" i="1" dirty="0"/>
              <a:t> </a:t>
            </a:r>
            <a:r>
              <a:rPr lang="en-US" sz="2400" dirty="0"/>
              <a:t>of</a:t>
            </a:r>
            <a:r>
              <a:rPr lang="en-US" sz="2400" i="1" dirty="0"/>
              <a:t> </a:t>
            </a:r>
            <a:r>
              <a:rPr lang="en-US" sz="2400" dirty="0"/>
              <a:t>the</a:t>
            </a:r>
            <a:r>
              <a:rPr lang="en-US" sz="2400" i="1" dirty="0"/>
              <a:t> </a:t>
            </a:r>
            <a:r>
              <a:rPr lang="en-US" sz="2400" dirty="0"/>
              <a:t>month the contact happened, instead of treating every day as a separate numeric value.</a:t>
            </a:r>
          </a:p>
          <a:p>
            <a:endParaRPr lang="en-US" dirty="0"/>
          </a:p>
        </p:txBody>
      </p:sp>
    </p:spTree>
    <p:extLst>
      <p:ext uri="{BB962C8B-B14F-4D97-AF65-F5344CB8AC3E}">
        <p14:creationId xmlns:p14="http://schemas.microsoft.com/office/powerpoint/2010/main" val="4095882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7F385A-9D0C-8A34-1D1F-889C56FEB1C5}"/>
              </a:ext>
            </a:extLst>
          </p:cNvPr>
          <p:cNvSpPr txBox="1"/>
          <p:nvPr/>
        </p:nvSpPr>
        <p:spPr>
          <a:xfrm>
            <a:off x="379827" y="520628"/>
            <a:ext cx="11113477" cy="4308872"/>
          </a:xfrm>
          <a:prstGeom prst="rect">
            <a:avLst/>
          </a:prstGeom>
          <a:noFill/>
        </p:spPr>
        <p:txBody>
          <a:bodyPr wrap="square" rtlCol="0">
            <a:spAutoFit/>
          </a:bodyPr>
          <a:lstStyle/>
          <a:p>
            <a:pPr lvl="0"/>
            <a:r>
              <a:rPr lang="en-US" sz="4000" b="1" u="sng" dirty="0"/>
              <a:t>Feature Encoding</a:t>
            </a:r>
          </a:p>
          <a:p>
            <a:pPr lvl="0"/>
            <a:endParaRPr lang="en-US" sz="2400" dirty="0"/>
          </a:p>
          <a:p>
            <a:r>
              <a:rPr lang="en-US" sz="2400" dirty="0"/>
              <a:t>Computers cannot understand text like humans, so categorical columns must be converted into numeric values through feature encoding. In our dataset, we applied encoding to several columns such as </a:t>
            </a:r>
            <a:r>
              <a:rPr lang="en-US" sz="2400" b="1" dirty="0"/>
              <a:t>marital</a:t>
            </a:r>
            <a:r>
              <a:rPr lang="en-US" sz="2400" dirty="0"/>
              <a:t>, </a:t>
            </a:r>
            <a:r>
              <a:rPr lang="en-US" sz="2400" b="1" dirty="0"/>
              <a:t>education</a:t>
            </a:r>
            <a:r>
              <a:rPr lang="en-US" sz="2400" dirty="0"/>
              <a:t>, </a:t>
            </a:r>
            <a:r>
              <a:rPr lang="en-US" sz="2400" b="1" dirty="0"/>
              <a:t>housing</a:t>
            </a:r>
            <a:r>
              <a:rPr lang="en-US" sz="2400" dirty="0"/>
              <a:t>, </a:t>
            </a:r>
            <a:r>
              <a:rPr lang="en-US" sz="2400" b="1" dirty="0"/>
              <a:t>loan</a:t>
            </a:r>
            <a:r>
              <a:rPr lang="en-US" sz="2400" dirty="0"/>
              <a:t>, and the target variable </a:t>
            </a:r>
            <a:r>
              <a:rPr lang="en-US" sz="2400" b="1" dirty="0"/>
              <a:t>y</a:t>
            </a:r>
            <a:r>
              <a:rPr lang="en-US" sz="2400" dirty="0"/>
              <a:t>, converting their categories into numeric labels like 0, 1, 2, or 3.</a:t>
            </a:r>
          </a:p>
          <a:p>
            <a:r>
              <a:rPr lang="en-US" sz="2400" dirty="0"/>
              <a:t> </a:t>
            </a:r>
          </a:p>
          <a:p>
            <a:r>
              <a:rPr lang="en-US" sz="2400" dirty="0"/>
              <a:t>Additionally, we removed an unimportant feature that was no longer needed after creating its alternative. This keeps the dataset cleaner and helps the model focus on the most useful information.</a:t>
            </a:r>
          </a:p>
          <a:p>
            <a:endParaRPr lang="en-US" dirty="0"/>
          </a:p>
        </p:txBody>
      </p:sp>
    </p:spTree>
    <p:extLst>
      <p:ext uri="{BB962C8B-B14F-4D97-AF65-F5344CB8AC3E}">
        <p14:creationId xmlns:p14="http://schemas.microsoft.com/office/powerpoint/2010/main" val="27616507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2E6E0B-3A41-B965-202E-8752832132D7}"/>
              </a:ext>
            </a:extLst>
          </p:cNvPr>
          <p:cNvSpPr txBox="1"/>
          <p:nvPr/>
        </p:nvSpPr>
        <p:spPr>
          <a:xfrm>
            <a:off x="615127" y="521509"/>
            <a:ext cx="10482943" cy="4555093"/>
          </a:xfrm>
          <a:prstGeom prst="rect">
            <a:avLst/>
          </a:prstGeom>
          <a:noFill/>
        </p:spPr>
        <p:txBody>
          <a:bodyPr wrap="square" rtlCol="0">
            <a:spAutoFit/>
          </a:bodyPr>
          <a:lstStyle/>
          <a:p>
            <a:pPr lvl="0"/>
            <a:r>
              <a:rPr lang="en-US" sz="4000" b="1" u="sng" dirty="0"/>
              <a:t>Correlation</a:t>
            </a:r>
          </a:p>
          <a:p>
            <a:pPr lvl="0"/>
            <a:endParaRPr lang="en-US" sz="4000" b="1" dirty="0"/>
          </a:p>
          <a:p>
            <a:r>
              <a:rPr lang="en-US" sz="3200" dirty="0"/>
              <a:t>Correlation helps us understand how strongly two features are related to each other, which helps the model in prediction. To visualize these relationships, we created a </a:t>
            </a:r>
            <a:r>
              <a:rPr lang="en-US" sz="3200" b="1" dirty="0"/>
              <a:t>correlation heatmap</a:t>
            </a:r>
            <a:r>
              <a:rPr lang="en-US" sz="3200" dirty="0"/>
              <a:t>, which shows how much each numeric variable is connected to the others.</a:t>
            </a:r>
          </a:p>
          <a:p>
            <a:r>
              <a:rPr lang="en-US" sz="3200" dirty="0"/>
              <a:t> </a:t>
            </a:r>
          </a:p>
          <a:p>
            <a:endParaRPr lang="en-US" dirty="0"/>
          </a:p>
        </p:txBody>
      </p:sp>
    </p:spTree>
    <p:extLst>
      <p:ext uri="{BB962C8B-B14F-4D97-AF65-F5344CB8AC3E}">
        <p14:creationId xmlns:p14="http://schemas.microsoft.com/office/powerpoint/2010/main" val="2955329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E8E979C0-6F74-3BA4-4901-F4AC2061DC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71450"/>
            <a:ext cx="11430000" cy="6515100"/>
          </a:xfrm>
          <a:prstGeom prst="rect">
            <a:avLst/>
          </a:prstGeom>
        </p:spPr>
      </p:pic>
    </p:spTree>
    <p:extLst>
      <p:ext uri="{BB962C8B-B14F-4D97-AF65-F5344CB8AC3E}">
        <p14:creationId xmlns:p14="http://schemas.microsoft.com/office/powerpoint/2010/main" val="491580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8D1DB4-CF81-97E1-FF7D-E500D5456559}"/>
              </a:ext>
            </a:extLst>
          </p:cNvPr>
          <p:cNvSpPr txBox="1"/>
          <p:nvPr/>
        </p:nvSpPr>
        <p:spPr>
          <a:xfrm>
            <a:off x="1023760" y="105930"/>
            <a:ext cx="9612085" cy="3016210"/>
          </a:xfrm>
          <a:prstGeom prst="rect">
            <a:avLst/>
          </a:prstGeom>
          <a:noFill/>
        </p:spPr>
        <p:txBody>
          <a:bodyPr wrap="square" rtlCol="0">
            <a:spAutoFit/>
          </a:bodyPr>
          <a:lstStyle/>
          <a:p>
            <a:r>
              <a:rPr lang="en-US" sz="3200" b="1" u="sng" dirty="0"/>
              <a:t>VIF Calculation</a:t>
            </a:r>
          </a:p>
          <a:p>
            <a:endParaRPr lang="en-US" sz="2000" dirty="0"/>
          </a:p>
          <a:p>
            <a:r>
              <a:rPr lang="en-US" sz="2000" dirty="0"/>
              <a:t>We also calculated the </a:t>
            </a:r>
            <a:r>
              <a:rPr lang="en-US" sz="2000" b="1" dirty="0"/>
              <a:t>Variance Inflation Factor (VIF)</a:t>
            </a:r>
            <a:r>
              <a:rPr lang="en-US" sz="2000" dirty="0"/>
              <a:t>, VIF values help us see whether a feature is too dependent on the rest. The general rule is to consider a </a:t>
            </a:r>
            <a:r>
              <a:rPr lang="en-US" sz="2000" b="1" dirty="0"/>
              <a:t>VIF</a:t>
            </a:r>
            <a:r>
              <a:rPr lang="en-US" sz="2000" dirty="0"/>
              <a:t> above 5 as high, this threshold can vary depending on the situation. In our case, we used a threshold of </a:t>
            </a:r>
            <a:r>
              <a:rPr lang="en-US" sz="2000" b="1" dirty="0"/>
              <a:t>5</a:t>
            </a:r>
            <a:r>
              <a:rPr lang="en-US" sz="2000" dirty="0"/>
              <a:t>, and all features were below this value only </a:t>
            </a:r>
            <a:r>
              <a:rPr lang="en-US" sz="2000" b="1" dirty="0"/>
              <a:t>age</a:t>
            </a:r>
            <a:r>
              <a:rPr lang="en-US" sz="2000" dirty="0"/>
              <a:t>. So, we train models with and without age, because multicollinearity of age ( age can be predicted from other variables) affects the logistic regression model. After removing age all VIF were under 5.</a:t>
            </a:r>
          </a:p>
          <a:p>
            <a:endParaRPr lang="en-US" dirty="0"/>
          </a:p>
        </p:txBody>
      </p:sp>
      <p:pic>
        <p:nvPicPr>
          <p:cNvPr id="6" name="Picture 5">
            <a:extLst>
              <a:ext uri="{FF2B5EF4-FFF2-40B4-BE49-F238E27FC236}">
                <a16:creationId xmlns:a16="http://schemas.microsoft.com/office/drawing/2014/main" id="{AF1928ED-F33F-A4F0-D78C-835D53FE713F}"/>
              </a:ext>
            </a:extLst>
          </p:cNvPr>
          <p:cNvPicPr>
            <a:picLocks noChangeAspect="1"/>
          </p:cNvPicPr>
          <p:nvPr/>
        </p:nvPicPr>
        <p:blipFill>
          <a:blip r:embed="rId2"/>
          <a:stretch>
            <a:fillRect/>
          </a:stretch>
        </p:blipFill>
        <p:spPr>
          <a:xfrm>
            <a:off x="2766397" y="2993320"/>
            <a:ext cx="2537123" cy="3758750"/>
          </a:xfrm>
          <a:prstGeom prst="rect">
            <a:avLst/>
          </a:prstGeom>
        </p:spPr>
      </p:pic>
      <p:pic>
        <p:nvPicPr>
          <p:cNvPr id="8" name="Picture 7">
            <a:extLst>
              <a:ext uri="{FF2B5EF4-FFF2-40B4-BE49-F238E27FC236}">
                <a16:creationId xmlns:a16="http://schemas.microsoft.com/office/drawing/2014/main" id="{9AA06A5B-9CFA-487A-BDAC-B9B632F19709}"/>
              </a:ext>
            </a:extLst>
          </p:cNvPr>
          <p:cNvPicPr>
            <a:picLocks noChangeAspect="1"/>
          </p:cNvPicPr>
          <p:nvPr/>
        </p:nvPicPr>
        <p:blipFill>
          <a:blip r:embed="rId3"/>
          <a:stretch>
            <a:fillRect/>
          </a:stretch>
        </p:blipFill>
        <p:spPr>
          <a:xfrm>
            <a:off x="8848288" y="3178854"/>
            <a:ext cx="2537123" cy="3516501"/>
          </a:xfrm>
          <a:prstGeom prst="rect">
            <a:avLst/>
          </a:prstGeom>
        </p:spPr>
      </p:pic>
      <p:sp>
        <p:nvSpPr>
          <p:cNvPr id="9" name="TextBox 8">
            <a:extLst>
              <a:ext uri="{FF2B5EF4-FFF2-40B4-BE49-F238E27FC236}">
                <a16:creationId xmlns:a16="http://schemas.microsoft.com/office/drawing/2014/main" id="{B0679F9B-28D6-8268-230F-8CA94C57F43E}"/>
              </a:ext>
            </a:extLst>
          </p:cNvPr>
          <p:cNvSpPr txBox="1"/>
          <p:nvPr/>
        </p:nvSpPr>
        <p:spPr>
          <a:xfrm>
            <a:off x="201385" y="3864680"/>
            <a:ext cx="2667001" cy="830997"/>
          </a:xfrm>
          <a:prstGeom prst="rect">
            <a:avLst/>
          </a:prstGeom>
          <a:noFill/>
        </p:spPr>
        <p:txBody>
          <a:bodyPr wrap="square" rtlCol="0">
            <a:spAutoFit/>
          </a:bodyPr>
          <a:lstStyle/>
          <a:p>
            <a:r>
              <a:rPr lang="en-US" sz="2400" b="1" dirty="0"/>
              <a:t>Before removing “age” variable :</a:t>
            </a:r>
          </a:p>
        </p:txBody>
      </p:sp>
      <p:sp>
        <p:nvSpPr>
          <p:cNvPr id="10" name="TextBox 9">
            <a:extLst>
              <a:ext uri="{FF2B5EF4-FFF2-40B4-BE49-F238E27FC236}">
                <a16:creationId xmlns:a16="http://schemas.microsoft.com/office/drawing/2014/main" id="{C01B9A37-2714-01E3-1D75-605365D1E114}"/>
              </a:ext>
            </a:extLst>
          </p:cNvPr>
          <p:cNvSpPr txBox="1"/>
          <p:nvPr/>
        </p:nvSpPr>
        <p:spPr>
          <a:xfrm>
            <a:off x="6115467" y="3864679"/>
            <a:ext cx="2852057" cy="830997"/>
          </a:xfrm>
          <a:prstGeom prst="rect">
            <a:avLst/>
          </a:prstGeom>
          <a:noFill/>
        </p:spPr>
        <p:txBody>
          <a:bodyPr wrap="square" rtlCol="0">
            <a:spAutoFit/>
          </a:bodyPr>
          <a:lstStyle/>
          <a:p>
            <a:r>
              <a:rPr lang="en-US" sz="2400" b="1" dirty="0"/>
              <a:t>After removing “age” variable :</a:t>
            </a:r>
          </a:p>
        </p:txBody>
      </p:sp>
    </p:spTree>
    <p:extLst>
      <p:ext uri="{BB962C8B-B14F-4D97-AF65-F5344CB8AC3E}">
        <p14:creationId xmlns:p14="http://schemas.microsoft.com/office/powerpoint/2010/main" val="3008293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CD4242C-E24E-61D8-569E-B3FFE178FEF2}"/>
              </a:ext>
            </a:extLst>
          </p:cNvPr>
          <p:cNvSpPr txBox="1"/>
          <p:nvPr/>
        </p:nvSpPr>
        <p:spPr>
          <a:xfrm>
            <a:off x="446314" y="351863"/>
            <a:ext cx="9492342" cy="1837106"/>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2800" b="1" u="sng" kern="100" dirty="0">
                <a:effectLst/>
                <a:latin typeface="Aptos" panose="020B0004020202020204" pitchFamily="34" charset="0"/>
                <a:ea typeface="Aptos" panose="020B0004020202020204" pitchFamily="34" charset="0"/>
                <a:cs typeface="Arial" panose="020B0604020202020204" pitchFamily="34" charset="0"/>
              </a:rPr>
              <a:t>One-hot Encoding</a:t>
            </a:r>
            <a:endParaRPr lang="en-US" sz="28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Arial" panose="020B0604020202020204" pitchFamily="34" charset="0"/>
              </a:rPr>
              <a:t>We applied </a:t>
            </a:r>
            <a:r>
              <a:rPr lang="en-US" sz="2400" b="1" kern="100" dirty="0">
                <a:effectLst/>
                <a:latin typeface="Aptos" panose="020B0004020202020204" pitchFamily="34" charset="0"/>
                <a:ea typeface="Aptos" panose="020B0004020202020204" pitchFamily="34" charset="0"/>
                <a:cs typeface="Arial" panose="020B0604020202020204" pitchFamily="34" charset="0"/>
              </a:rPr>
              <a:t>one-hot encoding using dummy variables</a:t>
            </a:r>
            <a:r>
              <a:rPr lang="en-US" sz="2400" kern="100" dirty="0">
                <a:effectLst/>
                <a:latin typeface="Aptos" panose="020B0004020202020204" pitchFamily="34" charset="0"/>
                <a:ea typeface="Aptos" panose="020B0004020202020204" pitchFamily="34" charset="0"/>
                <a:cs typeface="Arial" panose="020B0604020202020204" pitchFamily="34" charset="0"/>
              </a:rPr>
              <a:t> to convert categorical columns into binary columns, allowing the model to identify each category without assuming any numerical order between them</a:t>
            </a:r>
          </a:p>
        </p:txBody>
      </p:sp>
      <p:sp>
        <p:nvSpPr>
          <p:cNvPr id="7" name="TextBox 6">
            <a:extLst>
              <a:ext uri="{FF2B5EF4-FFF2-40B4-BE49-F238E27FC236}">
                <a16:creationId xmlns:a16="http://schemas.microsoft.com/office/drawing/2014/main" id="{86B6A40C-8CEF-F9F9-FE74-D3C49677947E}"/>
              </a:ext>
            </a:extLst>
          </p:cNvPr>
          <p:cNvSpPr txBox="1"/>
          <p:nvPr/>
        </p:nvSpPr>
        <p:spPr>
          <a:xfrm>
            <a:off x="446314" y="2442781"/>
            <a:ext cx="11059884" cy="4063356"/>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2800" b="1" u="sng" kern="100" dirty="0">
                <a:effectLst/>
                <a:latin typeface="Aptos" panose="020B0004020202020204" pitchFamily="34" charset="0"/>
                <a:ea typeface="Aptos" panose="020B0004020202020204" pitchFamily="34" charset="0"/>
                <a:cs typeface="Arial" panose="020B0604020202020204" pitchFamily="34" charset="0"/>
              </a:rPr>
              <a:t>Feature Selection</a:t>
            </a:r>
            <a:endParaRPr lang="en-US" sz="2800" b="1"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kern="100" dirty="0">
                <a:latin typeface="Aptos" panose="020B0004020202020204" pitchFamily="34" charset="0"/>
                <a:ea typeface="Aptos" panose="020B0004020202020204" pitchFamily="34" charset="0"/>
                <a:cs typeface="Arial" panose="020B0604020202020204" pitchFamily="34" charset="0"/>
              </a:rPr>
              <a:t>W</a:t>
            </a:r>
            <a:r>
              <a:rPr lang="en-US" sz="2400" kern="100" dirty="0">
                <a:effectLst/>
                <a:latin typeface="Aptos" panose="020B0004020202020204" pitchFamily="34" charset="0"/>
                <a:ea typeface="Aptos" panose="020B0004020202020204" pitchFamily="34" charset="0"/>
                <a:cs typeface="Arial" panose="020B0604020202020204" pitchFamily="34" charset="0"/>
              </a:rPr>
              <a:t>e first separated the dependent variable (y) from the independent variables. Then we applied </a:t>
            </a:r>
            <a:r>
              <a:rPr lang="en-US" sz="2400" b="1" kern="100" dirty="0">
                <a:effectLst/>
                <a:latin typeface="Aptos" panose="020B0004020202020204" pitchFamily="34" charset="0"/>
                <a:ea typeface="Aptos" panose="020B0004020202020204" pitchFamily="34" charset="0"/>
                <a:cs typeface="Arial" panose="020B0604020202020204" pitchFamily="34" charset="0"/>
              </a:rPr>
              <a:t>ANOVA (</a:t>
            </a:r>
            <a:r>
              <a:rPr lang="en-US" sz="2400" b="1" kern="100" dirty="0" err="1">
                <a:effectLst/>
                <a:latin typeface="Aptos" panose="020B0004020202020204" pitchFamily="34" charset="0"/>
                <a:ea typeface="Aptos" panose="020B0004020202020204" pitchFamily="34" charset="0"/>
                <a:cs typeface="Arial" panose="020B0604020202020204" pitchFamily="34" charset="0"/>
              </a:rPr>
              <a:t>SelectKBest</a:t>
            </a:r>
            <a:r>
              <a:rPr lang="en-US" sz="2400" b="1" kern="100" dirty="0">
                <a:effectLst/>
                <a:latin typeface="Aptos" panose="020B0004020202020204" pitchFamily="34" charset="0"/>
                <a:ea typeface="Aptos" panose="020B0004020202020204" pitchFamily="34" charset="0"/>
                <a:cs typeface="Arial" panose="020B0604020202020204" pitchFamily="34" charset="0"/>
              </a:rPr>
              <a:t>)</a:t>
            </a:r>
            <a:r>
              <a:rPr lang="en-US" sz="2400" kern="100" dirty="0">
                <a:effectLst/>
                <a:latin typeface="Aptos" panose="020B0004020202020204" pitchFamily="34" charset="0"/>
                <a:ea typeface="Aptos" panose="020B0004020202020204" pitchFamily="34" charset="0"/>
                <a:cs typeface="Arial" panose="020B0604020202020204" pitchFamily="34" charset="0"/>
              </a:rPr>
              <a:t> to pick the top features.</a:t>
            </a:r>
            <a:r>
              <a:rPr lang="en-US" sz="2400" b="1" kern="100" dirty="0">
                <a:effectLst/>
                <a:latin typeface="Aptos" panose="020B0004020202020204" pitchFamily="34" charset="0"/>
                <a:ea typeface="Aptos" panose="020B0004020202020204" pitchFamily="34" charset="0"/>
                <a:cs typeface="Arial" panose="020B0604020202020204" pitchFamily="34" charset="0"/>
              </a:rPr>
              <a:t> Duration</a:t>
            </a:r>
            <a:r>
              <a:rPr lang="en-US" sz="2400" kern="100" dirty="0">
                <a:effectLst/>
                <a:latin typeface="Aptos" panose="020B0004020202020204" pitchFamily="34" charset="0"/>
                <a:ea typeface="Aptos" panose="020B0004020202020204" pitchFamily="34" charset="0"/>
                <a:cs typeface="Arial" panose="020B0604020202020204" pitchFamily="34" charset="0"/>
              </a:rPr>
              <a:t> came out as the most influential feature, which matches our earlier observation that it strongly affects subscription rates. Then we drop all features less than 5.</a:t>
            </a:r>
          </a:p>
          <a:p>
            <a:pPr marL="45720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Arial" panose="020B0604020202020204" pitchFamily="34" charset="0"/>
              </a:rPr>
              <a:t>Since “day” also has converted to “weeks numbers” and is less important so we removed it.</a:t>
            </a:r>
          </a:p>
          <a:p>
            <a:pPr marL="457200" marR="0">
              <a:lnSpc>
                <a:spcPct val="115000"/>
              </a:lnSpc>
              <a:spcAft>
                <a:spcPts val="800"/>
              </a:spcAft>
              <a:buNone/>
            </a:pPr>
            <a:r>
              <a:rPr lang="en-US" sz="2400" kern="100" dirty="0">
                <a:latin typeface="Aptos" panose="020B0004020202020204" pitchFamily="34" charset="0"/>
                <a:ea typeface="Aptos" panose="020B0004020202020204" pitchFamily="34" charset="0"/>
                <a:cs typeface="Arial" panose="020B0604020202020204" pitchFamily="34" charset="0"/>
              </a:rPr>
              <a:t>So in this phase we selected the important variables for our modeling, using </a:t>
            </a:r>
            <a:r>
              <a:rPr lang="en-US" sz="2400" b="1" kern="100" dirty="0">
                <a:effectLst/>
                <a:latin typeface="Aptos" panose="020B0004020202020204" pitchFamily="34" charset="0"/>
                <a:ea typeface="Aptos" panose="020B0004020202020204" pitchFamily="34" charset="0"/>
                <a:cs typeface="Arial" panose="020B0604020202020204" pitchFamily="34" charset="0"/>
              </a:rPr>
              <a:t>ANOVA (</a:t>
            </a:r>
            <a:r>
              <a:rPr lang="en-US" sz="2400" b="1" kern="100" dirty="0" err="1">
                <a:effectLst/>
                <a:latin typeface="Aptos" panose="020B0004020202020204" pitchFamily="34" charset="0"/>
                <a:ea typeface="Aptos" panose="020B0004020202020204" pitchFamily="34" charset="0"/>
                <a:cs typeface="Arial" panose="020B0604020202020204" pitchFamily="34" charset="0"/>
              </a:rPr>
              <a:t>SelectKBest</a:t>
            </a:r>
            <a:r>
              <a:rPr lang="en-US" sz="2400" b="1" kern="100" dirty="0">
                <a:effectLst/>
                <a:latin typeface="Aptos" panose="020B0004020202020204" pitchFamily="34" charset="0"/>
                <a:ea typeface="Aptos" panose="020B0004020202020204" pitchFamily="34" charset="0"/>
                <a:cs typeface="Arial" panose="020B0604020202020204" pitchFamily="34" charset="0"/>
              </a:rPr>
              <a:t>)</a:t>
            </a:r>
            <a:r>
              <a:rPr lang="en-US" sz="2400" kern="100" dirty="0">
                <a:effectLst/>
                <a:latin typeface="Aptos" panose="020B0004020202020204" pitchFamily="34" charset="0"/>
                <a:ea typeface="Aptos" panose="020B0004020202020204" pitchFamily="34" charset="0"/>
                <a:cs typeface="Arial" panose="020B0604020202020204" pitchFamily="34" charset="0"/>
              </a:rPr>
              <a:t> method.</a:t>
            </a:r>
          </a:p>
        </p:txBody>
      </p:sp>
    </p:spTree>
    <p:extLst>
      <p:ext uri="{BB962C8B-B14F-4D97-AF65-F5344CB8AC3E}">
        <p14:creationId xmlns:p14="http://schemas.microsoft.com/office/powerpoint/2010/main" val="2320915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F04B0A61-183D-5BB6-2EBA-B3F02F2CBC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4803" y="480059"/>
            <a:ext cx="2211053" cy="5897879"/>
          </a:xfrm>
          <a:prstGeom prst="rect">
            <a:avLst/>
          </a:prstGeom>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5" name="Picture 4" descr="A screenshot of a computer&#10;&#10;AI-generated content may be incorrect.">
            <a:extLst>
              <a:ext uri="{FF2B5EF4-FFF2-40B4-BE49-F238E27FC236}">
                <a16:creationId xmlns:a16="http://schemas.microsoft.com/office/drawing/2014/main" id="{79D17F44-B5A6-A349-D2DB-07BA73708A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8488" y="480058"/>
            <a:ext cx="2211053" cy="5897880"/>
          </a:xfrm>
          <a:prstGeom prst="rect">
            <a:avLst/>
          </a:prstGeom>
        </p:spPr>
      </p:pic>
    </p:spTree>
    <p:extLst>
      <p:ext uri="{BB962C8B-B14F-4D97-AF65-F5344CB8AC3E}">
        <p14:creationId xmlns:p14="http://schemas.microsoft.com/office/powerpoint/2010/main" val="39622143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335C7D-2B84-7A51-0ABB-DD3C6F04D534}"/>
              </a:ext>
            </a:extLst>
          </p:cNvPr>
          <p:cNvSpPr txBox="1"/>
          <p:nvPr/>
        </p:nvSpPr>
        <p:spPr>
          <a:xfrm>
            <a:off x="542612" y="574548"/>
            <a:ext cx="10570027" cy="4173130"/>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3200" b="1" u="sng" kern="100" dirty="0">
                <a:effectLst/>
                <a:latin typeface="Aptos" panose="020B0004020202020204" pitchFamily="34" charset="0"/>
                <a:ea typeface="Aptos" panose="020B0004020202020204" pitchFamily="34" charset="0"/>
                <a:cs typeface="Arial" panose="020B0604020202020204" pitchFamily="34" charset="0"/>
              </a:rPr>
              <a:t>Train-Test Split Data</a:t>
            </a:r>
          </a:p>
          <a:p>
            <a:pPr marR="0" lvl="0" rtl="0">
              <a:lnSpc>
                <a:spcPct val="115000"/>
              </a:lnSpc>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Arial" panose="020B0604020202020204" pitchFamily="34" charset="0"/>
              </a:rPr>
              <a:t>We tried three different </a:t>
            </a:r>
            <a:r>
              <a:rPr lang="en-US" sz="2400" b="1" kern="100" dirty="0">
                <a:effectLst/>
                <a:latin typeface="Aptos" panose="020B0004020202020204" pitchFamily="34" charset="0"/>
                <a:ea typeface="Aptos" panose="020B0004020202020204" pitchFamily="34" charset="0"/>
                <a:cs typeface="Arial" panose="020B0604020202020204" pitchFamily="34" charset="0"/>
              </a:rPr>
              <a:t>train–test splits</a:t>
            </a:r>
            <a:r>
              <a:rPr lang="en-US" sz="2400" kern="100" dirty="0">
                <a:effectLst/>
                <a:latin typeface="Aptos" panose="020B0004020202020204" pitchFamily="34" charset="0"/>
                <a:ea typeface="Aptos" panose="020B0004020202020204" pitchFamily="34" charset="0"/>
                <a:cs typeface="Arial" panose="020B0604020202020204" pitchFamily="34" charset="0"/>
              </a:rPr>
              <a:t> (70–30, 75–25, and 80–20) and compared their class ratios. We noticed that because the target variable is </a:t>
            </a:r>
            <a:r>
              <a:rPr lang="en-US" sz="2400" b="1" kern="100" dirty="0">
                <a:effectLst/>
                <a:latin typeface="Aptos" panose="020B0004020202020204" pitchFamily="34" charset="0"/>
                <a:ea typeface="Aptos" panose="020B0004020202020204" pitchFamily="34" charset="0"/>
                <a:cs typeface="Arial" panose="020B0604020202020204" pitchFamily="34" charset="0"/>
              </a:rPr>
              <a:t>imbalanced</a:t>
            </a:r>
            <a:r>
              <a:rPr lang="en-US" sz="2400" kern="100" dirty="0">
                <a:effectLst/>
                <a:latin typeface="Aptos" panose="020B0004020202020204" pitchFamily="34" charset="0"/>
                <a:ea typeface="Aptos" panose="020B0004020202020204" pitchFamily="34" charset="0"/>
                <a:cs typeface="Arial" panose="020B0604020202020204" pitchFamily="34" charset="0"/>
              </a:rPr>
              <a:t>, the model may predict only the majority class (‘No’) and get high accuracy, while completely failing on the minority class (‘Yes’) which is important for our study more than the “No” class. Also, metrics like </a:t>
            </a:r>
            <a:r>
              <a:rPr lang="en-US" sz="2400" b="1" kern="100" dirty="0">
                <a:effectLst/>
                <a:latin typeface="Aptos" panose="020B0004020202020204" pitchFamily="34" charset="0"/>
                <a:ea typeface="Aptos" panose="020B0004020202020204" pitchFamily="34" charset="0"/>
                <a:cs typeface="Arial" panose="020B0604020202020204" pitchFamily="34" charset="0"/>
              </a:rPr>
              <a:t>F1</a:t>
            </a:r>
            <a:r>
              <a:rPr lang="en-US" sz="2400" kern="100" dirty="0">
                <a:effectLst/>
                <a:latin typeface="Aptos" panose="020B0004020202020204" pitchFamily="34" charset="0"/>
                <a:ea typeface="Aptos" panose="020B0004020202020204" pitchFamily="34" charset="0"/>
                <a:cs typeface="Arial" panose="020B0604020202020204" pitchFamily="34" charset="0"/>
              </a:rPr>
              <a:t>, </a:t>
            </a:r>
            <a:r>
              <a:rPr lang="en-US" sz="2400" b="1" kern="100" dirty="0">
                <a:effectLst/>
                <a:latin typeface="Aptos" panose="020B0004020202020204" pitchFamily="34" charset="0"/>
                <a:ea typeface="Aptos" panose="020B0004020202020204" pitchFamily="34" charset="0"/>
                <a:cs typeface="Arial" panose="020B0604020202020204" pitchFamily="34" charset="0"/>
              </a:rPr>
              <a:t>ROC-AUC</a:t>
            </a:r>
            <a:r>
              <a:rPr lang="en-US" sz="2400" kern="100" dirty="0">
                <a:effectLst/>
                <a:latin typeface="Aptos" panose="020B0004020202020204" pitchFamily="34" charset="0"/>
                <a:ea typeface="Aptos" panose="020B0004020202020204" pitchFamily="34" charset="0"/>
                <a:cs typeface="Arial" panose="020B0604020202020204" pitchFamily="34" charset="0"/>
              </a:rPr>
              <a:t>, and </a:t>
            </a:r>
            <a:r>
              <a:rPr lang="en-US" sz="2400" b="1" kern="100" dirty="0">
                <a:effectLst/>
                <a:latin typeface="Aptos" panose="020B0004020202020204" pitchFamily="34" charset="0"/>
                <a:ea typeface="Aptos" panose="020B0004020202020204" pitchFamily="34" charset="0"/>
                <a:cs typeface="Arial" panose="020B0604020202020204" pitchFamily="34" charset="0"/>
              </a:rPr>
              <a:t>recall</a:t>
            </a:r>
            <a:r>
              <a:rPr lang="en-US" sz="2400" kern="100" dirty="0">
                <a:effectLst/>
                <a:latin typeface="Aptos" panose="020B0004020202020204" pitchFamily="34" charset="0"/>
                <a:ea typeface="Aptos" panose="020B0004020202020204" pitchFamily="34" charset="0"/>
                <a:cs typeface="Arial" panose="020B0604020202020204" pitchFamily="34" charset="0"/>
              </a:rPr>
              <a:t> for the ‘Yes’ class will be very low</a:t>
            </a:r>
            <a:r>
              <a:rPr lang="en-US" sz="2400" kern="100" dirty="0">
                <a:latin typeface="Aptos" panose="020B0004020202020204" pitchFamily="34" charset="0"/>
                <a:ea typeface="Aptos" panose="020B0004020202020204" pitchFamily="34" charset="0"/>
                <a:cs typeface="Arial" panose="020B0604020202020204" pitchFamily="34" charset="0"/>
              </a:rPr>
              <a:t>, </a:t>
            </a:r>
            <a:r>
              <a:rPr lang="en-US" sz="2400" kern="100" dirty="0">
                <a:effectLst/>
                <a:latin typeface="Aptos" panose="020B0004020202020204" pitchFamily="34" charset="0"/>
                <a:ea typeface="Aptos" panose="020B0004020202020204" pitchFamily="34" charset="0"/>
                <a:cs typeface="Arial" panose="020B0604020202020204" pitchFamily="34" charset="0"/>
              </a:rPr>
              <a:t>we decided to handle the imbalance using oversampling with</a:t>
            </a:r>
            <a:r>
              <a:rPr lang="en-US" sz="2400" b="1" kern="100" dirty="0">
                <a:effectLst/>
                <a:latin typeface="Aptos" panose="020B0004020202020204" pitchFamily="34" charset="0"/>
                <a:ea typeface="Aptos" panose="020B0004020202020204" pitchFamily="34" charset="0"/>
                <a:cs typeface="Arial" panose="020B0604020202020204" pitchFamily="34" charset="0"/>
              </a:rPr>
              <a:t> </a:t>
            </a:r>
            <a:r>
              <a:rPr lang="en-US" sz="2400" b="1" kern="100" dirty="0" err="1">
                <a:effectLst/>
                <a:latin typeface="Aptos" panose="020B0004020202020204" pitchFamily="34" charset="0"/>
                <a:ea typeface="Aptos" panose="020B0004020202020204" pitchFamily="34" charset="0"/>
                <a:cs typeface="Arial" panose="020B0604020202020204" pitchFamily="34" charset="0"/>
              </a:rPr>
              <a:t>SMOTETomek</a:t>
            </a:r>
            <a:r>
              <a:rPr lang="en-US" sz="2400" kern="100" dirty="0">
                <a:effectLst/>
                <a:latin typeface="Aptos" panose="020B0004020202020204" pitchFamily="34" charset="0"/>
                <a:ea typeface="Aptos" panose="020B0004020202020204" pitchFamily="34" charset="0"/>
                <a:cs typeface="Arial" panose="020B0604020202020204" pitchFamily="34" charset="0"/>
              </a:rPr>
              <a:t> before training our models.</a:t>
            </a:r>
          </a:p>
        </p:txBody>
      </p:sp>
    </p:spTree>
    <p:extLst>
      <p:ext uri="{BB962C8B-B14F-4D97-AF65-F5344CB8AC3E}">
        <p14:creationId xmlns:p14="http://schemas.microsoft.com/office/powerpoint/2010/main" val="7166734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E8067A-BA74-2D79-DB18-1BE8E19A77C3}"/>
              </a:ext>
            </a:extLst>
          </p:cNvPr>
          <p:cNvSpPr txBox="1"/>
          <p:nvPr/>
        </p:nvSpPr>
        <p:spPr>
          <a:xfrm>
            <a:off x="468756" y="229309"/>
            <a:ext cx="10820399" cy="6399381"/>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3200" b="1" u="sng" kern="100" dirty="0">
                <a:effectLst/>
                <a:latin typeface="Aptos" panose="020B0004020202020204" pitchFamily="34" charset="0"/>
                <a:ea typeface="Aptos" panose="020B0004020202020204" pitchFamily="34" charset="0"/>
                <a:cs typeface="Arial" panose="020B0604020202020204" pitchFamily="34" charset="0"/>
              </a:rPr>
              <a:t>Handling Imbalanced Classes (Oversampling)</a:t>
            </a:r>
          </a:p>
          <a:p>
            <a:pPr marR="0" lvl="0" rtl="0">
              <a:lnSpc>
                <a:spcPct val="115000"/>
              </a:lnSpc>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To fix the imbalance between “Yes” and “No,” we used </a:t>
            </a:r>
            <a:r>
              <a:rPr lang="en-US" sz="2400" b="1" kern="100" dirty="0" err="1">
                <a:effectLst/>
                <a:latin typeface="Aptos" panose="020B0004020202020204" pitchFamily="34" charset="0"/>
                <a:ea typeface="Aptos" panose="020B0004020202020204" pitchFamily="34" charset="0"/>
                <a:cs typeface="Arial" panose="020B0604020202020204" pitchFamily="34" charset="0"/>
              </a:rPr>
              <a:t>SMOTETomek</a:t>
            </a:r>
            <a:r>
              <a:rPr lang="en-US" sz="24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nSpc>
                <a:spcPct val="115000"/>
              </a:lnSpc>
              <a:buSzPts val="1000"/>
              <a:buFont typeface="Symbol" panose="05050102010706020507" pitchFamily="18" charset="2"/>
              <a:buChar char=""/>
              <a:tabLst>
                <a:tab pos="457200" algn="l"/>
              </a:tabLst>
            </a:pPr>
            <a:r>
              <a:rPr lang="en-US" sz="2400" b="1" kern="100" dirty="0">
                <a:effectLst/>
                <a:latin typeface="Aptos" panose="020B0004020202020204" pitchFamily="34" charset="0"/>
                <a:ea typeface="Aptos" panose="020B0004020202020204" pitchFamily="34" charset="0"/>
                <a:cs typeface="Arial" panose="020B0604020202020204" pitchFamily="34" charset="0"/>
              </a:rPr>
              <a:t>SMOTE</a:t>
            </a:r>
            <a:r>
              <a:rPr lang="en-US" sz="2400" kern="100" dirty="0">
                <a:effectLst/>
                <a:latin typeface="Aptos" panose="020B0004020202020204" pitchFamily="34" charset="0"/>
                <a:ea typeface="Aptos" panose="020B0004020202020204" pitchFamily="34" charset="0"/>
                <a:cs typeface="Arial" panose="020B0604020202020204" pitchFamily="34" charset="0"/>
              </a:rPr>
              <a:t> adds samples to increase the minority class.</a:t>
            </a:r>
          </a:p>
          <a:p>
            <a:pPr marL="342900" marR="0" lvl="0" indent="-342900">
              <a:lnSpc>
                <a:spcPct val="115000"/>
              </a:lnSpc>
              <a:buSzPts val="1000"/>
              <a:buFont typeface="Symbol" panose="05050102010706020507" pitchFamily="18" charset="2"/>
              <a:buChar char=""/>
              <a:tabLst>
                <a:tab pos="457200" algn="l"/>
              </a:tabLst>
            </a:pPr>
            <a:r>
              <a:rPr lang="en-US" sz="2400" kern="100" dirty="0">
                <a:effectLst/>
                <a:latin typeface="Aptos" panose="020B0004020202020204" pitchFamily="34" charset="0"/>
                <a:ea typeface="Aptos" panose="020B0004020202020204" pitchFamily="34" charset="0"/>
                <a:cs typeface="Arial" panose="020B0604020202020204" pitchFamily="34" charset="0"/>
              </a:rPr>
              <a:t>Tomek Links cleans up confusing majority samples.</a:t>
            </a:r>
          </a:p>
          <a:p>
            <a:pPr marR="0" lvl="0">
              <a:lnSpc>
                <a:spcPct val="115000"/>
              </a:lnSpc>
              <a:buSzPts val="1000"/>
              <a:tabLst>
                <a:tab pos="457200" algn="l"/>
              </a:tabLst>
            </a:pPr>
            <a:r>
              <a:rPr lang="en-US" sz="2400" b="1" u="none" strike="noStrike" kern="100" dirty="0">
                <a:effectLst/>
                <a:latin typeface="Aptos" panose="020B0004020202020204" pitchFamily="34" charset="0"/>
                <a:ea typeface="Aptos" panose="020B0004020202020204" pitchFamily="34" charset="0"/>
                <a:cs typeface="Arial" panose="020B0604020202020204" pitchFamily="34" charset="0"/>
              </a:rPr>
              <a:t> </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We used </a:t>
            </a:r>
            <a:r>
              <a:rPr lang="en-US" sz="2400" b="1" kern="100" dirty="0">
                <a:effectLst/>
                <a:latin typeface="Aptos" panose="020B0004020202020204" pitchFamily="34" charset="0"/>
                <a:ea typeface="Aptos" panose="020B0004020202020204" pitchFamily="34" charset="0"/>
                <a:cs typeface="Arial" panose="020B0604020202020204" pitchFamily="34" charset="0"/>
              </a:rPr>
              <a:t>SMOTE</a:t>
            </a:r>
            <a:r>
              <a:rPr lang="en-US" sz="2400" kern="100" dirty="0">
                <a:effectLst/>
                <a:latin typeface="Aptos" panose="020B0004020202020204" pitchFamily="34" charset="0"/>
                <a:ea typeface="Aptos" panose="020B0004020202020204" pitchFamily="34" charset="0"/>
                <a:cs typeface="Arial" panose="020B0604020202020204" pitchFamily="34" charset="0"/>
              </a:rPr>
              <a:t> (to add more samples for the minority class) and Tomek Links (to remove some extra samples from the majority class). This gave us a balanced dataset.</a:t>
            </a:r>
          </a:p>
          <a:p>
            <a:pPr marL="457200">
              <a:lnSpc>
                <a:spcPct val="115000"/>
              </a:lnSpc>
              <a:spcAft>
                <a:spcPts val="800"/>
              </a:spcAft>
            </a:pPr>
            <a:br>
              <a:rPr lang="en-US" sz="2400" kern="100" dirty="0">
                <a:effectLst/>
                <a:latin typeface="Aptos" panose="020B0004020202020204" pitchFamily="34" charset="0"/>
                <a:ea typeface="Aptos" panose="020B0004020202020204" pitchFamily="34" charset="0"/>
                <a:cs typeface="Arial" panose="020B0604020202020204" pitchFamily="34" charset="0"/>
              </a:rPr>
            </a:br>
            <a:r>
              <a:rPr lang="en-US" sz="2400" dirty="0"/>
              <a:t>After balancing, we scaled all numerical features so they stay on the same range.</a:t>
            </a:r>
            <a:br>
              <a:rPr lang="en-US" sz="2400" dirty="0"/>
            </a:br>
            <a:r>
              <a:rPr lang="en-US" sz="2400" dirty="0"/>
              <a:t>This helps many classification algorithms learn better and prevents features with large values from affecting the model.</a:t>
            </a:r>
          </a:p>
          <a:p>
            <a:pPr marL="457200" marR="0">
              <a:lnSpc>
                <a:spcPct val="115000"/>
              </a:lnSpc>
              <a:spcAft>
                <a:spcPts val="800"/>
              </a:spcAft>
              <a:buNone/>
            </a:pP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61061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F2D7E2-0776-2A6C-1301-199FC732962E}"/>
              </a:ext>
            </a:extLst>
          </p:cNvPr>
          <p:cNvSpPr txBox="1"/>
          <p:nvPr/>
        </p:nvSpPr>
        <p:spPr>
          <a:xfrm>
            <a:off x="527957" y="566510"/>
            <a:ext cx="11136086" cy="4173130"/>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3200" b="1" u="sng" kern="100" dirty="0">
                <a:effectLst/>
                <a:latin typeface="Aptos" panose="020B0004020202020204" pitchFamily="34" charset="0"/>
                <a:ea typeface="Aptos" panose="020B0004020202020204" pitchFamily="34" charset="0"/>
                <a:cs typeface="Arial" panose="020B0604020202020204" pitchFamily="34" charset="0"/>
              </a:rPr>
              <a:t>Handling Imbalanced Classes (</a:t>
            </a:r>
            <a:r>
              <a:rPr lang="en-US" sz="3200" b="1" u="sng" kern="100" dirty="0" err="1">
                <a:effectLst/>
                <a:latin typeface="Aptos" panose="020B0004020202020204" pitchFamily="34" charset="0"/>
                <a:ea typeface="Aptos" panose="020B0004020202020204" pitchFamily="34" charset="0"/>
                <a:cs typeface="Arial" panose="020B0604020202020204" pitchFamily="34" charset="0"/>
              </a:rPr>
              <a:t>Undersampling</a:t>
            </a:r>
            <a:r>
              <a:rPr lang="en-US" sz="3200" b="1" u="sng" kern="100" dirty="0">
                <a:effectLst/>
                <a:latin typeface="Aptos" panose="020B0004020202020204" pitchFamily="34" charset="0"/>
                <a:ea typeface="Aptos" panose="020B0004020202020204" pitchFamily="34" charset="0"/>
                <a:cs typeface="Arial" panose="020B0604020202020204" pitchFamily="34" charset="0"/>
              </a:rPr>
              <a:t> using </a:t>
            </a:r>
            <a:r>
              <a:rPr lang="en-US" sz="3200" b="1" u="sng" kern="100" dirty="0" err="1">
                <a:effectLst/>
                <a:latin typeface="Aptos" panose="020B0004020202020204" pitchFamily="34" charset="0"/>
                <a:ea typeface="Aptos" panose="020B0004020202020204" pitchFamily="34" charset="0"/>
                <a:cs typeface="Arial" panose="020B0604020202020204" pitchFamily="34" charset="0"/>
              </a:rPr>
              <a:t>NearMiss</a:t>
            </a:r>
            <a:r>
              <a:rPr lang="en-US" sz="3200" b="1" u="sng" kern="100" dirty="0">
                <a:effectLst/>
                <a:latin typeface="Aptos" panose="020B0004020202020204" pitchFamily="34" charset="0"/>
                <a:ea typeface="Aptos" panose="020B0004020202020204" pitchFamily="34" charset="0"/>
                <a:cs typeface="Arial" panose="020B0604020202020204" pitchFamily="34" charset="0"/>
              </a:rPr>
              <a:t>)</a:t>
            </a:r>
          </a:p>
          <a:p>
            <a:pPr marR="0" lvl="0" rtl="0">
              <a:lnSpc>
                <a:spcPct val="115000"/>
              </a:lnSpc>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b="1" kern="100" dirty="0" err="1">
                <a:effectLst/>
                <a:latin typeface="Aptos" panose="020B0004020202020204" pitchFamily="34" charset="0"/>
                <a:ea typeface="Aptos" panose="020B0004020202020204" pitchFamily="34" charset="0"/>
                <a:cs typeface="Arial" panose="020B0604020202020204" pitchFamily="34" charset="0"/>
              </a:rPr>
              <a:t>NearMiss</a:t>
            </a:r>
            <a:r>
              <a:rPr lang="en-US" sz="2400" b="1" kern="100" dirty="0">
                <a:effectLst/>
                <a:latin typeface="Aptos" panose="020B0004020202020204" pitchFamily="34" charset="0"/>
                <a:ea typeface="Aptos" panose="020B0004020202020204" pitchFamily="34" charset="0"/>
                <a:cs typeface="Arial" panose="020B0604020202020204" pitchFamily="34" charset="0"/>
              </a:rPr>
              <a:t> </a:t>
            </a:r>
            <a:r>
              <a:rPr lang="en-US" sz="2400" b="1" kern="100" dirty="0" err="1">
                <a:effectLst/>
                <a:latin typeface="Aptos" panose="020B0004020202020204" pitchFamily="34" charset="0"/>
                <a:ea typeface="Aptos" panose="020B0004020202020204" pitchFamily="34" charset="0"/>
                <a:cs typeface="Arial" panose="020B0604020202020204" pitchFamily="34" charset="0"/>
              </a:rPr>
              <a:t>undersampling</a:t>
            </a:r>
            <a:r>
              <a:rPr lang="en-US" sz="2400" b="1" kern="100" dirty="0">
                <a:effectLst/>
                <a:latin typeface="Aptos" panose="020B0004020202020204" pitchFamily="34" charset="0"/>
                <a:ea typeface="Aptos" panose="020B0004020202020204" pitchFamily="34" charset="0"/>
                <a:cs typeface="Arial" panose="020B0604020202020204" pitchFamily="34" charset="0"/>
              </a:rPr>
              <a:t> </a:t>
            </a:r>
            <a:r>
              <a:rPr lang="en-US" sz="2400" kern="100" dirty="0">
                <a:effectLst/>
                <a:latin typeface="Aptos" panose="020B0004020202020204" pitchFamily="34" charset="0"/>
                <a:ea typeface="Aptos" panose="020B0004020202020204" pitchFamily="34" charset="0"/>
                <a:cs typeface="Arial" panose="020B0604020202020204" pitchFamily="34" charset="0"/>
              </a:rPr>
              <a:t>was applied as a </a:t>
            </a:r>
            <a:r>
              <a:rPr lang="en-US" sz="2400" b="1" kern="100" dirty="0">
                <a:effectLst/>
                <a:latin typeface="Aptos" panose="020B0004020202020204" pitchFamily="34" charset="0"/>
                <a:ea typeface="Aptos" panose="020B0004020202020204" pitchFamily="34" charset="0"/>
                <a:cs typeface="Arial" panose="020B0604020202020204" pitchFamily="34" charset="0"/>
              </a:rPr>
              <a:t>second strategy </a:t>
            </a:r>
            <a:r>
              <a:rPr lang="en-US" sz="2400" kern="100" dirty="0">
                <a:effectLst/>
                <a:latin typeface="Aptos" panose="020B0004020202020204" pitchFamily="34" charset="0"/>
                <a:ea typeface="Aptos" panose="020B0004020202020204" pitchFamily="34" charset="0"/>
                <a:cs typeface="Arial" panose="020B0604020202020204" pitchFamily="34" charset="0"/>
              </a:rPr>
              <a:t>to </a:t>
            </a:r>
            <a:r>
              <a:rPr lang="en-US" sz="2400" kern="100" dirty="0">
                <a:latin typeface="Aptos" panose="020B0004020202020204" pitchFamily="34" charset="0"/>
                <a:ea typeface="Aptos" panose="020B0004020202020204" pitchFamily="34" charset="0"/>
                <a:cs typeface="Arial" panose="020B0604020202020204" pitchFamily="34" charset="0"/>
              </a:rPr>
              <a:t>solve</a:t>
            </a:r>
            <a:r>
              <a:rPr lang="en-US" sz="2400" kern="100" dirty="0">
                <a:effectLst/>
                <a:latin typeface="Aptos" panose="020B0004020202020204" pitchFamily="34" charset="0"/>
                <a:ea typeface="Aptos" panose="020B0004020202020204" pitchFamily="34" charset="0"/>
                <a:cs typeface="Arial" panose="020B0604020202020204" pitchFamily="34" charset="0"/>
              </a:rPr>
              <a:t> how  the majority class is affecting </a:t>
            </a:r>
            <a:r>
              <a:rPr lang="en-US" sz="2400" kern="100" dirty="0">
                <a:latin typeface="Aptos" panose="020B0004020202020204" pitchFamily="34" charset="0"/>
                <a:ea typeface="Aptos" panose="020B0004020202020204" pitchFamily="34" charset="0"/>
                <a:cs typeface="Arial" panose="020B0604020202020204" pitchFamily="34" charset="0"/>
              </a:rPr>
              <a:t>the </a:t>
            </a:r>
            <a:r>
              <a:rPr lang="en-US" sz="2400" kern="100" dirty="0">
                <a:effectLst/>
                <a:latin typeface="Aptos" panose="020B0004020202020204" pitchFamily="34" charset="0"/>
                <a:ea typeface="Aptos" panose="020B0004020202020204" pitchFamily="34" charset="0"/>
                <a:cs typeface="Arial" panose="020B0604020202020204" pitchFamily="34" charset="0"/>
              </a:rPr>
              <a:t>model’s performance. The method removes majority-class samples by selecting those closest to minority-class observations, creating a more </a:t>
            </a:r>
            <a:r>
              <a:rPr lang="en-US" sz="2400" kern="100" dirty="0">
                <a:latin typeface="Aptos" panose="020B0004020202020204" pitchFamily="34" charset="0"/>
                <a:ea typeface="Aptos" panose="020B0004020202020204" pitchFamily="34" charset="0"/>
                <a:cs typeface="Arial" panose="020B0604020202020204" pitchFamily="34" charset="0"/>
              </a:rPr>
              <a:t>balanced and</a:t>
            </a:r>
            <a:r>
              <a:rPr lang="en-US" sz="2400" kern="100" dirty="0">
                <a:effectLst/>
                <a:latin typeface="Aptos" panose="020B0004020202020204" pitchFamily="34" charset="0"/>
                <a:ea typeface="Aptos" panose="020B0004020202020204" pitchFamily="34" charset="0"/>
                <a:cs typeface="Arial" panose="020B0604020202020204" pitchFamily="34" charset="0"/>
              </a:rPr>
              <a:t> informative training set.</a:t>
            </a: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 </a:t>
            </a:r>
          </a:p>
          <a:p>
            <a:pPr marL="457200" marR="0">
              <a:lnSpc>
                <a:spcPct val="115000"/>
              </a:lnSpc>
              <a:spcAft>
                <a:spcPts val="800"/>
              </a:spcAft>
              <a:buNone/>
            </a:pPr>
            <a:r>
              <a:rPr lang="en-US" sz="2400" kern="100" dirty="0">
                <a:effectLst/>
                <a:latin typeface="Aptos" panose="020B0004020202020204" pitchFamily="34" charset="0"/>
                <a:ea typeface="Aptos" panose="020B0004020202020204" pitchFamily="34" charset="0"/>
                <a:cs typeface="Arial" panose="020B0604020202020204" pitchFamily="34" charset="0"/>
              </a:rPr>
              <a:t>We apply </a:t>
            </a:r>
            <a:r>
              <a:rPr lang="en-US" sz="2400" kern="100" dirty="0" err="1">
                <a:effectLst/>
                <a:latin typeface="Aptos" panose="020B0004020202020204" pitchFamily="34" charset="0"/>
                <a:ea typeface="Aptos" panose="020B0004020202020204" pitchFamily="34" charset="0"/>
                <a:cs typeface="Arial" panose="020B0604020202020204" pitchFamily="34" charset="0"/>
              </a:rPr>
              <a:t>NearMiss</a:t>
            </a:r>
            <a:r>
              <a:rPr lang="en-US" sz="2400" kern="100" dirty="0">
                <a:effectLst/>
                <a:latin typeface="Aptos" panose="020B0004020202020204" pitchFamily="34" charset="0"/>
                <a:ea typeface="Aptos" panose="020B0004020202020204" pitchFamily="34" charset="0"/>
                <a:cs typeface="Arial" panose="020B0604020202020204" pitchFamily="34" charset="0"/>
              </a:rPr>
              <a:t> fitting then we split data into train and test, then and same as before we scaled the data.</a:t>
            </a:r>
          </a:p>
        </p:txBody>
      </p:sp>
    </p:spTree>
    <p:extLst>
      <p:ext uri="{BB962C8B-B14F-4D97-AF65-F5344CB8AC3E}">
        <p14:creationId xmlns:p14="http://schemas.microsoft.com/office/powerpoint/2010/main" val="10284928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3E192F-13AC-72B0-2695-3D11277F6120}"/>
              </a:ext>
            </a:extLst>
          </p:cNvPr>
          <p:cNvSpPr txBox="1"/>
          <p:nvPr/>
        </p:nvSpPr>
        <p:spPr>
          <a:xfrm>
            <a:off x="276999" y="280606"/>
            <a:ext cx="11299371" cy="6296788"/>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3200" b="1" u="sng" kern="100" dirty="0">
                <a:effectLst/>
                <a:latin typeface="Aptos" panose="020B0004020202020204" pitchFamily="34" charset="0"/>
                <a:ea typeface="Aptos" panose="020B0004020202020204" pitchFamily="34" charset="0"/>
                <a:cs typeface="Arial" panose="020B0604020202020204" pitchFamily="34" charset="0"/>
              </a:rPr>
              <a:t>Model Building</a:t>
            </a:r>
          </a:p>
          <a:p>
            <a:pPr marR="0" lvl="0" rtl="0">
              <a:lnSpc>
                <a:spcPct val="115000"/>
              </a:lnSpc>
            </a:pPr>
            <a:endParaRPr lang="en-US" sz="32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For model building, we </a:t>
            </a:r>
            <a:r>
              <a:rPr lang="en-US" sz="2400" kern="100">
                <a:effectLst/>
                <a:latin typeface="Aptos" panose="020B0004020202020204" pitchFamily="34" charset="0"/>
                <a:ea typeface="Aptos" panose="020B0004020202020204" pitchFamily="34" charset="0"/>
                <a:cs typeface="Arial" panose="020B0604020202020204" pitchFamily="34" charset="0"/>
              </a:rPr>
              <a:t>used five </a:t>
            </a:r>
            <a:r>
              <a:rPr lang="en-US" sz="2400" kern="100" dirty="0">
                <a:effectLst/>
                <a:latin typeface="Aptos" panose="020B0004020202020204" pitchFamily="34" charset="0"/>
                <a:ea typeface="Aptos" panose="020B0004020202020204" pitchFamily="34" charset="0"/>
                <a:cs typeface="Arial" panose="020B0604020202020204" pitchFamily="34" charset="0"/>
              </a:rPr>
              <a:t>classification algorithms: </a:t>
            </a:r>
            <a:r>
              <a:rPr lang="en-US" sz="2400" b="1" kern="100" dirty="0">
                <a:effectLst/>
                <a:latin typeface="Aptos" panose="020B0004020202020204" pitchFamily="34" charset="0"/>
                <a:ea typeface="Aptos" panose="020B0004020202020204" pitchFamily="34" charset="0"/>
                <a:cs typeface="Arial" panose="020B0604020202020204" pitchFamily="34" charset="0"/>
              </a:rPr>
              <a:t>Logistic Regression</a:t>
            </a:r>
            <a:r>
              <a:rPr lang="en-US" sz="2400" kern="100" dirty="0">
                <a:effectLst/>
                <a:latin typeface="Aptos" panose="020B0004020202020204" pitchFamily="34" charset="0"/>
                <a:ea typeface="Aptos" panose="020B0004020202020204" pitchFamily="34" charset="0"/>
                <a:cs typeface="Arial" panose="020B0604020202020204" pitchFamily="34" charset="0"/>
              </a:rPr>
              <a:t>,</a:t>
            </a:r>
            <a:r>
              <a:rPr lang="en-US" sz="2400" b="1" kern="100" dirty="0">
                <a:effectLst/>
                <a:latin typeface="Aptos" panose="020B0004020202020204" pitchFamily="34" charset="0"/>
                <a:ea typeface="Aptos" panose="020B0004020202020204" pitchFamily="34" charset="0"/>
                <a:cs typeface="Arial" panose="020B0604020202020204" pitchFamily="34" charset="0"/>
              </a:rPr>
              <a:t> SVM</a:t>
            </a:r>
            <a:r>
              <a:rPr lang="en-US" sz="2400" kern="100" dirty="0">
                <a:effectLst/>
                <a:latin typeface="Aptos" panose="020B0004020202020204" pitchFamily="34" charset="0"/>
                <a:ea typeface="Aptos" panose="020B0004020202020204" pitchFamily="34" charset="0"/>
                <a:cs typeface="Arial" panose="020B0604020202020204" pitchFamily="34" charset="0"/>
              </a:rPr>
              <a:t>, </a:t>
            </a:r>
            <a:r>
              <a:rPr lang="en-US" sz="2400" b="1" kern="100" dirty="0">
                <a:effectLst/>
                <a:latin typeface="Aptos" panose="020B0004020202020204" pitchFamily="34" charset="0"/>
                <a:ea typeface="Aptos" panose="020B0004020202020204" pitchFamily="34" charset="0"/>
                <a:cs typeface="Arial" panose="020B0604020202020204" pitchFamily="34" charset="0"/>
              </a:rPr>
              <a:t>Random Forest</a:t>
            </a:r>
            <a:r>
              <a:rPr lang="en-US" sz="2400" kern="100" dirty="0">
                <a:effectLst/>
                <a:latin typeface="Aptos" panose="020B0004020202020204" pitchFamily="34" charset="0"/>
                <a:ea typeface="Aptos" panose="020B0004020202020204" pitchFamily="34" charset="0"/>
                <a:cs typeface="Arial" panose="020B0604020202020204" pitchFamily="34" charset="0"/>
              </a:rPr>
              <a:t>, </a:t>
            </a:r>
            <a:r>
              <a:rPr lang="en-US" sz="2400" b="1" kern="100" dirty="0">
                <a:effectLst/>
                <a:latin typeface="Aptos" panose="020B0004020202020204" pitchFamily="34" charset="0"/>
                <a:ea typeface="Aptos" panose="020B0004020202020204" pitchFamily="34" charset="0"/>
                <a:cs typeface="Arial" panose="020B0604020202020204" pitchFamily="34" charset="0"/>
              </a:rPr>
              <a:t>Gradient Boosting</a:t>
            </a:r>
            <a:r>
              <a:rPr lang="en-US" sz="2400" kern="100" dirty="0">
                <a:effectLst/>
                <a:latin typeface="Aptos" panose="020B0004020202020204" pitchFamily="34" charset="0"/>
                <a:ea typeface="Aptos" panose="020B0004020202020204" pitchFamily="34" charset="0"/>
                <a:cs typeface="Arial" panose="020B0604020202020204" pitchFamily="34" charset="0"/>
              </a:rPr>
              <a:t>, and </a:t>
            </a:r>
            <a:r>
              <a:rPr lang="en-US" sz="2400" b="1" kern="100" dirty="0" err="1">
                <a:effectLst/>
                <a:latin typeface="Aptos" panose="020B0004020202020204" pitchFamily="34" charset="0"/>
                <a:ea typeface="Aptos" panose="020B0004020202020204" pitchFamily="34" charset="0"/>
                <a:cs typeface="Arial" panose="020B0604020202020204" pitchFamily="34" charset="0"/>
              </a:rPr>
              <a:t>XGBoost</a:t>
            </a:r>
            <a:r>
              <a:rPr lang="en-US" sz="2400" kern="100" dirty="0">
                <a:effectLst/>
                <a:latin typeface="Aptos" panose="020B0004020202020204" pitchFamily="34" charset="0"/>
                <a:ea typeface="Aptos" panose="020B0004020202020204" pitchFamily="34" charset="0"/>
                <a:cs typeface="Arial" panose="020B0604020202020204" pitchFamily="34" charset="0"/>
              </a:rPr>
              <a:t>.</a:t>
            </a:r>
            <a:br>
              <a:rPr lang="en-US" sz="2400" kern="100" dirty="0">
                <a:effectLst/>
                <a:latin typeface="Aptos" panose="020B0004020202020204" pitchFamily="34" charset="0"/>
                <a:ea typeface="Aptos" panose="020B0004020202020204" pitchFamily="34" charset="0"/>
                <a:cs typeface="Arial" panose="020B0604020202020204" pitchFamily="34" charset="0"/>
              </a:rPr>
            </a:br>
            <a:r>
              <a:rPr lang="en-US" sz="2400" kern="100" dirty="0">
                <a:effectLst/>
                <a:latin typeface="Aptos" panose="020B0004020202020204" pitchFamily="34" charset="0"/>
                <a:ea typeface="Aptos" panose="020B0004020202020204" pitchFamily="34" charset="0"/>
                <a:cs typeface="Arial" panose="020B0604020202020204" pitchFamily="34" charset="0"/>
              </a:rPr>
              <a:t>We evaluated each model on three different dataset versions (with and without age column):</a:t>
            </a:r>
          </a:p>
          <a:p>
            <a:pPr marL="342900" marR="0" lvl="0" indent="-342900">
              <a:lnSpc>
                <a:spcPct val="115000"/>
              </a:lnSpc>
              <a:buSzPts val="1000"/>
              <a:buFont typeface="Symbol" panose="05050102010706020507" pitchFamily="18" charset="2"/>
              <a:buChar char=""/>
              <a:tabLst>
                <a:tab pos="685800" algn="l"/>
              </a:tabLst>
            </a:pPr>
            <a:r>
              <a:rPr lang="en-US" sz="2400" kern="100" dirty="0">
                <a:effectLst/>
                <a:latin typeface="Aptos" panose="020B0004020202020204" pitchFamily="34" charset="0"/>
                <a:ea typeface="Aptos" panose="020B0004020202020204" pitchFamily="34" charset="0"/>
                <a:cs typeface="Arial" panose="020B0604020202020204" pitchFamily="34" charset="0"/>
              </a:rPr>
              <a:t>Dataset A → test size 0.30</a:t>
            </a:r>
          </a:p>
          <a:p>
            <a:pPr marL="342900" marR="0" lvl="0" indent="-342900">
              <a:lnSpc>
                <a:spcPct val="115000"/>
              </a:lnSpc>
              <a:buSzPts val="1000"/>
              <a:buFont typeface="Symbol" panose="05050102010706020507" pitchFamily="18" charset="2"/>
              <a:buChar char=""/>
              <a:tabLst>
                <a:tab pos="685800" algn="l"/>
              </a:tabLst>
            </a:pPr>
            <a:r>
              <a:rPr lang="en-US" sz="2400" kern="100" dirty="0">
                <a:effectLst/>
                <a:latin typeface="Aptos" panose="020B0004020202020204" pitchFamily="34" charset="0"/>
                <a:ea typeface="Aptos" panose="020B0004020202020204" pitchFamily="34" charset="0"/>
                <a:cs typeface="Arial" panose="020B0604020202020204" pitchFamily="34" charset="0"/>
              </a:rPr>
              <a:t>Dataset B → test size 0.25</a:t>
            </a:r>
          </a:p>
          <a:p>
            <a:pPr marL="342900" marR="0" lvl="0" indent="-342900">
              <a:lnSpc>
                <a:spcPct val="115000"/>
              </a:lnSpc>
              <a:buSzPts val="1000"/>
              <a:buFont typeface="Symbol" panose="05050102010706020507" pitchFamily="18" charset="2"/>
              <a:buChar char=""/>
              <a:tabLst>
                <a:tab pos="685800" algn="l"/>
              </a:tabLst>
            </a:pPr>
            <a:r>
              <a:rPr lang="en-US" sz="2400" kern="100" dirty="0">
                <a:effectLst/>
                <a:latin typeface="Aptos" panose="020B0004020202020204" pitchFamily="34" charset="0"/>
                <a:ea typeface="Aptos" panose="020B0004020202020204" pitchFamily="34" charset="0"/>
                <a:cs typeface="Arial" panose="020B0604020202020204" pitchFamily="34" charset="0"/>
              </a:rPr>
              <a:t>Dataset C → test size 0.20</a:t>
            </a: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Each model was trained and tested on all three splits to compare performance by computing the confusion matrix for each algorithm used in each dataset.</a:t>
            </a:r>
          </a:p>
          <a:p>
            <a:pPr marL="457200" marR="0">
              <a:lnSpc>
                <a:spcPct val="115000"/>
              </a:lnSpc>
              <a:spcAft>
                <a:spcPts val="800"/>
              </a:spcAft>
              <a:buNone/>
            </a:pPr>
            <a:br>
              <a:rPr lang="en-US" sz="2400" kern="100" dirty="0">
                <a:effectLst/>
                <a:latin typeface="Aptos" panose="020B0004020202020204" pitchFamily="34" charset="0"/>
                <a:ea typeface="Aptos" panose="020B0004020202020204" pitchFamily="34" charset="0"/>
                <a:cs typeface="Arial" panose="020B0604020202020204" pitchFamily="34" charset="0"/>
              </a:rPr>
            </a:br>
            <a:r>
              <a:rPr lang="en-US" sz="2400" kern="100" dirty="0">
                <a:effectLst/>
                <a:latin typeface="Aptos" panose="020B0004020202020204" pitchFamily="34" charset="0"/>
                <a:ea typeface="Aptos" panose="020B0004020202020204" pitchFamily="34" charset="0"/>
                <a:cs typeface="Arial" panose="020B0604020202020204" pitchFamily="34" charset="0"/>
              </a:rPr>
              <a:t>We also computed </a:t>
            </a:r>
            <a:r>
              <a:rPr lang="en-US" sz="2400" b="1" kern="100" dirty="0">
                <a:effectLst/>
                <a:latin typeface="Aptos" panose="020B0004020202020204" pitchFamily="34" charset="0"/>
                <a:ea typeface="Aptos" panose="020B0004020202020204" pitchFamily="34" charset="0"/>
                <a:cs typeface="Arial" panose="020B0604020202020204" pitchFamily="34" charset="0"/>
              </a:rPr>
              <a:t>ROC curves</a:t>
            </a:r>
            <a:r>
              <a:rPr lang="en-US" sz="2400" kern="100" dirty="0">
                <a:effectLst/>
                <a:latin typeface="Aptos" panose="020B0004020202020204" pitchFamily="34" charset="0"/>
                <a:ea typeface="Aptos" panose="020B0004020202020204" pitchFamily="34" charset="0"/>
                <a:cs typeface="Arial" panose="020B0604020202020204" pitchFamily="34" charset="0"/>
              </a:rPr>
              <a:t> for every model to visually assess how well each one distinguishes between the “Yes” and “No” classes.</a:t>
            </a:r>
          </a:p>
        </p:txBody>
      </p:sp>
    </p:spTree>
    <p:extLst>
      <p:ext uri="{BB962C8B-B14F-4D97-AF65-F5344CB8AC3E}">
        <p14:creationId xmlns:p14="http://schemas.microsoft.com/office/powerpoint/2010/main" val="3561580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C34083-F8AC-870C-6CF9-24C7E0EA9833}"/>
              </a:ext>
            </a:extLst>
          </p:cNvPr>
          <p:cNvSpPr txBox="1"/>
          <p:nvPr/>
        </p:nvSpPr>
        <p:spPr>
          <a:xfrm>
            <a:off x="272144" y="612844"/>
            <a:ext cx="11832770" cy="5755422"/>
          </a:xfrm>
          <a:prstGeom prst="rect">
            <a:avLst/>
          </a:prstGeom>
          <a:noFill/>
        </p:spPr>
        <p:txBody>
          <a:bodyPr wrap="square">
            <a:spAutoFit/>
          </a:bodyPr>
          <a:lstStyle/>
          <a:p>
            <a:pPr>
              <a:buNone/>
            </a:pPr>
            <a:r>
              <a:rPr lang="en-US" sz="3200" b="1" u="sng" dirty="0"/>
              <a:t>Model Evaluation</a:t>
            </a:r>
          </a:p>
          <a:p>
            <a:pPr>
              <a:buNone/>
            </a:pPr>
            <a:endParaRPr lang="en-US" sz="2400" b="1" u="sng" dirty="0"/>
          </a:p>
          <a:p>
            <a:pPr>
              <a:buNone/>
            </a:pPr>
            <a:r>
              <a:rPr lang="en-US" sz="2400" b="1" dirty="0" err="1"/>
              <a:t>SMOTETomek</a:t>
            </a:r>
            <a:r>
              <a:rPr lang="en-US" sz="2400" b="1" dirty="0"/>
              <a:t> (Oversampling + Cleaning)</a:t>
            </a:r>
          </a:p>
          <a:p>
            <a:pPr>
              <a:buNone/>
            </a:pPr>
            <a:r>
              <a:rPr lang="en-US" sz="2400" dirty="0"/>
              <a:t>After applying </a:t>
            </a:r>
            <a:r>
              <a:rPr lang="en-US" sz="2400" dirty="0" err="1"/>
              <a:t>SMOTETomek</a:t>
            </a:r>
            <a:r>
              <a:rPr lang="en-US" sz="2400" dirty="0"/>
              <a:t>, all models showed </a:t>
            </a:r>
            <a:r>
              <a:rPr lang="en-US" sz="2400" b="1" dirty="0"/>
              <a:t>better recall and F1-score for the minority class</a:t>
            </a:r>
            <a:r>
              <a:rPr lang="en-US" sz="2400" dirty="0"/>
              <a:t>, meaning they became better at detecting clients who would subscribe. Accuracy fell slightly (normal in imbalanced data), but the overall performance became </a:t>
            </a:r>
            <a:r>
              <a:rPr lang="en-US" sz="2400" b="1" dirty="0"/>
              <a:t>more balanced and reliable</a:t>
            </a:r>
            <a:r>
              <a:rPr lang="en-US" sz="2400" dirty="0"/>
              <a:t>. </a:t>
            </a:r>
            <a:r>
              <a:rPr lang="en-US" sz="2400" dirty="0" err="1"/>
              <a:t>SMOTETomek</a:t>
            </a:r>
            <a:r>
              <a:rPr lang="en-US" sz="2400" dirty="0"/>
              <a:t> gave the </a:t>
            </a:r>
            <a:r>
              <a:rPr lang="en-US" sz="2400" b="1" dirty="0"/>
              <a:t>strongest and most stable results</a:t>
            </a:r>
            <a:r>
              <a:rPr lang="en-US" sz="2400" dirty="0"/>
              <a:t> among all methods.</a:t>
            </a:r>
          </a:p>
          <a:p>
            <a:pPr>
              <a:buNone/>
            </a:pPr>
            <a:endParaRPr lang="en-US" sz="2400" dirty="0"/>
          </a:p>
          <a:p>
            <a:pPr>
              <a:buNone/>
            </a:pPr>
            <a:r>
              <a:rPr lang="en-US" sz="2400" b="1" dirty="0"/>
              <a:t>• </a:t>
            </a:r>
            <a:r>
              <a:rPr lang="en-US" sz="2400" b="1" dirty="0" err="1"/>
              <a:t>NearMiss</a:t>
            </a:r>
            <a:r>
              <a:rPr lang="en-US" sz="2400" b="1" dirty="0"/>
              <a:t> (</a:t>
            </a:r>
            <a:r>
              <a:rPr lang="en-US" sz="2400" b="1" dirty="0" err="1"/>
              <a:t>Undersampling</a:t>
            </a:r>
            <a:r>
              <a:rPr lang="en-US" sz="2400" b="1" dirty="0"/>
              <a:t>)</a:t>
            </a:r>
          </a:p>
          <a:p>
            <a:pPr>
              <a:buNone/>
            </a:pPr>
            <a:r>
              <a:rPr lang="en-US" sz="2400" dirty="0" err="1"/>
              <a:t>NearMiss</a:t>
            </a:r>
            <a:r>
              <a:rPr lang="en-US" sz="2400" dirty="0"/>
              <a:t> balanced the data but caused </a:t>
            </a:r>
            <a:r>
              <a:rPr lang="en-US" sz="2400" b="1" dirty="0"/>
              <a:t>loss of information</a:t>
            </a:r>
            <a:r>
              <a:rPr lang="en-US" sz="2400" dirty="0"/>
              <a:t>, which led to </a:t>
            </a:r>
            <a:r>
              <a:rPr lang="en-US" sz="2400" b="1" dirty="0"/>
              <a:t>lower accuracy and precision</a:t>
            </a:r>
            <a:r>
              <a:rPr lang="en-US" sz="2400" dirty="0"/>
              <a:t>. Some models improved in recall, but overall performance became less stable especially for Logistic Regression and SVM. </a:t>
            </a:r>
            <a:r>
              <a:rPr lang="en-US" sz="2400" b="1" dirty="0"/>
              <a:t>Tree-based </a:t>
            </a:r>
            <a:r>
              <a:rPr lang="en-US" sz="2400" dirty="0"/>
              <a:t>models handled it better, but still not as strong as </a:t>
            </a:r>
            <a:r>
              <a:rPr lang="en-US" sz="2400" dirty="0" err="1"/>
              <a:t>SMOTETomek</a:t>
            </a:r>
            <a:r>
              <a:rPr lang="en-US" sz="2400" dirty="0"/>
              <a:t>. Briefly, </a:t>
            </a:r>
            <a:r>
              <a:rPr lang="en-US" sz="2400" dirty="0" err="1"/>
              <a:t>NearMiss</a:t>
            </a:r>
            <a:r>
              <a:rPr lang="en-US" sz="2400" dirty="0"/>
              <a:t> increased sensitivity but </a:t>
            </a:r>
            <a:r>
              <a:rPr lang="en-US" sz="2400" b="1" dirty="0"/>
              <a:t>reduced overall predictive strength</a:t>
            </a:r>
            <a:r>
              <a:rPr lang="en-US" sz="2400" dirty="0"/>
              <a:t>.</a:t>
            </a:r>
          </a:p>
          <a:p>
            <a:pPr>
              <a:buNone/>
            </a:pPr>
            <a:endParaRPr lang="en-US" sz="2400" dirty="0"/>
          </a:p>
        </p:txBody>
      </p:sp>
    </p:spTree>
    <p:extLst>
      <p:ext uri="{BB962C8B-B14F-4D97-AF65-F5344CB8AC3E}">
        <p14:creationId xmlns:p14="http://schemas.microsoft.com/office/powerpoint/2010/main" val="3826838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EBAD43-304D-48DB-8A27-4710FC0C4495}"/>
              </a:ext>
            </a:extLst>
          </p:cNvPr>
          <p:cNvSpPr/>
          <p:nvPr/>
        </p:nvSpPr>
        <p:spPr>
          <a:xfrm>
            <a:off x="2642381" y="1786596"/>
            <a:ext cx="6907237" cy="28416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Finding Best Model</a:t>
            </a:r>
          </a:p>
        </p:txBody>
      </p:sp>
    </p:spTree>
    <p:extLst>
      <p:ext uri="{BB962C8B-B14F-4D97-AF65-F5344CB8AC3E}">
        <p14:creationId xmlns:p14="http://schemas.microsoft.com/office/powerpoint/2010/main" val="36326923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1EB3267-E1CA-4E70-8BBD-0142396CB65D}"/>
              </a:ext>
            </a:extLst>
          </p:cNvPr>
          <p:cNvGraphicFramePr>
            <a:graphicFrameLocks noGrp="1"/>
          </p:cNvGraphicFramePr>
          <p:nvPr/>
        </p:nvGraphicFramePr>
        <p:xfrm>
          <a:off x="172278" y="115069"/>
          <a:ext cx="11569149" cy="6627862"/>
        </p:xfrm>
        <a:graphic>
          <a:graphicData uri="http://schemas.openxmlformats.org/drawingml/2006/table">
            <a:tbl>
              <a:tblPr>
                <a:tableStyleId>{5940675A-B579-460E-94D1-54222C63F5DA}</a:tableStyleId>
              </a:tblPr>
              <a:tblGrid>
                <a:gridCol w="1285461">
                  <a:extLst>
                    <a:ext uri="{9D8B030D-6E8A-4147-A177-3AD203B41FA5}">
                      <a16:colId xmlns:a16="http://schemas.microsoft.com/office/drawing/2014/main" val="2184114937"/>
                    </a:ext>
                  </a:extLst>
                </a:gridCol>
                <a:gridCol w="1285461">
                  <a:extLst>
                    <a:ext uri="{9D8B030D-6E8A-4147-A177-3AD203B41FA5}">
                      <a16:colId xmlns:a16="http://schemas.microsoft.com/office/drawing/2014/main" val="1894154994"/>
                    </a:ext>
                  </a:extLst>
                </a:gridCol>
                <a:gridCol w="1285461">
                  <a:extLst>
                    <a:ext uri="{9D8B030D-6E8A-4147-A177-3AD203B41FA5}">
                      <a16:colId xmlns:a16="http://schemas.microsoft.com/office/drawing/2014/main" val="1033764949"/>
                    </a:ext>
                  </a:extLst>
                </a:gridCol>
                <a:gridCol w="1285461">
                  <a:extLst>
                    <a:ext uri="{9D8B030D-6E8A-4147-A177-3AD203B41FA5}">
                      <a16:colId xmlns:a16="http://schemas.microsoft.com/office/drawing/2014/main" val="4199438479"/>
                    </a:ext>
                  </a:extLst>
                </a:gridCol>
                <a:gridCol w="1285461">
                  <a:extLst>
                    <a:ext uri="{9D8B030D-6E8A-4147-A177-3AD203B41FA5}">
                      <a16:colId xmlns:a16="http://schemas.microsoft.com/office/drawing/2014/main" val="71466047"/>
                    </a:ext>
                  </a:extLst>
                </a:gridCol>
                <a:gridCol w="1285461">
                  <a:extLst>
                    <a:ext uri="{9D8B030D-6E8A-4147-A177-3AD203B41FA5}">
                      <a16:colId xmlns:a16="http://schemas.microsoft.com/office/drawing/2014/main" val="2297216191"/>
                    </a:ext>
                  </a:extLst>
                </a:gridCol>
                <a:gridCol w="1285461">
                  <a:extLst>
                    <a:ext uri="{9D8B030D-6E8A-4147-A177-3AD203B41FA5}">
                      <a16:colId xmlns:a16="http://schemas.microsoft.com/office/drawing/2014/main" val="3394514517"/>
                    </a:ext>
                  </a:extLst>
                </a:gridCol>
                <a:gridCol w="1285461">
                  <a:extLst>
                    <a:ext uri="{9D8B030D-6E8A-4147-A177-3AD203B41FA5}">
                      <a16:colId xmlns:a16="http://schemas.microsoft.com/office/drawing/2014/main" val="2048791716"/>
                    </a:ext>
                  </a:extLst>
                </a:gridCol>
                <a:gridCol w="1285461">
                  <a:extLst>
                    <a:ext uri="{9D8B030D-6E8A-4147-A177-3AD203B41FA5}">
                      <a16:colId xmlns:a16="http://schemas.microsoft.com/office/drawing/2014/main" val="3012719649"/>
                    </a:ext>
                  </a:extLst>
                </a:gridCol>
              </a:tblGrid>
              <a:tr h="213802">
                <a:tc>
                  <a:txBody>
                    <a:bodyPr/>
                    <a:lstStyle/>
                    <a:p>
                      <a:pPr algn="ctr"/>
                      <a:r>
                        <a:rPr lang="en-US" sz="1100" dirty="0"/>
                        <a:t>Dataset</a:t>
                      </a:r>
                    </a:p>
                  </a:txBody>
                  <a:tcPr marL="11215" marR="11215" marT="5607" marB="5607" anchor="ctr"/>
                </a:tc>
                <a:tc>
                  <a:txBody>
                    <a:bodyPr/>
                    <a:lstStyle/>
                    <a:p>
                      <a:pPr algn="ctr"/>
                      <a:r>
                        <a:rPr lang="en-US" sz="1100" dirty="0"/>
                        <a:t>Age</a:t>
                      </a:r>
                    </a:p>
                  </a:txBody>
                  <a:tcPr marL="11215" marR="11215" marT="5607" marB="5607" anchor="ctr"/>
                </a:tc>
                <a:tc>
                  <a:txBody>
                    <a:bodyPr/>
                    <a:lstStyle/>
                    <a:p>
                      <a:pPr algn="ctr"/>
                      <a:r>
                        <a:rPr lang="en-US" sz="1100"/>
                        <a:t>Model</a:t>
                      </a:r>
                    </a:p>
                  </a:txBody>
                  <a:tcPr marL="11215" marR="11215" marT="5607" marB="5607" anchor="ctr"/>
                </a:tc>
                <a:tc>
                  <a:txBody>
                    <a:bodyPr/>
                    <a:lstStyle/>
                    <a:p>
                      <a:pPr algn="ctr"/>
                      <a:r>
                        <a:rPr lang="en-US" sz="1100"/>
                        <a:t>Class</a:t>
                      </a:r>
                    </a:p>
                  </a:txBody>
                  <a:tcPr marL="11215" marR="11215" marT="5607" marB="5607" anchor="ctr"/>
                </a:tc>
                <a:tc>
                  <a:txBody>
                    <a:bodyPr/>
                    <a:lstStyle/>
                    <a:p>
                      <a:pPr algn="ctr"/>
                      <a:r>
                        <a:rPr lang="en-US" sz="1100" dirty="0"/>
                        <a:t>Precision</a:t>
                      </a:r>
                    </a:p>
                  </a:txBody>
                  <a:tcPr marL="11215" marR="11215" marT="5607" marB="5607" anchor="ctr"/>
                </a:tc>
                <a:tc>
                  <a:txBody>
                    <a:bodyPr/>
                    <a:lstStyle/>
                    <a:p>
                      <a:pPr algn="ctr"/>
                      <a:r>
                        <a:rPr lang="en-US" sz="1100" dirty="0"/>
                        <a:t>Recall</a:t>
                      </a:r>
                    </a:p>
                  </a:txBody>
                  <a:tcPr marL="11215" marR="11215" marT="5607" marB="5607" anchor="ctr"/>
                </a:tc>
                <a:tc>
                  <a:txBody>
                    <a:bodyPr/>
                    <a:lstStyle/>
                    <a:p>
                      <a:pPr algn="ctr"/>
                      <a:r>
                        <a:rPr lang="en-US" sz="1100" dirty="0"/>
                        <a:t>F1</a:t>
                      </a:r>
                    </a:p>
                  </a:txBody>
                  <a:tcPr marL="11215" marR="11215" marT="5607" marB="5607" anchor="ctr"/>
                </a:tc>
                <a:tc>
                  <a:txBody>
                    <a:bodyPr/>
                    <a:lstStyle/>
                    <a:p>
                      <a:pPr algn="ctr"/>
                      <a:r>
                        <a:rPr lang="en-US" sz="1100"/>
                        <a:t>Support</a:t>
                      </a:r>
                    </a:p>
                  </a:txBody>
                  <a:tcPr marL="11215" marR="11215" marT="5607" marB="5607" anchor="ctr"/>
                </a:tc>
                <a:tc>
                  <a:txBody>
                    <a:bodyPr/>
                    <a:lstStyle/>
                    <a:p>
                      <a:pPr algn="ctr"/>
                      <a:r>
                        <a:rPr lang="en-US" sz="1100" dirty="0"/>
                        <a:t>Accuracy</a:t>
                      </a:r>
                    </a:p>
                  </a:txBody>
                  <a:tcPr marL="11215" marR="11215" marT="5607" marB="5607" anchor="ctr"/>
                </a:tc>
                <a:extLst>
                  <a:ext uri="{0D108BD9-81ED-4DB2-BD59-A6C34878D82A}">
                    <a16:rowId xmlns:a16="http://schemas.microsoft.com/office/drawing/2014/main" val="498207796"/>
                  </a:ext>
                </a:extLst>
              </a:tr>
              <a:tr h="213802">
                <a:tc rowSpan="10">
                  <a:txBody>
                    <a:bodyPr/>
                    <a:lstStyle/>
                    <a:p>
                      <a:pPr algn="ctr"/>
                      <a:r>
                        <a:rPr lang="en-US" sz="1100" dirty="0"/>
                        <a:t>A</a:t>
                      </a:r>
                    </a:p>
                  </a:txBody>
                  <a:tcPr marL="11215" marR="11215" marT="5607" marB="5607" anchor="ctr"/>
                </a:tc>
                <a:tc rowSpan="30">
                  <a:txBody>
                    <a:bodyPr/>
                    <a:lstStyle/>
                    <a:p>
                      <a:pPr algn="ctr"/>
                      <a:r>
                        <a:rPr lang="en-US" sz="1100" dirty="0"/>
                        <a:t>Without</a:t>
                      </a:r>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11256</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1174638829"/>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a:t>0.56</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a:t>1587</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75965495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857930907"/>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a:t>0.57</a:t>
                      </a:r>
                    </a:p>
                  </a:txBody>
                  <a:tcPr marL="11215" marR="11215" marT="5607" marB="5607" anchor="ctr"/>
                </a:tc>
                <a:tc>
                  <a:txBody>
                    <a:bodyPr/>
                    <a:lstStyle/>
                    <a:p>
                      <a:pPr algn="ctr"/>
                      <a:r>
                        <a:rPr lang="en-US" sz="1100"/>
                        <a:t>0.53</a:t>
                      </a:r>
                    </a:p>
                  </a:txBody>
                  <a:tcPr marL="11215" marR="11215" marT="5607" marB="5607" anchor="ct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75957313"/>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38822756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a:t>0.57</a:t>
                      </a:r>
                    </a:p>
                  </a:txBody>
                  <a:tcPr marL="11215" marR="11215" marT="5607" marB="5607" anchor="ctr"/>
                </a:tc>
                <a:tc>
                  <a:txBody>
                    <a:bodyPr/>
                    <a:lstStyle/>
                    <a:p>
                      <a:pPr algn="ctr"/>
                      <a:r>
                        <a:rPr lang="en-US" sz="1100"/>
                        <a:t>0.54</a:t>
                      </a:r>
                    </a:p>
                  </a:txBody>
                  <a:tcPr marL="11215" marR="11215" marT="5607" marB="5607" anchor="ct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475716196"/>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2380981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0.47</a:t>
                      </a:r>
                    </a:p>
                  </a:txBody>
                  <a:tcPr marL="11215" marR="11215" marT="5607" marB="5607" anchor="ctr"/>
                </a:tc>
                <a:tc>
                  <a:txBody>
                    <a:bodyPr/>
                    <a:lstStyle/>
                    <a:p>
                      <a:pPr algn="ctr"/>
                      <a:r>
                        <a:rPr lang="en-US" sz="1100"/>
                        <a:t>0.66</a:t>
                      </a:r>
                    </a:p>
                  </a:txBody>
                  <a:tcPr marL="11215" marR="11215" marT="5607" marB="5607" anchor="ctr"/>
                </a:tc>
                <a:tc>
                  <a:txBody>
                    <a:bodyPr/>
                    <a:lstStyle/>
                    <a:p>
                      <a:pPr algn="ctr"/>
                      <a:r>
                        <a:rPr lang="en-US" sz="1100"/>
                        <a:t>0.55</a:t>
                      </a:r>
                    </a:p>
                  </a:txBody>
                  <a:tcPr marL="11215" marR="11215" marT="5607" marB="5607" anchor="ct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7657911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1477248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a:t>0.60</a:t>
                      </a:r>
                    </a:p>
                  </a:txBody>
                  <a:tcPr marL="11215" marR="11215" marT="5607" marB="5607" anchor="ctr"/>
                </a:tc>
                <a:tc>
                  <a:txBody>
                    <a:bodyPr/>
                    <a:lstStyle/>
                    <a:p>
                      <a:pPr algn="ctr"/>
                      <a:r>
                        <a:rPr lang="en-US" sz="1100"/>
                        <a:t>0.54</a:t>
                      </a:r>
                    </a:p>
                  </a:txBody>
                  <a:tcPr marL="11215" marR="11215" marT="5607" marB="5607" anchor="ct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34124326"/>
                  </a:ext>
                </a:extLst>
              </a:tr>
              <a:tr h="213802">
                <a:tc rowSpan="10">
                  <a:txBody>
                    <a:bodyPr/>
                    <a:lstStyle/>
                    <a:p>
                      <a:pPr algn="ctr"/>
                      <a:r>
                        <a:rPr lang="en-US" sz="1100" dirty="0"/>
                        <a:t>B</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87678303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a:t>0.56</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a:t>1322</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579856200"/>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28029419"/>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0.49</a:t>
                      </a:r>
                    </a:p>
                  </a:txBody>
                  <a:tcPr marL="11215" marR="11215" marT="5607" marB="5607" anchor="ctr"/>
                </a:tc>
                <a:tc>
                  <a:txBody>
                    <a:bodyPr/>
                    <a:lstStyle/>
                    <a:p>
                      <a:pPr algn="ctr"/>
                      <a:r>
                        <a:rPr lang="en-US" sz="1100"/>
                        <a:t>0.58</a:t>
                      </a:r>
                    </a:p>
                  </a:txBody>
                  <a:tcPr marL="11215" marR="11215" marT="5607" marB="5607" anchor="ctr"/>
                </a:tc>
                <a:tc>
                  <a:txBody>
                    <a:bodyPr/>
                    <a:lstStyle/>
                    <a:p>
                      <a:pPr algn="ctr"/>
                      <a:r>
                        <a:rPr lang="en-US" sz="1100"/>
                        <a:t>0.53</a:t>
                      </a:r>
                    </a:p>
                  </a:txBody>
                  <a:tcPr marL="11215" marR="11215" marT="5607" marB="5607" anchor="ct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46102350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dirty="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425736818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0.53</a:t>
                      </a:r>
                    </a:p>
                  </a:txBody>
                  <a:tcPr marL="11215" marR="11215" marT="5607" marB="5607" anchor="ctr"/>
                </a:tc>
                <a:tc>
                  <a:txBody>
                    <a:bodyPr/>
                    <a:lstStyle/>
                    <a:p>
                      <a:pPr algn="ctr"/>
                      <a:r>
                        <a:rPr lang="en-US" sz="1100"/>
                        <a:t>0.58</a:t>
                      </a:r>
                    </a:p>
                  </a:txBody>
                  <a:tcPr marL="11215" marR="11215" marT="5607" marB="5607" anchor="ctr"/>
                </a:tc>
                <a:tc>
                  <a:txBody>
                    <a:bodyPr/>
                    <a:lstStyle/>
                    <a:p>
                      <a:pPr algn="ctr"/>
                      <a:r>
                        <a:rPr lang="en-US" sz="1100"/>
                        <a:t>0.56</a:t>
                      </a:r>
                    </a:p>
                  </a:txBody>
                  <a:tcPr marL="11215" marR="11215" marT="5607" marB="5607" anchor="ctr"/>
                </a:tc>
                <a:tc>
                  <a:txBody>
                    <a:bodyPr/>
                    <a:lstStyle/>
                    <a:p>
                      <a:pPr algn="ctr"/>
                      <a:r>
                        <a:rPr lang="en-US" sz="1100"/>
                        <a:t>1322</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101734803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74978845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a:t>0.66</a:t>
                      </a:r>
                    </a:p>
                  </a:txBody>
                  <a:tcPr marL="11215" marR="11215" marT="5607" marB="5607" anchor="ctr"/>
                </a:tc>
                <a:tc>
                  <a:txBody>
                    <a:bodyPr/>
                    <a:lstStyle/>
                    <a:p>
                      <a:pPr algn="ctr"/>
                      <a:r>
                        <a:rPr lang="en-US" sz="1100"/>
                        <a:t>0.55</a:t>
                      </a:r>
                    </a:p>
                  </a:txBody>
                  <a:tcPr marL="11215" marR="11215" marT="5607" marB="5607" anchor="ct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39170140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149016674"/>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a:t>0.60</a:t>
                      </a:r>
                    </a:p>
                  </a:txBody>
                  <a:tcPr marL="11215" marR="11215" marT="5607" marB="5607" anchor="ctr"/>
                </a:tc>
                <a:tc>
                  <a:txBody>
                    <a:bodyPr/>
                    <a:lstStyle/>
                    <a:p>
                      <a:pPr algn="ctr"/>
                      <a:r>
                        <a:rPr lang="en-US" sz="1100"/>
                        <a:t>0.54</a:t>
                      </a:r>
                    </a:p>
                  </a:txBody>
                  <a:tcPr marL="11215" marR="11215" marT="5607" marB="5607" anchor="ctr"/>
                </a:tc>
                <a:tc>
                  <a:txBody>
                    <a:bodyPr/>
                    <a:lstStyle/>
                    <a:p>
                      <a:pPr algn="ctr"/>
                      <a:r>
                        <a:rPr lang="en-US" sz="1100"/>
                        <a:t>1322</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500273"/>
                  </a:ext>
                </a:extLst>
              </a:tr>
              <a:tr h="213802">
                <a:tc rowSpan="10">
                  <a:txBody>
                    <a:bodyPr/>
                    <a:lstStyle/>
                    <a:p>
                      <a:pPr algn="ctr"/>
                      <a:r>
                        <a:rPr lang="en-US" sz="1100" dirty="0"/>
                        <a:t>C</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19415967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a:t>0.56</a:t>
                      </a:r>
                    </a:p>
                  </a:txBody>
                  <a:tcPr marL="11215" marR="11215" marT="5607" marB="5607" anchor="ctr"/>
                </a:tc>
                <a:tc>
                  <a:txBody>
                    <a:bodyPr/>
                    <a:lstStyle/>
                    <a:p>
                      <a:pPr algn="ctr"/>
                      <a:r>
                        <a:rPr lang="en-US" sz="1100" dirty="0"/>
                        <a:t>0.50</a:t>
                      </a:r>
                    </a:p>
                  </a:txBody>
                  <a:tcPr marL="11215" marR="11215" marT="5607" marB="5607" anchor="ctr"/>
                </a:tc>
                <a:tc>
                  <a:txBody>
                    <a:bodyPr/>
                    <a:lstStyle/>
                    <a:p>
                      <a:pPr algn="ctr"/>
                      <a:r>
                        <a:rPr lang="en-US" sz="1100"/>
                        <a:t>1058</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87980970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5480358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a:t>0.57</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24660430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82833626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a:t>0.57</a:t>
                      </a:r>
                    </a:p>
                  </a:txBody>
                  <a:tcPr marL="11215" marR="11215" marT="5607" marB="5607" anchor="ctr"/>
                </a:tc>
                <a:tc>
                  <a:txBody>
                    <a:bodyPr/>
                    <a:lstStyle/>
                    <a:p>
                      <a:pPr algn="ctr"/>
                      <a:r>
                        <a:rPr lang="en-US" sz="1100"/>
                        <a:t>0.55</a:t>
                      </a:r>
                    </a:p>
                  </a:txBody>
                  <a:tcPr marL="11215" marR="11215" marT="5607" marB="5607" anchor="ctr"/>
                </a:tc>
                <a:tc>
                  <a:txBody>
                    <a:bodyPr/>
                    <a:lstStyle/>
                    <a:p>
                      <a:pPr algn="ctr"/>
                      <a:r>
                        <a:rPr lang="en-US" sz="1100"/>
                        <a:t>1058</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58740744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9915828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0.47</a:t>
                      </a:r>
                    </a:p>
                  </a:txBody>
                  <a:tcPr marL="11215" marR="11215" marT="5607" marB="5607" anchor="ctr"/>
                </a:tc>
                <a:tc>
                  <a:txBody>
                    <a:bodyPr/>
                    <a:lstStyle/>
                    <a:p>
                      <a:pPr algn="ctr"/>
                      <a:r>
                        <a:rPr lang="en-US" sz="1100"/>
                        <a:t>0.66</a:t>
                      </a:r>
                    </a:p>
                  </a:txBody>
                  <a:tcPr marL="11215" marR="11215" marT="5607" marB="5607" anchor="ctr"/>
                </a:tc>
                <a:tc>
                  <a:txBody>
                    <a:bodyPr/>
                    <a:lstStyle/>
                    <a:p>
                      <a:pPr algn="ctr"/>
                      <a:r>
                        <a:rPr lang="en-US" sz="1100"/>
                        <a:t>0.55</a:t>
                      </a:r>
                    </a:p>
                  </a:txBody>
                  <a:tcPr marL="11215" marR="11215" marT="5607" marB="5607" anchor="ctr"/>
                </a:tc>
                <a:tc>
                  <a:txBody>
                    <a:bodyPr/>
                    <a:lstStyle/>
                    <a:p>
                      <a:pPr algn="ctr"/>
                      <a:r>
                        <a:rPr lang="en-US" sz="1100" dirty="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78503693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025405421"/>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a:t>0.60</a:t>
                      </a:r>
                    </a:p>
                  </a:txBody>
                  <a:tcPr marL="11215" marR="11215" marT="5607" marB="5607" anchor="ctr"/>
                </a:tc>
                <a:tc>
                  <a:txBody>
                    <a:bodyPr/>
                    <a:lstStyle/>
                    <a:p>
                      <a:pPr algn="ctr"/>
                      <a:r>
                        <a:rPr lang="en-US" sz="1100"/>
                        <a:t>0.55</a:t>
                      </a:r>
                    </a:p>
                  </a:txBody>
                  <a:tcPr marL="11215" marR="11215" marT="5607" marB="5607" anchor="ctr"/>
                </a:tc>
                <a:tc>
                  <a:txBody>
                    <a:bodyPr/>
                    <a:lstStyle/>
                    <a:p>
                      <a:pPr algn="ctr"/>
                      <a:r>
                        <a:rPr lang="en-US" sz="1100" dirty="0"/>
                        <a:t>1058</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743327117"/>
                  </a:ext>
                </a:extLst>
              </a:tr>
            </a:tbl>
          </a:graphicData>
        </a:graphic>
      </p:graphicFrame>
    </p:spTree>
    <p:extLst>
      <p:ext uri="{BB962C8B-B14F-4D97-AF65-F5344CB8AC3E}">
        <p14:creationId xmlns:p14="http://schemas.microsoft.com/office/powerpoint/2010/main" val="4282261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1EB3267-E1CA-4E70-8BBD-0142396CB65D}"/>
              </a:ext>
            </a:extLst>
          </p:cNvPr>
          <p:cNvGraphicFramePr>
            <a:graphicFrameLocks noGrp="1"/>
          </p:cNvGraphicFramePr>
          <p:nvPr/>
        </p:nvGraphicFramePr>
        <p:xfrm>
          <a:off x="172278" y="115069"/>
          <a:ext cx="11569149" cy="6627862"/>
        </p:xfrm>
        <a:graphic>
          <a:graphicData uri="http://schemas.openxmlformats.org/drawingml/2006/table">
            <a:tbl>
              <a:tblPr>
                <a:tableStyleId>{5940675A-B579-460E-94D1-54222C63F5DA}</a:tableStyleId>
              </a:tblPr>
              <a:tblGrid>
                <a:gridCol w="1285461">
                  <a:extLst>
                    <a:ext uri="{9D8B030D-6E8A-4147-A177-3AD203B41FA5}">
                      <a16:colId xmlns:a16="http://schemas.microsoft.com/office/drawing/2014/main" val="2184114937"/>
                    </a:ext>
                  </a:extLst>
                </a:gridCol>
                <a:gridCol w="1285461">
                  <a:extLst>
                    <a:ext uri="{9D8B030D-6E8A-4147-A177-3AD203B41FA5}">
                      <a16:colId xmlns:a16="http://schemas.microsoft.com/office/drawing/2014/main" val="1894154994"/>
                    </a:ext>
                  </a:extLst>
                </a:gridCol>
                <a:gridCol w="1285461">
                  <a:extLst>
                    <a:ext uri="{9D8B030D-6E8A-4147-A177-3AD203B41FA5}">
                      <a16:colId xmlns:a16="http://schemas.microsoft.com/office/drawing/2014/main" val="1033764949"/>
                    </a:ext>
                  </a:extLst>
                </a:gridCol>
                <a:gridCol w="1285461">
                  <a:extLst>
                    <a:ext uri="{9D8B030D-6E8A-4147-A177-3AD203B41FA5}">
                      <a16:colId xmlns:a16="http://schemas.microsoft.com/office/drawing/2014/main" val="4199438479"/>
                    </a:ext>
                  </a:extLst>
                </a:gridCol>
                <a:gridCol w="1285461">
                  <a:extLst>
                    <a:ext uri="{9D8B030D-6E8A-4147-A177-3AD203B41FA5}">
                      <a16:colId xmlns:a16="http://schemas.microsoft.com/office/drawing/2014/main" val="71466047"/>
                    </a:ext>
                  </a:extLst>
                </a:gridCol>
                <a:gridCol w="1285461">
                  <a:extLst>
                    <a:ext uri="{9D8B030D-6E8A-4147-A177-3AD203B41FA5}">
                      <a16:colId xmlns:a16="http://schemas.microsoft.com/office/drawing/2014/main" val="2297216191"/>
                    </a:ext>
                  </a:extLst>
                </a:gridCol>
                <a:gridCol w="1285461">
                  <a:extLst>
                    <a:ext uri="{9D8B030D-6E8A-4147-A177-3AD203B41FA5}">
                      <a16:colId xmlns:a16="http://schemas.microsoft.com/office/drawing/2014/main" val="3394514517"/>
                    </a:ext>
                  </a:extLst>
                </a:gridCol>
                <a:gridCol w="1285461">
                  <a:extLst>
                    <a:ext uri="{9D8B030D-6E8A-4147-A177-3AD203B41FA5}">
                      <a16:colId xmlns:a16="http://schemas.microsoft.com/office/drawing/2014/main" val="2048791716"/>
                    </a:ext>
                  </a:extLst>
                </a:gridCol>
                <a:gridCol w="1285461">
                  <a:extLst>
                    <a:ext uri="{9D8B030D-6E8A-4147-A177-3AD203B41FA5}">
                      <a16:colId xmlns:a16="http://schemas.microsoft.com/office/drawing/2014/main" val="3012719649"/>
                    </a:ext>
                  </a:extLst>
                </a:gridCol>
              </a:tblGrid>
              <a:tr h="213802">
                <a:tc>
                  <a:txBody>
                    <a:bodyPr/>
                    <a:lstStyle/>
                    <a:p>
                      <a:pPr algn="ctr"/>
                      <a:r>
                        <a:rPr lang="en-US" sz="1100" dirty="0"/>
                        <a:t>Dataset</a:t>
                      </a:r>
                    </a:p>
                  </a:txBody>
                  <a:tcPr marL="11215" marR="11215" marT="5607" marB="5607" anchor="ctr"/>
                </a:tc>
                <a:tc>
                  <a:txBody>
                    <a:bodyPr/>
                    <a:lstStyle/>
                    <a:p>
                      <a:pPr algn="ctr"/>
                      <a:r>
                        <a:rPr lang="en-US" sz="1100" dirty="0"/>
                        <a:t>Age</a:t>
                      </a:r>
                    </a:p>
                  </a:txBody>
                  <a:tcPr marL="11215" marR="11215" marT="5607" marB="5607" anchor="ctr"/>
                </a:tc>
                <a:tc>
                  <a:txBody>
                    <a:bodyPr/>
                    <a:lstStyle/>
                    <a:p>
                      <a:pPr algn="ctr"/>
                      <a:r>
                        <a:rPr lang="en-US" sz="1100"/>
                        <a:t>Model</a:t>
                      </a:r>
                    </a:p>
                  </a:txBody>
                  <a:tcPr marL="11215" marR="11215" marT="5607" marB="5607" anchor="ctr"/>
                </a:tc>
                <a:tc>
                  <a:txBody>
                    <a:bodyPr/>
                    <a:lstStyle/>
                    <a:p>
                      <a:pPr algn="ctr"/>
                      <a:r>
                        <a:rPr lang="en-US" sz="1100"/>
                        <a:t>Class</a:t>
                      </a:r>
                    </a:p>
                  </a:txBody>
                  <a:tcPr marL="11215" marR="11215" marT="5607" marB="5607" anchor="ctr"/>
                </a:tc>
                <a:tc>
                  <a:txBody>
                    <a:bodyPr/>
                    <a:lstStyle/>
                    <a:p>
                      <a:pPr algn="ctr"/>
                      <a:r>
                        <a:rPr lang="en-US" sz="1100" dirty="0"/>
                        <a:t>Precision</a:t>
                      </a:r>
                    </a:p>
                  </a:txBody>
                  <a:tcPr marL="11215" marR="11215" marT="5607" marB="5607" anchor="ctr">
                    <a:noFill/>
                  </a:tcPr>
                </a:tc>
                <a:tc>
                  <a:txBody>
                    <a:bodyPr/>
                    <a:lstStyle/>
                    <a:p>
                      <a:pPr algn="ctr"/>
                      <a:r>
                        <a:rPr lang="en-US" sz="1100" dirty="0"/>
                        <a:t>Recall</a:t>
                      </a:r>
                    </a:p>
                  </a:txBody>
                  <a:tcPr marL="11215" marR="11215" marT="5607" marB="5607" anchor="ctr"/>
                </a:tc>
                <a:tc>
                  <a:txBody>
                    <a:bodyPr/>
                    <a:lstStyle/>
                    <a:p>
                      <a:pPr algn="ctr"/>
                      <a:r>
                        <a:rPr lang="en-US" sz="1100" dirty="0"/>
                        <a:t>F1</a:t>
                      </a:r>
                    </a:p>
                  </a:txBody>
                  <a:tcPr marL="11215" marR="11215" marT="5607" marB="5607" anchor="ctr"/>
                </a:tc>
                <a:tc>
                  <a:txBody>
                    <a:bodyPr/>
                    <a:lstStyle/>
                    <a:p>
                      <a:pPr algn="ctr"/>
                      <a:r>
                        <a:rPr lang="en-US" sz="1100"/>
                        <a:t>Support</a:t>
                      </a:r>
                    </a:p>
                  </a:txBody>
                  <a:tcPr marL="11215" marR="11215" marT="5607" marB="5607" anchor="ctr"/>
                </a:tc>
                <a:tc>
                  <a:txBody>
                    <a:bodyPr/>
                    <a:lstStyle/>
                    <a:p>
                      <a:pPr algn="ctr"/>
                      <a:r>
                        <a:rPr lang="en-US" sz="1100" dirty="0"/>
                        <a:t>Accuracy</a:t>
                      </a:r>
                    </a:p>
                  </a:txBody>
                  <a:tcPr marL="11215" marR="11215" marT="5607" marB="5607" anchor="ctr"/>
                </a:tc>
                <a:extLst>
                  <a:ext uri="{0D108BD9-81ED-4DB2-BD59-A6C34878D82A}">
                    <a16:rowId xmlns:a16="http://schemas.microsoft.com/office/drawing/2014/main" val="498207796"/>
                  </a:ext>
                </a:extLst>
              </a:tr>
              <a:tr h="213802">
                <a:tc rowSpan="10">
                  <a:txBody>
                    <a:bodyPr/>
                    <a:lstStyle/>
                    <a:p>
                      <a:pPr algn="ctr"/>
                      <a:r>
                        <a:rPr lang="en-US" sz="1100" dirty="0"/>
                        <a:t>A</a:t>
                      </a:r>
                    </a:p>
                  </a:txBody>
                  <a:tcPr marL="11215" marR="11215" marT="5607" marB="5607" anchor="ctr"/>
                </a:tc>
                <a:tc rowSpan="30">
                  <a:txBody>
                    <a:bodyPr/>
                    <a:lstStyle/>
                    <a:p>
                      <a:pPr algn="ctr"/>
                      <a:r>
                        <a:rPr lang="en-US" sz="1100" dirty="0"/>
                        <a:t>Without</a:t>
                      </a:r>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dirty="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11256</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1174638829"/>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noFill/>
                  </a:tcP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75965495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857930907"/>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noFill/>
                  </a:tcP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75957313"/>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38822756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noFill/>
                  </a:tcP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475716196"/>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noFill/>
                  </a:tcP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2380981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no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7657911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1477248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noFill/>
                  </a:tcP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34124326"/>
                  </a:ext>
                </a:extLst>
              </a:tr>
              <a:tr h="213802">
                <a:tc rowSpan="10">
                  <a:txBody>
                    <a:bodyPr/>
                    <a:lstStyle/>
                    <a:p>
                      <a:pPr algn="ctr"/>
                      <a:r>
                        <a:rPr lang="en-US" sz="1100" dirty="0"/>
                        <a:t>B</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87678303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noFill/>
                  </a:tcP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579856200"/>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28029419"/>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0.49</a:t>
                      </a:r>
                    </a:p>
                  </a:txBody>
                  <a:tcPr marL="11215" marR="11215" marT="5607" marB="5607" anchor="ctr">
                    <a:noFill/>
                  </a:tcP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46102350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dirty="0"/>
                        <a:t>0.94</a:t>
                      </a:r>
                    </a:p>
                  </a:txBody>
                  <a:tcPr marL="11215" marR="11215" marT="5607" marB="5607" anchor="ctr">
                    <a:noFill/>
                  </a:tcP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425736818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0.53</a:t>
                      </a:r>
                    </a:p>
                  </a:txBody>
                  <a:tcPr marL="11215" marR="11215" marT="5607" marB="5607" anchor="ctr">
                    <a:noFill/>
                  </a:tcP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101734803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noFill/>
                  </a:tcP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74978845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0.48</a:t>
                      </a:r>
                    </a:p>
                  </a:txBody>
                  <a:tcPr marL="11215" marR="11215" marT="5607" marB="5607" anchor="ctr">
                    <a:no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39170140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149016674"/>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noFill/>
                  </a:tcP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500273"/>
                  </a:ext>
                </a:extLst>
              </a:tr>
              <a:tr h="213802">
                <a:tc rowSpan="10">
                  <a:txBody>
                    <a:bodyPr/>
                    <a:lstStyle/>
                    <a:p>
                      <a:pPr algn="ctr"/>
                      <a:r>
                        <a:rPr lang="en-US" sz="1100" dirty="0"/>
                        <a:t>C</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19415967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noFill/>
                  </a:tcP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87980970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5480358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noFill/>
                  </a:tcP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0.52</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24660430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82833626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noFill/>
                  </a:tcP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58740744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noFill/>
                  </a:tcP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9915828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no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dirty="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78503693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noFill/>
                  </a:tcPr>
                </a:tc>
                <a:tc>
                  <a:txBody>
                    <a:bodyPr/>
                    <a:lstStyle/>
                    <a:p>
                      <a:pPr algn="ctr"/>
                      <a:r>
                        <a:rPr lang="en-US" sz="1100" dirty="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025405421"/>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0.50</a:t>
                      </a:r>
                    </a:p>
                  </a:txBody>
                  <a:tcPr marL="11215" marR="11215" marT="5607" marB="5607" anchor="ctr">
                    <a:noFill/>
                  </a:tcP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dirty="0"/>
                        <a:t>1058</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743327117"/>
                  </a:ext>
                </a:extLst>
              </a:tr>
            </a:tbl>
          </a:graphicData>
        </a:graphic>
      </p:graphicFrame>
    </p:spTree>
    <p:extLst>
      <p:ext uri="{BB962C8B-B14F-4D97-AF65-F5344CB8AC3E}">
        <p14:creationId xmlns:p14="http://schemas.microsoft.com/office/powerpoint/2010/main" val="1687840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1EB3267-E1CA-4E70-8BBD-0142396CB65D}"/>
              </a:ext>
            </a:extLst>
          </p:cNvPr>
          <p:cNvGraphicFramePr>
            <a:graphicFrameLocks noGrp="1"/>
          </p:cNvGraphicFramePr>
          <p:nvPr/>
        </p:nvGraphicFramePr>
        <p:xfrm>
          <a:off x="172278" y="115069"/>
          <a:ext cx="11569149" cy="6627862"/>
        </p:xfrm>
        <a:graphic>
          <a:graphicData uri="http://schemas.openxmlformats.org/drawingml/2006/table">
            <a:tbl>
              <a:tblPr>
                <a:tableStyleId>{5940675A-B579-460E-94D1-54222C63F5DA}</a:tableStyleId>
              </a:tblPr>
              <a:tblGrid>
                <a:gridCol w="1285461">
                  <a:extLst>
                    <a:ext uri="{9D8B030D-6E8A-4147-A177-3AD203B41FA5}">
                      <a16:colId xmlns:a16="http://schemas.microsoft.com/office/drawing/2014/main" val="2184114937"/>
                    </a:ext>
                  </a:extLst>
                </a:gridCol>
                <a:gridCol w="1285461">
                  <a:extLst>
                    <a:ext uri="{9D8B030D-6E8A-4147-A177-3AD203B41FA5}">
                      <a16:colId xmlns:a16="http://schemas.microsoft.com/office/drawing/2014/main" val="1894154994"/>
                    </a:ext>
                  </a:extLst>
                </a:gridCol>
                <a:gridCol w="1285461">
                  <a:extLst>
                    <a:ext uri="{9D8B030D-6E8A-4147-A177-3AD203B41FA5}">
                      <a16:colId xmlns:a16="http://schemas.microsoft.com/office/drawing/2014/main" val="1033764949"/>
                    </a:ext>
                  </a:extLst>
                </a:gridCol>
                <a:gridCol w="1285461">
                  <a:extLst>
                    <a:ext uri="{9D8B030D-6E8A-4147-A177-3AD203B41FA5}">
                      <a16:colId xmlns:a16="http://schemas.microsoft.com/office/drawing/2014/main" val="4199438479"/>
                    </a:ext>
                  </a:extLst>
                </a:gridCol>
                <a:gridCol w="1285461">
                  <a:extLst>
                    <a:ext uri="{9D8B030D-6E8A-4147-A177-3AD203B41FA5}">
                      <a16:colId xmlns:a16="http://schemas.microsoft.com/office/drawing/2014/main" val="71466047"/>
                    </a:ext>
                  </a:extLst>
                </a:gridCol>
                <a:gridCol w="1285461">
                  <a:extLst>
                    <a:ext uri="{9D8B030D-6E8A-4147-A177-3AD203B41FA5}">
                      <a16:colId xmlns:a16="http://schemas.microsoft.com/office/drawing/2014/main" val="2297216191"/>
                    </a:ext>
                  </a:extLst>
                </a:gridCol>
                <a:gridCol w="1285461">
                  <a:extLst>
                    <a:ext uri="{9D8B030D-6E8A-4147-A177-3AD203B41FA5}">
                      <a16:colId xmlns:a16="http://schemas.microsoft.com/office/drawing/2014/main" val="3394514517"/>
                    </a:ext>
                  </a:extLst>
                </a:gridCol>
                <a:gridCol w="1285461">
                  <a:extLst>
                    <a:ext uri="{9D8B030D-6E8A-4147-A177-3AD203B41FA5}">
                      <a16:colId xmlns:a16="http://schemas.microsoft.com/office/drawing/2014/main" val="2048791716"/>
                    </a:ext>
                  </a:extLst>
                </a:gridCol>
                <a:gridCol w="1285461">
                  <a:extLst>
                    <a:ext uri="{9D8B030D-6E8A-4147-A177-3AD203B41FA5}">
                      <a16:colId xmlns:a16="http://schemas.microsoft.com/office/drawing/2014/main" val="3012719649"/>
                    </a:ext>
                  </a:extLst>
                </a:gridCol>
              </a:tblGrid>
              <a:tr h="213802">
                <a:tc>
                  <a:txBody>
                    <a:bodyPr/>
                    <a:lstStyle/>
                    <a:p>
                      <a:pPr algn="ctr"/>
                      <a:r>
                        <a:rPr lang="en-US" sz="1100" dirty="0"/>
                        <a:t>Dataset</a:t>
                      </a:r>
                    </a:p>
                  </a:txBody>
                  <a:tcPr marL="11215" marR="11215" marT="5607" marB="5607" anchor="ctr"/>
                </a:tc>
                <a:tc>
                  <a:txBody>
                    <a:bodyPr/>
                    <a:lstStyle/>
                    <a:p>
                      <a:pPr algn="ctr"/>
                      <a:r>
                        <a:rPr lang="en-US" sz="1100" dirty="0"/>
                        <a:t>Age</a:t>
                      </a:r>
                    </a:p>
                  </a:txBody>
                  <a:tcPr marL="11215" marR="11215" marT="5607" marB="5607" anchor="ctr"/>
                </a:tc>
                <a:tc>
                  <a:txBody>
                    <a:bodyPr/>
                    <a:lstStyle/>
                    <a:p>
                      <a:pPr algn="ctr"/>
                      <a:r>
                        <a:rPr lang="en-US" sz="1100"/>
                        <a:t>Model</a:t>
                      </a:r>
                    </a:p>
                  </a:txBody>
                  <a:tcPr marL="11215" marR="11215" marT="5607" marB="5607" anchor="ctr"/>
                </a:tc>
                <a:tc>
                  <a:txBody>
                    <a:bodyPr/>
                    <a:lstStyle/>
                    <a:p>
                      <a:pPr algn="ctr"/>
                      <a:r>
                        <a:rPr lang="en-US" sz="1100"/>
                        <a:t>Class</a:t>
                      </a:r>
                    </a:p>
                  </a:txBody>
                  <a:tcPr marL="11215" marR="11215" marT="5607" marB="5607" anchor="ctr"/>
                </a:tc>
                <a:tc>
                  <a:txBody>
                    <a:bodyPr/>
                    <a:lstStyle/>
                    <a:p>
                      <a:pPr algn="ctr"/>
                      <a:r>
                        <a:rPr lang="en-US" sz="1100" dirty="0"/>
                        <a:t>Precision</a:t>
                      </a:r>
                    </a:p>
                  </a:txBody>
                  <a:tcPr marL="11215" marR="11215" marT="5607" marB="5607" anchor="ctr"/>
                </a:tc>
                <a:tc>
                  <a:txBody>
                    <a:bodyPr/>
                    <a:lstStyle/>
                    <a:p>
                      <a:pPr algn="ctr"/>
                      <a:r>
                        <a:rPr lang="en-US" sz="1100" dirty="0"/>
                        <a:t>Recall</a:t>
                      </a:r>
                    </a:p>
                  </a:txBody>
                  <a:tcPr marL="11215" marR="11215" marT="5607" marB="5607" anchor="ctr"/>
                </a:tc>
                <a:tc>
                  <a:txBody>
                    <a:bodyPr/>
                    <a:lstStyle/>
                    <a:p>
                      <a:pPr algn="ctr"/>
                      <a:r>
                        <a:rPr lang="en-US" sz="1100" dirty="0"/>
                        <a:t>F1</a:t>
                      </a:r>
                    </a:p>
                  </a:txBody>
                  <a:tcPr marL="11215" marR="11215" marT="5607" marB="5607" anchor="ctr"/>
                </a:tc>
                <a:tc>
                  <a:txBody>
                    <a:bodyPr/>
                    <a:lstStyle/>
                    <a:p>
                      <a:pPr algn="ctr"/>
                      <a:r>
                        <a:rPr lang="en-US" sz="1100"/>
                        <a:t>Support</a:t>
                      </a:r>
                    </a:p>
                  </a:txBody>
                  <a:tcPr marL="11215" marR="11215" marT="5607" marB="5607" anchor="ctr"/>
                </a:tc>
                <a:tc>
                  <a:txBody>
                    <a:bodyPr/>
                    <a:lstStyle/>
                    <a:p>
                      <a:pPr algn="ctr"/>
                      <a:r>
                        <a:rPr lang="en-US" sz="1100" dirty="0"/>
                        <a:t>Accuracy</a:t>
                      </a:r>
                    </a:p>
                  </a:txBody>
                  <a:tcPr marL="11215" marR="11215" marT="5607" marB="5607" anchor="ctr"/>
                </a:tc>
                <a:extLst>
                  <a:ext uri="{0D108BD9-81ED-4DB2-BD59-A6C34878D82A}">
                    <a16:rowId xmlns:a16="http://schemas.microsoft.com/office/drawing/2014/main" val="498207796"/>
                  </a:ext>
                </a:extLst>
              </a:tr>
              <a:tr h="213802">
                <a:tc rowSpan="10">
                  <a:txBody>
                    <a:bodyPr/>
                    <a:lstStyle/>
                    <a:p>
                      <a:pPr algn="ctr"/>
                      <a:r>
                        <a:rPr lang="en-US" sz="1100" dirty="0"/>
                        <a:t>A</a:t>
                      </a:r>
                    </a:p>
                  </a:txBody>
                  <a:tcPr marL="11215" marR="11215" marT="5607" marB="5607" anchor="ctr"/>
                </a:tc>
                <a:tc rowSpan="30">
                  <a:txBody>
                    <a:bodyPr/>
                    <a:lstStyle/>
                    <a:p>
                      <a:pPr algn="ctr"/>
                      <a:r>
                        <a:rPr lang="en-US" sz="1100" dirty="0"/>
                        <a:t>Without</a:t>
                      </a:r>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11256</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1174638829"/>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75965495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857930907"/>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75957313"/>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38822756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475716196"/>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2380981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solidFill>
                      <a:schemeClr val="accent5">
                        <a:lumMod val="40000"/>
                        <a:lumOff val="60000"/>
                      </a:schemeClr>
                    </a:solid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7657911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1477248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34124326"/>
                  </a:ext>
                </a:extLst>
              </a:tr>
              <a:tr h="213802">
                <a:tc rowSpan="10">
                  <a:txBody>
                    <a:bodyPr/>
                    <a:lstStyle/>
                    <a:p>
                      <a:pPr algn="ctr"/>
                      <a:r>
                        <a:rPr lang="en-US" sz="1100" dirty="0"/>
                        <a:t>B</a:t>
                      </a:r>
                    </a:p>
                  </a:txBody>
                  <a:tcPr marL="11215" marR="11215" marT="5607" marB="5607" anchor="ctr">
                    <a:noFill/>
                  </a:tcP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87678303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579856200"/>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28029419"/>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0.49</a:t>
                      </a:r>
                    </a:p>
                  </a:txBody>
                  <a:tcPr marL="11215" marR="11215" marT="5607" marB="5607" anchor="ct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46102350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noFill/>
                  </a:tcPr>
                </a:tc>
                <a:tc>
                  <a:txBody>
                    <a:bodyPr/>
                    <a:lstStyle/>
                    <a:p>
                      <a:pPr algn="ctr"/>
                      <a:r>
                        <a:rPr lang="en-US" sz="1100"/>
                        <a:t>0</a:t>
                      </a:r>
                    </a:p>
                  </a:txBody>
                  <a:tcPr marL="11215" marR="11215" marT="5607" marB="5607" anchor="ctr"/>
                </a:tc>
                <a:tc>
                  <a:txBody>
                    <a:bodyPr/>
                    <a:lstStyle/>
                    <a:p>
                      <a:pPr algn="ctr"/>
                      <a:r>
                        <a:rPr lang="en-US" sz="1100" dirty="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425736818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0.53</a:t>
                      </a:r>
                    </a:p>
                  </a:txBody>
                  <a:tcPr marL="11215" marR="11215" marT="5607" marB="5607" anchor="ct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101734803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noFill/>
                  </a:tcP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74978845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0.48</a:t>
                      </a:r>
                    </a:p>
                  </a:txBody>
                  <a:tcPr marL="11215" marR="11215" marT="5607" marB="5607" anchor="ctr">
                    <a:solidFill>
                      <a:schemeClr val="accent5">
                        <a:lumMod val="40000"/>
                        <a:lumOff val="60000"/>
                      </a:schemeClr>
                    </a:solid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39170140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149016674"/>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500273"/>
                  </a:ext>
                </a:extLst>
              </a:tr>
              <a:tr h="213802">
                <a:tc rowSpan="10">
                  <a:txBody>
                    <a:bodyPr/>
                    <a:lstStyle/>
                    <a:p>
                      <a:pPr algn="ctr"/>
                      <a:r>
                        <a:rPr lang="en-US" sz="1100" dirty="0"/>
                        <a:t>C</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19415967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87980970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5480358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0.52</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24660430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82833626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58740744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9915828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solidFill>
                      <a:schemeClr val="accent5">
                        <a:lumMod val="40000"/>
                        <a:lumOff val="60000"/>
                      </a:schemeClr>
                    </a:solid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dirty="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78503693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025405421"/>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dirty="0"/>
                        <a:t>1058</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743327117"/>
                  </a:ext>
                </a:extLst>
              </a:tr>
            </a:tbl>
          </a:graphicData>
        </a:graphic>
      </p:graphicFrame>
    </p:spTree>
    <p:extLst>
      <p:ext uri="{BB962C8B-B14F-4D97-AF65-F5344CB8AC3E}">
        <p14:creationId xmlns:p14="http://schemas.microsoft.com/office/powerpoint/2010/main" val="3383412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1EB3267-E1CA-4E70-8BBD-0142396CB65D}"/>
              </a:ext>
            </a:extLst>
          </p:cNvPr>
          <p:cNvGraphicFramePr>
            <a:graphicFrameLocks noGrp="1"/>
          </p:cNvGraphicFramePr>
          <p:nvPr/>
        </p:nvGraphicFramePr>
        <p:xfrm>
          <a:off x="172278" y="115069"/>
          <a:ext cx="11569149" cy="6627862"/>
        </p:xfrm>
        <a:graphic>
          <a:graphicData uri="http://schemas.openxmlformats.org/drawingml/2006/table">
            <a:tbl>
              <a:tblPr>
                <a:tableStyleId>{5940675A-B579-460E-94D1-54222C63F5DA}</a:tableStyleId>
              </a:tblPr>
              <a:tblGrid>
                <a:gridCol w="1285461">
                  <a:extLst>
                    <a:ext uri="{9D8B030D-6E8A-4147-A177-3AD203B41FA5}">
                      <a16:colId xmlns:a16="http://schemas.microsoft.com/office/drawing/2014/main" val="2184114937"/>
                    </a:ext>
                  </a:extLst>
                </a:gridCol>
                <a:gridCol w="1285461">
                  <a:extLst>
                    <a:ext uri="{9D8B030D-6E8A-4147-A177-3AD203B41FA5}">
                      <a16:colId xmlns:a16="http://schemas.microsoft.com/office/drawing/2014/main" val="1894154994"/>
                    </a:ext>
                  </a:extLst>
                </a:gridCol>
                <a:gridCol w="1285461">
                  <a:extLst>
                    <a:ext uri="{9D8B030D-6E8A-4147-A177-3AD203B41FA5}">
                      <a16:colId xmlns:a16="http://schemas.microsoft.com/office/drawing/2014/main" val="1033764949"/>
                    </a:ext>
                  </a:extLst>
                </a:gridCol>
                <a:gridCol w="1285461">
                  <a:extLst>
                    <a:ext uri="{9D8B030D-6E8A-4147-A177-3AD203B41FA5}">
                      <a16:colId xmlns:a16="http://schemas.microsoft.com/office/drawing/2014/main" val="4199438479"/>
                    </a:ext>
                  </a:extLst>
                </a:gridCol>
                <a:gridCol w="1285461">
                  <a:extLst>
                    <a:ext uri="{9D8B030D-6E8A-4147-A177-3AD203B41FA5}">
                      <a16:colId xmlns:a16="http://schemas.microsoft.com/office/drawing/2014/main" val="71466047"/>
                    </a:ext>
                  </a:extLst>
                </a:gridCol>
                <a:gridCol w="1285461">
                  <a:extLst>
                    <a:ext uri="{9D8B030D-6E8A-4147-A177-3AD203B41FA5}">
                      <a16:colId xmlns:a16="http://schemas.microsoft.com/office/drawing/2014/main" val="2297216191"/>
                    </a:ext>
                  </a:extLst>
                </a:gridCol>
                <a:gridCol w="1285461">
                  <a:extLst>
                    <a:ext uri="{9D8B030D-6E8A-4147-A177-3AD203B41FA5}">
                      <a16:colId xmlns:a16="http://schemas.microsoft.com/office/drawing/2014/main" val="3394514517"/>
                    </a:ext>
                  </a:extLst>
                </a:gridCol>
                <a:gridCol w="1285461">
                  <a:extLst>
                    <a:ext uri="{9D8B030D-6E8A-4147-A177-3AD203B41FA5}">
                      <a16:colId xmlns:a16="http://schemas.microsoft.com/office/drawing/2014/main" val="2048791716"/>
                    </a:ext>
                  </a:extLst>
                </a:gridCol>
                <a:gridCol w="1285461">
                  <a:extLst>
                    <a:ext uri="{9D8B030D-6E8A-4147-A177-3AD203B41FA5}">
                      <a16:colId xmlns:a16="http://schemas.microsoft.com/office/drawing/2014/main" val="3012719649"/>
                    </a:ext>
                  </a:extLst>
                </a:gridCol>
              </a:tblGrid>
              <a:tr h="213802">
                <a:tc>
                  <a:txBody>
                    <a:bodyPr/>
                    <a:lstStyle/>
                    <a:p>
                      <a:pPr algn="ctr"/>
                      <a:r>
                        <a:rPr lang="en-US" sz="1100" dirty="0"/>
                        <a:t>Dataset</a:t>
                      </a:r>
                    </a:p>
                  </a:txBody>
                  <a:tcPr marL="11215" marR="11215" marT="5607" marB="5607" anchor="ctr"/>
                </a:tc>
                <a:tc>
                  <a:txBody>
                    <a:bodyPr/>
                    <a:lstStyle/>
                    <a:p>
                      <a:pPr algn="ctr"/>
                      <a:r>
                        <a:rPr lang="en-US" sz="1100" dirty="0"/>
                        <a:t>Age</a:t>
                      </a:r>
                    </a:p>
                  </a:txBody>
                  <a:tcPr marL="11215" marR="11215" marT="5607" marB="5607" anchor="ctr"/>
                </a:tc>
                <a:tc>
                  <a:txBody>
                    <a:bodyPr/>
                    <a:lstStyle/>
                    <a:p>
                      <a:pPr algn="ctr"/>
                      <a:r>
                        <a:rPr lang="en-US" sz="1100"/>
                        <a:t>Model</a:t>
                      </a:r>
                    </a:p>
                  </a:txBody>
                  <a:tcPr marL="11215" marR="11215" marT="5607" marB="5607" anchor="ctr"/>
                </a:tc>
                <a:tc>
                  <a:txBody>
                    <a:bodyPr/>
                    <a:lstStyle/>
                    <a:p>
                      <a:pPr algn="ctr"/>
                      <a:r>
                        <a:rPr lang="en-US" sz="1100"/>
                        <a:t>Class</a:t>
                      </a:r>
                    </a:p>
                  </a:txBody>
                  <a:tcPr marL="11215" marR="11215" marT="5607" marB="5607" anchor="ctr"/>
                </a:tc>
                <a:tc>
                  <a:txBody>
                    <a:bodyPr/>
                    <a:lstStyle/>
                    <a:p>
                      <a:pPr algn="ctr"/>
                      <a:r>
                        <a:rPr lang="en-US" sz="1100" dirty="0"/>
                        <a:t>Precision</a:t>
                      </a:r>
                    </a:p>
                  </a:txBody>
                  <a:tcPr marL="11215" marR="11215" marT="5607" marB="5607" anchor="ctr"/>
                </a:tc>
                <a:tc>
                  <a:txBody>
                    <a:bodyPr/>
                    <a:lstStyle/>
                    <a:p>
                      <a:pPr algn="ctr"/>
                      <a:r>
                        <a:rPr lang="en-US" sz="1100" dirty="0"/>
                        <a:t>Recall</a:t>
                      </a:r>
                    </a:p>
                  </a:txBody>
                  <a:tcPr marL="11215" marR="11215" marT="5607" marB="5607" anchor="ctr"/>
                </a:tc>
                <a:tc>
                  <a:txBody>
                    <a:bodyPr/>
                    <a:lstStyle/>
                    <a:p>
                      <a:pPr algn="ctr"/>
                      <a:r>
                        <a:rPr lang="en-US" sz="1100" dirty="0"/>
                        <a:t>F1</a:t>
                      </a:r>
                    </a:p>
                  </a:txBody>
                  <a:tcPr marL="11215" marR="11215" marT="5607" marB="5607" anchor="ctr"/>
                </a:tc>
                <a:tc>
                  <a:txBody>
                    <a:bodyPr/>
                    <a:lstStyle/>
                    <a:p>
                      <a:pPr algn="ctr"/>
                      <a:r>
                        <a:rPr lang="en-US" sz="1100"/>
                        <a:t>Support</a:t>
                      </a:r>
                    </a:p>
                  </a:txBody>
                  <a:tcPr marL="11215" marR="11215" marT="5607" marB="5607" anchor="ctr"/>
                </a:tc>
                <a:tc>
                  <a:txBody>
                    <a:bodyPr/>
                    <a:lstStyle/>
                    <a:p>
                      <a:pPr algn="ctr"/>
                      <a:r>
                        <a:rPr lang="en-US" sz="1100" dirty="0"/>
                        <a:t>Accuracy</a:t>
                      </a:r>
                    </a:p>
                  </a:txBody>
                  <a:tcPr marL="11215" marR="11215" marT="5607" marB="5607" anchor="ctr"/>
                </a:tc>
                <a:extLst>
                  <a:ext uri="{0D108BD9-81ED-4DB2-BD59-A6C34878D82A}">
                    <a16:rowId xmlns:a16="http://schemas.microsoft.com/office/drawing/2014/main" val="498207796"/>
                  </a:ext>
                </a:extLst>
              </a:tr>
              <a:tr h="213802">
                <a:tc rowSpan="10">
                  <a:txBody>
                    <a:bodyPr/>
                    <a:lstStyle/>
                    <a:p>
                      <a:pPr algn="ctr"/>
                      <a:r>
                        <a:rPr lang="en-US" sz="1100" dirty="0"/>
                        <a:t>A</a:t>
                      </a:r>
                    </a:p>
                  </a:txBody>
                  <a:tcPr marL="11215" marR="11215" marT="5607" marB="5607" anchor="ctr"/>
                </a:tc>
                <a:tc rowSpan="30">
                  <a:txBody>
                    <a:bodyPr/>
                    <a:lstStyle/>
                    <a:p>
                      <a:pPr algn="ctr"/>
                      <a:r>
                        <a:rPr lang="en-US" sz="1100" dirty="0">
                          <a:solidFill>
                            <a:srgbClr val="FF0000"/>
                          </a:solidFill>
                        </a:rPr>
                        <a:t>Without</a:t>
                      </a:r>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11256</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1174638829"/>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75965495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857930907"/>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75957313"/>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38822756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475716196"/>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23809810"/>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solidFill>
                      <a:schemeClr val="accent5">
                        <a:lumMod val="40000"/>
                        <a:lumOff val="60000"/>
                      </a:schemeClr>
                    </a:solid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7657911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1477248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734124326"/>
                  </a:ext>
                </a:extLst>
              </a:tr>
              <a:tr h="213802">
                <a:tc rowSpan="10">
                  <a:txBody>
                    <a:bodyPr/>
                    <a:lstStyle/>
                    <a:p>
                      <a:pPr algn="ctr"/>
                      <a:r>
                        <a:rPr lang="en-US" sz="1100" dirty="0"/>
                        <a:t>B</a:t>
                      </a:r>
                    </a:p>
                  </a:txBody>
                  <a:tcPr marL="11215" marR="11215" marT="5607" marB="5607" anchor="ctr">
                    <a:solidFill>
                      <a:srgbClr val="92D050"/>
                    </a:solidFill>
                  </a:tcP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87678303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579856200"/>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4028029419"/>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0.49</a:t>
                      </a:r>
                    </a:p>
                  </a:txBody>
                  <a:tcPr marL="11215" marR="11215" marT="5607" marB="5607" anchor="ct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146102350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noFill/>
                  </a:tcPr>
                </a:tc>
                <a:tc>
                  <a:txBody>
                    <a:bodyPr/>
                    <a:lstStyle/>
                    <a:p>
                      <a:pPr algn="ctr"/>
                      <a:r>
                        <a:rPr lang="en-US" sz="1100"/>
                        <a:t>0</a:t>
                      </a:r>
                    </a:p>
                  </a:txBody>
                  <a:tcPr marL="11215" marR="11215" marT="5607" marB="5607" anchor="ctr"/>
                </a:tc>
                <a:tc>
                  <a:txBody>
                    <a:bodyPr/>
                    <a:lstStyle/>
                    <a:p>
                      <a:pPr algn="ctr"/>
                      <a:r>
                        <a:rPr lang="en-US" sz="1100" dirty="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4257368181"/>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0.53</a:t>
                      </a:r>
                    </a:p>
                  </a:txBody>
                  <a:tcPr marL="11215" marR="11215" marT="5607" marB="5607" anchor="ct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0.89</a:t>
                      </a:r>
                    </a:p>
                  </a:txBody>
                  <a:tcPr marL="11215" marR="11215" marT="5607" marB="5607" anchor="ctr"/>
                </a:tc>
                <a:extLst>
                  <a:ext uri="{0D108BD9-81ED-4DB2-BD59-A6C34878D82A}">
                    <a16:rowId xmlns:a16="http://schemas.microsoft.com/office/drawing/2014/main" val="101734803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solidFill>
                      <a:srgbClr val="92D050"/>
                    </a:solidFill>
                  </a:tcP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74978845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0.48</a:t>
                      </a:r>
                    </a:p>
                  </a:txBody>
                  <a:tcPr marL="11215" marR="11215" marT="5607" marB="5607" anchor="ctr">
                    <a:solidFill>
                      <a:schemeClr val="accent5">
                        <a:lumMod val="40000"/>
                        <a:lumOff val="60000"/>
                      </a:schemeClr>
                    </a:solid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39170140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149016674"/>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1500273"/>
                  </a:ext>
                </a:extLst>
              </a:tr>
              <a:tr h="213802">
                <a:tc rowSpan="10">
                  <a:txBody>
                    <a:bodyPr/>
                    <a:lstStyle/>
                    <a:p>
                      <a:pPr algn="ctr"/>
                      <a:r>
                        <a:rPr lang="en-US" sz="1100" dirty="0"/>
                        <a:t>C</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3194159677"/>
                  </a:ext>
                </a:extLst>
              </a:tr>
              <a:tr h="213802">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879809707"/>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548035808"/>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0.48</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0.52</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224660430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2828336266"/>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587407445"/>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99158282"/>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solidFill>
                      <a:schemeClr val="accent5">
                        <a:lumMod val="40000"/>
                        <a:lumOff val="60000"/>
                      </a:schemeClr>
                    </a:solidFill>
                  </a:tcPr>
                </a:tc>
                <a:tc>
                  <a:txBody>
                    <a:bodyPr/>
                    <a:lstStyle/>
                    <a:p>
                      <a:pPr algn="ctr"/>
                      <a:r>
                        <a:rPr lang="en-US" sz="1100" dirty="0"/>
                        <a:t>0.66</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dirty="0"/>
                        <a:t>1058</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785036931"/>
                  </a:ext>
                </a:extLst>
              </a:tr>
              <a:tr h="213802">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0.88</a:t>
                      </a:r>
                    </a:p>
                  </a:txBody>
                  <a:tcPr marL="11215" marR="11215" marT="5607" marB="5607" anchor="ctr"/>
                </a:tc>
                <a:extLst>
                  <a:ext uri="{0D108BD9-81ED-4DB2-BD59-A6C34878D82A}">
                    <a16:rowId xmlns:a16="http://schemas.microsoft.com/office/drawing/2014/main" val="3025405421"/>
                  </a:ext>
                </a:extLst>
              </a:tr>
              <a:tr h="213802">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dirty="0"/>
                        <a:t>1058</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743327117"/>
                  </a:ext>
                </a:extLst>
              </a:tr>
            </a:tbl>
          </a:graphicData>
        </a:graphic>
      </p:graphicFrame>
      <p:cxnSp>
        <p:nvCxnSpPr>
          <p:cNvPr id="3" name="Straight Arrow Connector 2">
            <a:extLst>
              <a:ext uri="{FF2B5EF4-FFF2-40B4-BE49-F238E27FC236}">
                <a16:creationId xmlns:a16="http://schemas.microsoft.com/office/drawing/2014/main" id="{BDDC38F9-15B1-4A2C-822F-199156FD796E}"/>
              </a:ext>
            </a:extLst>
          </p:cNvPr>
          <p:cNvCxnSpPr/>
          <p:nvPr/>
        </p:nvCxnSpPr>
        <p:spPr>
          <a:xfrm>
            <a:off x="1722783" y="3942522"/>
            <a:ext cx="8348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2114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9027F9B-BD4A-415A-A1CB-1A26145203D7}"/>
              </a:ext>
            </a:extLst>
          </p:cNvPr>
          <p:cNvGraphicFramePr>
            <a:graphicFrameLocks noGrp="1"/>
          </p:cNvGraphicFramePr>
          <p:nvPr/>
        </p:nvGraphicFramePr>
        <p:xfrm>
          <a:off x="225287" y="185531"/>
          <a:ext cx="11701674" cy="6440560"/>
        </p:xfrm>
        <a:graphic>
          <a:graphicData uri="http://schemas.openxmlformats.org/drawingml/2006/table">
            <a:tbl>
              <a:tblPr>
                <a:tableStyleId>{5940675A-B579-460E-94D1-54222C63F5DA}</a:tableStyleId>
              </a:tblPr>
              <a:tblGrid>
                <a:gridCol w="1300186">
                  <a:extLst>
                    <a:ext uri="{9D8B030D-6E8A-4147-A177-3AD203B41FA5}">
                      <a16:colId xmlns:a16="http://schemas.microsoft.com/office/drawing/2014/main" val="2316019849"/>
                    </a:ext>
                  </a:extLst>
                </a:gridCol>
                <a:gridCol w="1300186">
                  <a:extLst>
                    <a:ext uri="{9D8B030D-6E8A-4147-A177-3AD203B41FA5}">
                      <a16:colId xmlns:a16="http://schemas.microsoft.com/office/drawing/2014/main" val="1527418819"/>
                    </a:ext>
                  </a:extLst>
                </a:gridCol>
                <a:gridCol w="1300186">
                  <a:extLst>
                    <a:ext uri="{9D8B030D-6E8A-4147-A177-3AD203B41FA5}">
                      <a16:colId xmlns:a16="http://schemas.microsoft.com/office/drawing/2014/main" val="1643015046"/>
                    </a:ext>
                  </a:extLst>
                </a:gridCol>
                <a:gridCol w="1300186">
                  <a:extLst>
                    <a:ext uri="{9D8B030D-6E8A-4147-A177-3AD203B41FA5}">
                      <a16:colId xmlns:a16="http://schemas.microsoft.com/office/drawing/2014/main" val="656467995"/>
                    </a:ext>
                  </a:extLst>
                </a:gridCol>
                <a:gridCol w="1300186">
                  <a:extLst>
                    <a:ext uri="{9D8B030D-6E8A-4147-A177-3AD203B41FA5}">
                      <a16:colId xmlns:a16="http://schemas.microsoft.com/office/drawing/2014/main" val="3236996808"/>
                    </a:ext>
                  </a:extLst>
                </a:gridCol>
                <a:gridCol w="1300186">
                  <a:extLst>
                    <a:ext uri="{9D8B030D-6E8A-4147-A177-3AD203B41FA5}">
                      <a16:colId xmlns:a16="http://schemas.microsoft.com/office/drawing/2014/main" val="543177143"/>
                    </a:ext>
                  </a:extLst>
                </a:gridCol>
                <a:gridCol w="1300186">
                  <a:extLst>
                    <a:ext uri="{9D8B030D-6E8A-4147-A177-3AD203B41FA5}">
                      <a16:colId xmlns:a16="http://schemas.microsoft.com/office/drawing/2014/main" val="2469218436"/>
                    </a:ext>
                  </a:extLst>
                </a:gridCol>
                <a:gridCol w="1300186">
                  <a:extLst>
                    <a:ext uri="{9D8B030D-6E8A-4147-A177-3AD203B41FA5}">
                      <a16:colId xmlns:a16="http://schemas.microsoft.com/office/drawing/2014/main" val="1091490334"/>
                    </a:ext>
                  </a:extLst>
                </a:gridCol>
                <a:gridCol w="1300186">
                  <a:extLst>
                    <a:ext uri="{9D8B030D-6E8A-4147-A177-3AD203B41FA5}">
                      <a16:colId xmlns:a16="http://schemas.microsoft.com/office/drawing/2014/main" val="2433469043"/>
                    </a:ext>
                  </a:extLst>
                </a:gridCol>
              </a:tblGrid>
              <a:tr h="207760">
                <a:tc>
                  <a:txBody>
                    <a:bodyPr/>
                    <a:lstStyle/>
                    <a:p>
                      <a:pPr algn="ctr"/>
                      <a:r>
                        <a:rPr lang="en-US" sz="1100" dirty="0"/>
                        <a:t>Dataset</a:t>
                      </a:r>
                    </a:p>
                  </a:txBody>
                  <a:tcPr marL="11215" marR="11215" marT="5607" marB="5607" anchor="ctr"/>
                </a:tc>
                <a:tc>
                  <a:txBody>
                    <a:bodyPr/>
                    <a:lstStyle/>
                    <a:p>
                      <a:pPr algn="ctr"/>
                      <a:r>
                        <a:rPr lang="en-US" sz="1100" dirty="0"/>
                        <a:t>Age</a:t>
                      </a:r>
                    </a:p>
                  </a:txBody>
                  <a:tcPr marL="11215" marR="11215" marT="5607" marB="5607" anchor="ctr"/>
                </a:tc>
                <a:tc>
                  <a:txBody>
                    <a:bodyPr/>
                    <a:lstStyle/>
                    <a:p>
                      <a:pPr algn="ctr"/>
                      <a:r>
                        <a:rPr lang="en-US" sz="1100" dirty="0"/>
                        <a:t>Model</a:t>
                      </a:r>
                    </a:p>
                  </a:txBody>
                  <a:tcPr marL="11215" marR="11215" marT="5607" marB="5607" anchor="ctr"/>
                </a:tc>
                <a:tc>
                  <a:txBody>
                    <a:bodyPr/>
                    <a:lstStyle/>
                    <a:p>
                      <a:pPr algn="ctr"/>
                      <a:r>
                        <a:rPr lang="en-US" sz="1100" dirty="0"/>
                        <a:t>Class</a:t>
                      </a:r>
                    </a:p>
                  </a:txBody>
                  <a:tcPr marL="11215" marR="11215" marT="5607" marB="5607" anchor="ctr"/>
                </a:tc>
                <a:tc>
                  <a:txBody>
                    <a:bodyPr/>
                    <a:lstStyle/>
                    <a:p>
                      <a:pPr algn="ctr"/>
                      <a:r>
                        <a:rPr lang="en-US" sz="1100" dirty="0"/>
                        <a:t>Precision</a:t>
                      </a:r>
                    </a:p>
                  </a:txBody>
                  <a:tcPr marL="11215" marR="11215" marT="5607" marB="5607" anchor="ctr"/>
                </a:tc>
                <a:tc>
                  <a:txBody>
                    <a:bodyPr/>
                    <a:lstStyle/>
                    <a:p>
                      <a:pPr algn="ctr"/>
                      <a:r>
                        <a:rPr lang="en-US" sz="1100" dirty="0"/>
                        <a:t>Recall</a:t>
                      </a:r>
                    </a:p>
                  </a:txBody>
                  <a:tcPr marL="11215" marR="11215" marT="5607" marB="5607" anchor="ctr"/>
                </a:tc>
                <a:tc>
                  <a:txBody>
                    <a:bodyPr/>
                    <a:lstStyle/>
                    <a:p>
                      <a:pPr algn="ctr"/>
                      <a:r>
                        <a:rPr lang="en-US" sz="1100" dirty="0"/>
                        <a:t>F1</a:t>
                      </a:r>
                    </a:p>
                  </a:txBody>
                  <a:tcPr marL="11215" marR="11215" marT="5607" marB="5607" anchor="ctr"/>
                </a:tc>
                <a:tc>
                  <a:txBody>
                    <a:bodyPr/>
                    <a:lstStyle/>
                    <a:p>
                      <a:pPr algn="ctr"/>
                      <a:r>
                        <a:rPr lang="en-US" sz="1100" dirty="0"/>
                        <a:t>Support</a:t>
                      </a:r>
                    </a:p>
                  </a:txBody>
                  <a:tcPr marL="11215" marR="11215" marT="5607" marB="5607" anchor="ctr"/>
                </a:tc>
                <a:tc>
                  <a:txBody>
                    <a:bodyPr/>
                    <a:lstStyle/>
                    <a:p>
                      <a:pPr algn="ctr"/>
                      <a:r>
                        <a:rPr lang="en-US" sz="1100" dirty="0"/>
                        <a:t>Accuracy</a:t>
                      </a:r>
                    </a:p>
                  </a:txBody>
                  <a:tcPr marL="11215" marR="11215" marT="5607" marB="5607" anchor="ctr"/>
                </a:tc>
                <a:extLst>
                  <a:ext uri="{0D108BD9-81ED-4DB2-BD59-A6C34878D82A}">
                    <a16:rowId xmlns:a16="http://schemas.microsoft.com/office/drawing/2014/main" val="1583872879"/>
                  </a:ext>
                </a:extLst>
              </a:tr>
              <a:tr h="207760">
                <a:tc rowSpan="10">
                  <a:txBody>
                    <a:bodyPr/>
                    <a:lstStyle/>
                    <a:p>
                      <a:pPr algn="ctr"/>
                      <a:r>
                        <a:rPr lang="en-US" sz="1100" dirty="0"/>
                        <a:t>A</a:t>
                      </a:r>
                    </a:p>
                  </a:txBody>
                  <a:tcPr marL="11215" marR="11215" marT="5607" marB="5607" anchor="ctr">
                    <a:solidFill>
                      <a:srgbClr val="92D050"/>
                    </a:solidFill>
                  </a:tcPr>
                </a:tc>
                <a:tc rowSpan="30">
                  <a:txBody>
                    <a:bodyPr/>
                    <a:lstStyle/>
                    <a:p>
                      <a:pPr algn="ctr"/>
                      <a:r>
                        <a:rPr lang="en-US" sz="1100" dirty="0">
                          <a:solidFill>
                            <a:srgbClr val="FF0000"/>
                          </a:solidFill>
                        </a:rPr>
                        <a:t>With</a:t>
                      </a:r>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dirty="0"/>
                        <a:t>0.94</a:t>
                      </a:r>
                    </a:p>
                  </a:txBody>
                  <a:tcPr marL="11215" marR="11215" marT="5607" marB="5607" anchor="ctr"/>
                </a:tc>
                <a:tc>
                  <a:txBody>
                    <a:bodyPr/>
                    <a:lstStyle/>
                    <a:p>
                      <a:pPr algn="ctr"/>
                      <a:r>
                        <a:rPr lang="en-US" sz="1100" dirty="0"/>
                        <a:t>0.90</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11256</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3804881074"/>
                  </a:ext>
                </a:extLst>
              </a:tr>
              <a:tr h="207760">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endParaRPr lang="en-US" sz="1100" dirty="0"/>
                    </a:p>
                  </a:txBody>
                  <a:tcPr marL="11215" marR="11215" marT="5607" marB="5607" anchor="ctr"/>
                </a:tc>
                <a:tc>
                  <a:txBody>
                    <a:bodyPr/>
                    <a:lstStyle/>
                    <a:p>
                      <a:pPr algn="ctr"/>
                      <a:r>
                        <a:rPr lang="en-US" sz="1100" dirty="0"/>
                        <a:t>1</a:t>
                      </a:r>
                    </a:p>
                  </a:txBody>
                  <a:tcPr marL="11215" marR="11215" marT="5607" marB="5607" anchor="ctr"/>
                </a:tc>
                <a:tc>
                  <a:txBody>
                    <a:bodyPr/>
                    <a:lstStyle/>
                    <a:p>
                      <a:pPr algn="ctr"/>
                      <a:r>
                        <a:rPr lang="en-US" sz="1100"/>
                        <a:t>0.44</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dirty="0"/>
                        <a:t>1587</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2080141299"/>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774166166"/>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0.49</a:t>
                      </a:r>
                    </a:p>
                  </a:txBody>
                  <a:tcPr marL="11215" marR="11215" marT="5607" marB="5607" anchor="ctr"/>
                </a:tc>
                <a:tc>
                  <a:txBody>
                    <a:bodyPr/>
                    <a:lstStyle/>
                    <a:p>
                      <a:pPr algn="ctr"/>
                      <a:r>
                        <a:rPr lang="en-US" sz="1100" dirty="0"/>
                        <a:t>0.58</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1780749326"/>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362339062"/>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0.53</a:t>
                      </a:r>
                    </a:p>
                  </a:txBody>
                  <a:tcPr marL="11215" marR="11215" marT="5607" marB="5607" anchor="ctr"/>
                </a:tc>
                <a:tc>
                  <a:txBody>
                    <a:bodyPr/>
                    <a:lstStyle/>
                    <a:p>
                      <a:pPr algn="ctr"/>
                      <a:r>
                        <a:rPr lang="en-US" sz="1100" dirty="0"/>
                        <a:t>0.59</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4255877437"/>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solidFill>
                      <a:srgbClr val="92D050"/>
                    </a:solidFill>
                  </a:tcP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a:t>0.87</a:t>
                      </a:r>
                    </a:p>
                  </a:txBody>
                  <a:tcPr marL="11215" marR="11215" marT="5607" marB="5607" anchor="ctr"/>
                </a:tc>
                <a:extLst>
                  <a:ext uri="{0D108BD9-81ED-4DB2-BD59-A6C34878D82A}">
                    <a16:rowId xmlns:a16="http://schemas.microsoft.com/office/drawing/2014/main" val="3028099571"/>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0.48</a:t>
                      </a:r>
                    </a:p>
                  </a:txBody>
                  <a:tcPr marL="11215" marR="11215" marT="5607" marB="5607" anchor="ctr">
                    <a:solidFill>
                      <a:schemeClr val="accent5">
                        <a:lumMod val="40000"/>
                        <a:lumOff val="60000"/>
                      </a:schemeClr>
                    </a:solidFill>
                  </a:tcPr>
                </a:tc>
                <a:tc>
                  <a:txBody>
                    <a:bodyPr/>
                    <a:lstStyle/>
                    <a:p>
                      <a:pPr algn="ctr"/>
                      <a:r>
                        <a:rPr lang="en-US" sz="1100" dirty="0"/>
                        <a:t>0.67</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dirty="0"/>
                        <a:t>1587</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634949275"/>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11256</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341718913"/>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0.50</a:t>
                      </a:r>
                    </a:p>
                  </a:txBody>
                  <a:tcPr marL="11215" marR="11215" marT="5607" marB="5607" anchor="ctr"/>
                </a:tc>
                <a:tc>
                  <a:txBody>
                    <a:bodyPr/>
                    <a:lstStyle/>
                    <a:p>
                      <a:pPr algn="ctr"/>
                      <a:r>
                        <a:rPr lang="en-US" sz="1100" dirty="0"/>
                        <a:t>0.59</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1587</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97296461"/>
                  </a:ext>
                </a:extLst>
              </a:tr>
              <a:tr h="207760">
                <a:tc rowSpan="10">
                  <a:txBody>
                    <a:bodyPr/>
                    <a:lstStyle/>
                    <a:p>
                      <a:pPr algn="ctr"/>
                      <a:r>
                        <a:rPr lang="en-US" sz="1100" dirty="0"/>
                        <a:t>B</a:t>
                      </a:r>
                    </a:p>
                  </a:txBody>
                  <a:tcPr marL="11215" marR="11215" marT="5607" marB="5607" anchor="ctr">
                    <a:solidFill>
                      <a:srgbClr val="92D050"/>
                    </a:solidFill>
                  </a:tcP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280600404"/>
                  </a:ext>
                </a:extLst>
              </a:tr>
              <a:tr h="207760">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dirty="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0.57</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407740356"/>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2562943633"/>
                  </a:ext>
                </a:extLst>
              </a:tr>
              <a:tr h="207760">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dirty="0"/>
                        <a:t>1</a:t>
                      </a:r>
                    </a:p>
                  </a:txBody>
                  <a:tcPr marL="11215" marR="11215" marT="5607" marB="5607" anchor="ctr"/>
                </a:tc>
                <a:tc>
                  <a:txBody>
                    <a:bodyPr/>
                    <a:lstStyle/>
                    <a:p>
                      <a:pPr algn="ctr"/>
                      <a:r>
                        <a:rPr lang="en-US" sz="1100"/>
                        <a:t>0.49</a:t>
                      </a:r>
                    </a:p>
                  </a:txBody>
                  <a:tcPr marL="11215" marR="11215" marT="5607" marB="5607" anchor="ctr"/>
                </a:tc>
                <a:tc>
                  <a:txBody>
                    <a:bodyPr/>
                    <a:lstStyle/>
                    <a:p>
                      <a:pPr algn="ctr"/>
                      <a:r>
                        <a:rPr lang="en-US" sz="1100" dirty="0"/>
                        <a:t>0.59</a:t>
                      </a:r>
                    </a:p>
                  </a:txBody>
                  <a:tcPr marL="11215" marR="11215" marT="5607" marB="5607" anchor="ctr">
                    <a:solidFill>
                      <a:srgbClr val="FFFF00"/>
                    </a:solidFill>
                  </a:tcPr>
                </a:tc>
                <a:tc>
                  <a:txBody>
                    <a:bodyPr/>
                    <a:lstStyle/>
                    <a:p>
                      <a:pPr algn="ctr"/>
                      <a:r>
                        <a:rPr lang="en-US" sz="1100" dirty="0"/>
                        <a:t>0.54</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204196545"/>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dirty="0"/>
                        <a:t>0</a:t>
                      </a:r>
                    </a:p>
                  </a:txBody>
                  <a:tcPr marL="11215" marR="11215" marT="5607" marB="5607" anchor="ctr"/>
                </a:tc>
                <a:tc>
                  <a:txBody>
                    <a:bodyPr/>
                    <a:lstStyle/>
                    <a:p>
                      <a:pPr algn="ctr"/>
                      <a:r>
                        <a:rPr lang="en-US" sz="1100" dirty="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29659848"/>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0.53</a:t>
                      </a:r>
                    </a:p>
                  </a:txBody>
                  <a:tcPr marL="11215" marR="11215" marT="5607" marB="5607" anchor="ctr"/>
                </a:tc>
                <a:tc>
                  <a:txBody>
                    <a:bodyPr/>
                    <a:lstStyle/>
                    <a:p>
                      <a:pPr algn="ctr"/>
                      <a:r>
                        <a:rPr lang="en-US" sz="1100" dirty="0"/>
                        <a:t>0.59</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750789643"/>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solidFill>
                      <a:srgbClr val="92D050"/>
                    </a:solidFill>
                  </a:tcPr>
                </a:tc>
                <a:tc>
                  <a:txBody>
                    <a:bodyPr/>
                    <a:lstStyle/>
                    <a:p>
                      <a:pPr algn="ctr"/>
                      <a:r>
                        <a:rPr lang="en-US" sz="1100"/>
                        <a:t>0</a:t>
                      </a:r>
                    </a:p>
                  </a:txBody>
                  <a:tcPr marL="11215" marR="11215" marT="5607" marB="5607" anchor="ctr"/>
                </a:tc>
                <a:tc>
                  <a:txBody>
                    <a:bodyPr/>
                    <a:lstStyle/>
                    <a:p>
                      <a:pPr algn="ctr"/>
                      <a:r>
                        <a:rPr lang="en-US" sz="1100" dirty="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3645246480"/>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dirty="0"/>
                        <a:t>1</a:t>
                      </a:r>
                    </a:p>
                  </a:txBody>
                  <a:tcPr marL="11215" marR="11215" marT="5607" marB="5607" anchor="ctr"/>
                </a:tc>
                <a:tc>
                  <a:txBody>
                    <a:bodyPr/>
                    <a:lstStyle/>
                    <a:p>
                      <a:pPr algn="ctr"/>
                      <a:r>
                        <a:rPr lang="en-US" sz="1100" dirty="0"/>
                        <a:t>0.48</a:t>
                      </a:r>
                    </a:p>
                  </a:txBody>
                  <a:tcPr marL="11215" marR="11215" marT="5607" marB="5607" anchor="ctr">
                    <a:solidFill>
                      <a:schemeClr val="accent5">
                        <a:lumMod val="40000"/>
                        <a:lumOff val="60000"/>
                      </a:schemeClr>
                    </a:solidFill>
                  </a:tcPr>
                </a:tc>
                <a:tc>
                  <a:txBody>
                    <a:bodyPr/>
                    <a:lstStyle/>
                    <a:p>
                      <a:pPr algn="ctr"/>
                      <a:r>
                        <a:rPr lang="en-US" sz="1100" dirty="0"/>
                        <a:t>0.67</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3870780660"/>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dirty="0"/>
                        <a:t>0.94</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9380</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2577434914"/>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0.52</a:t>
                      </a:r>
                    </a:p>
                  </a:txBody>
                  <a:tcPr marL="11215" marR="11215" marT="5607" marB="5607" anchor="ctr"/>
                </a:tc>
                <a:tc>
                  <a:txBody>
                    <a:bodyPr/>
                    <a:lstStyle/>
                    <a:p>
                      <a:pPr algn="ctr"/>
                      <a:r>
                        <a:rPr lang="en-US" sz="1100" dirty="0"/>
                        <a:t>0.61</a:t>
                      </a:r>
                    </a:p>
                  </a:txBody>
                  <a:tcPr marL="11215" marR="11215" marT="5607" marB="5607" anchor="ctr">
                    <a:solidFill>
                      <a:srgbClr val="FFFF00"/>
                    </a:solidFill>
                  </a:tcPr>
                </a:tc>
                <a:tc>
                  <a:txBody>
                    <a:bodyPr/>
                    <a:lstStyle/>
                    <a:p>
                      <a:pPr algn="ctr"/>
                      <a:r>
                        <a:rPr lang="en-US" sz="1100" dirty="0"/>
                        <a:t>0.56</a:t>
                      </a:r>
                    </a:p>
                  </a:txBody>
                  <a:tcPr marL="11215" marR="11215" marT="5607" marB="5607" anchor="ctr">
                    <a:solidFill>
                      <a:schemeClr val="accent2">
                        <a:lumMod val="40000"/>
                        <a:lumOff val="60000"/>
                      </a:schemeClr>
                    </a:solidFill>
                  </a:tcPr>
                </a:tc>
                <a:tc>
                  <a:txBody>
                    <a:bodyPr/>
                    <a:lstStyle/>
                    <a:p>
                      <a:pPr algn="ctr"/>
                      <a:r>
                        <a:rPr lang="en-US" sz="1100"/>
                        <a:t>1322</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1143416076"/>
                  </a:ext>
                </a:extLst>
              </a:tr>
              <a:tr h="207760">
                <a:tc rowSpan="10">
                  <a:txBody>
                    <a:bodyPr/>
                    <a:lstStyle/>
                    <a:p>
                      <a:pPr algn="ctr"/>
                      <a:r>
                        <a:rPr lang="en-US" sz="1100" dirty="0"/>
                        <a:t>C</a:t>
                      </a:r>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Logistic Regression</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a:t>0.86</a:t>
                      </a:r>
                    </a:p>
                  </a:txBody>
                  <a:tcPr marL="11215" marR="11215" marT="5607" marB="5607" anchor="ctr"/>
                </a:tc>
                <a:extLst>
                  <a:ext uri="{0D108BD9-81ED-4DB2-BD59-A6C34878D82A}">
                    <a16:rowId xmlns:a16="http://schemas.microsoft.com/office/drawing/2014/main" val="2638429106"/>
                  </a:ext>
                </a:extLst>
              </a:tr>
              <a:tr h="207760">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0.45</a:t>
                      </a:r>
                    </a:p>
                  </a:txBody>
                  <a:tcPr marL="11215" marR="11215" marT="5607" marB="5607" anchor="ctr"/>
                </a:tc>
                <a:tc>
                  <a:txBody>
                    <a:bodyPr/>
                    <a:lstStyle/>
                    <a:p>
                      <a:pPr algn="ctr"/>
                      <a:r>
                        <a:rPr lang="en-US" sz="1100" dirty="0"/>
                        <a:t>0.56</a:t>
                      </a:r>
                    </a:p>
                  </a:txBody>
                  <a:tcPr marL="11215" marR="11215" marT="5607" marB="5607" anchor="ctr">
                    <a:solidFill>
                      <a:srgbClr val="FFFF00"/>
                    </a:solidFill>
                  </a:tcPr>
                </a:tc>
                <a:tc>
                  <a:txBody>
                    <a:bodyPr/>
                    <a:lstStyle/>
                    <a:p>
                      <a:pPr algn="ctr"/>
                      <a:r>
                        <a:rPr lang="en-US" sz="1100" dirty="0"/>
                        <a:t>0.50</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dirty="0"/>
                        <a:t>0.86</a:t>
                      </a:r>
                    </a:p>
                  </a:txBody>
                  <a:tcPr marL="11215" marR="11215" marT="5607" marB="5607" anchor="ctr"/>
                </a:tc>
                <a:extLst>
                  <a:ext uri="{0D108BD9-81ED-4DB2-BD59-A6C34878D82A}">
                    <a16:rowId xmlns:a16="http://schemas.microsoft.com/office/drawing/2014/main" val="866019606"/>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SVM</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0.91</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4175351669"/>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0.49</a:t>
                      </a:r>
                    </a:p>
                  </a:txBody>
                  <a:tcPr marL="11215" marR="11215" marT="5607" marB="5607" anchor="ctr"/>
                </a:tc>
                <a:tc>
                  <a:txBody>
                    <a:bodyPr/>
                    <a:lstStyle/>
                    <a:p>
                      <a:pPr algn="ctr"/>
                      <a:r>
                        <a:rPr lang="en-US" sz="1100" dirty="0"/>
                        <a:t>0.59</a:t>
                      </a:r>
                    </a:p>
                  </a:txBody>
                  <a:tcPr marL="11215" marR="11215" marT="5607" marB="5607" anchor="ctr">
                    <a:solidFill>
                      <a:srgbClr val="FFFF00"/>
                    </a:solidFill>
                  </a:tcPr>
                </a:tc>
                <a:tc>
                  <a:txBody>
                    <a:bodyPr/>
                    <a:lstStyle/>
                    <a:p>
                      <a:pPr algn="ctr"/>
                      <a:r>
                        <a:rPr lang="en-US" sz="1100" dirty="0"/>
                        <a:t>0.53</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3560299733"/>
                  </a:ext>
                </a:extLst>
              </a:tr>
              <a:tr h="207760">
                <a:tc vMerge="1">
                  <a:txBody>
                    <a:bodyPr/>
                    <a:lstStyle/>
                    <a:p>
                      <a:pPr algn="ctr"/>
                      <a:endParaRPr lang="en-US" sz="110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Random Forest</a:t>
                      </a:r>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0.93</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dirty="0"/>
                        <a:t>0.89</a:t>
                      </a:r>
                    </a:p>
                  </a:txBody>
                  <a:tcPr marL="11215" marR="11215" marT="5607" marB="5607" anchor="ctr"/>
                </a:tc>
                <a:extLst>
                  <a:ext uri="{0D108BD9-81ED-4DB2-BD59-A6C34878D82A}">
                    <a16:rowId xmlns:a16="http://schemas.microsoft.com/office/drawing/2014/main" val="4270800080"/>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0.54</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0.57</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dirty="0"/>
                        <a:t>0.89</a:t>
                      </a:r>
                    </a:p>
                  </a:txBody>
                  <a:tcPr marL="11215" marR="11215" marT="5607" marB="5607" anchor="ctr"/>
                </a:tc>
                <a:extLst>
                  <a:ext uri="{0D108BD9-81ED-4DB2-BD59-A6C34878D82A}">
                    <a16:rowId xmlns:a16="http://schemas.microsoft.com/office/drawing/2014/main" val="3459699404"/>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a:t>Gradient Boosting</a:t>
                      </a:r>
                    </a:p>
                  </a:txBody>
                  <a:tcPr marL="11215" marR="11215" marT="5607" marB="5607" anchor="ctr">
                    <a:noFill/>
                  </a:tcPr>
                </a:tc>
                <a:tc>
                  <a:txBody>
                    <a:bodyPr/>
                    <a:lstStyle/>
                    <a:p>
                      <a:pPr algn="ctr"/>
                      <a:r>
                        <a:rPr lang="en-US" sz="1100"/>
                        <a:t>0</a:t>
                      </a:r>
                    </a:p>
                  </a:txBody>
                  <a:tcPr marL="11215" marR="11215" marT="5607" marB="5607" anchor="ctr"/>
                </a:tc>
                <a:tc>
                  <a:txBody>
                    <a:bodyPr/>
                    <a:lstStyle/>
                    <a:p>
                      <a:pPr algn="ctr"/>
                      <a:r>
                        <a:rPr lang="en-US" sz="1100"/>
                        <a:t>0.95</a:t>
                      </a:r>
                    </a:p>
                  </a:txBody>
                  <a:tcPr marL="11215" marR="11215" marT="5607" marB="5607" anchor="ctr"/>
                </a:tc>
                <a:tc>
                  <a:txBody>
                    <a:bodyPr/>
                    <a:lstStyle/>
                    <a:p>
                      <a:pPr algn="ctr"/>
                      <a:r>
                        <a:rPr lang="en-US" sz="1100"/>
                        <a:t>0.90</a:t>
                      </a:r>
                    </a:p>
                  </a:txBody>
                  <a:tcPr marL="11215" marR="11215" marT="5607" marB="5607" anchor="ctr"/>
                </a:tc>
                <a:tc>
                  <a:txBody>
                    <a:bodyPr/>
                    <a:lstStyle/>
                    <a:p>
                      <a:pPr algn="ctr"/>
                      <a:r>
                        <a:rPr lang="en-US" sz="1100"/>
                        <a:t>0.92</a:t>
                      </a:r>
                    </a:p>
                  </a:txBody>
                  <a:tcPr marL="11215" marR="11215" marT="5607" marB="5607" anchor="ctr"/>
                </a:tc>
                <a:tc>
                  <a:txBody>
                    <a:bodyPr/>
                    <a:lstStyle/>
                    <a:p>
                      <a:pPr algn="ctr"/>
                      <a:r>
                        <a:rPr lang="en-US" sz="1100" dirty="0"/>
                        <a:t>7504</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1599701391"/>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dirty="0"/>
                        <a:t>0.47</a:t>
                      </a:r>
                    </a:p>
                  </a:txBody>
                  <a:tcPr marL="11215" marR="11215" marT="5607" marB="5607" anchor="ctr">
                    <a:solidFill>
                      <a:schemeClr val="accent5">
                        <a:lumMod val="40000"/>
                        <a:lumOff val="60000"/>
                      </a:schemeClr>
                    </a:solidFill>
                  </a:tcPr>
                </a:tc>
                <a:tc>
                  <a:txBody>
                    <a:bodyPr/>
                    <a:lstStyle/>
                    <a:p>
                      <a:pPr algn="ctr"/>
                      <a:r>
                        <a:rPr lang="en-US" sz="1100" dirty="0"/>
                        <a:t>0.67</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dirty="0"/>
                        <a:t>0.87</a:t>
                      </a:r>
                    </a:p>
                  </a:txBody>
                  <a:tcPr marL="11215" marR="11215" marT="5607" marB="5607" anchor="ctr"/>
                </a:tc>
                <a:extLst>
                  <a:ext uri="{0D108BD9-81ED-4DB2-BD59-A6C34878D82A}">
                    <a16:rowId xmlns:a16="http://schemas.microsoft.com/office/drawing/2014/main" val="537723619"/>
                  </a:ext>
                </a:extLst>
              </a:tr>
              <a:tr h="207760">
                <a:tc vMerge="1">
                  <a:txBody>
                    <a:bodyPr/>
                    <a:lstStyle/>
                    <a:p>
                      <a:pPr algn="ctr"/>
                      <a:endParaRPr lang="en-US" sz="1100" dirty="0"/>
                    </a:p>
                  </a:txBody>
                  <a:tcPr marL="11215" marR="11215" marT="5607" marB="5607" anchor="ctr"/>
                </a:tc>
                <a:tc vMerge="1">
                  <a:txBody>
                    <a:bodyPr/>
                    <a:lstStyle/>
                    <a:p>
                      <a:endParaRPr lang="en-US" sz="1100"/>
                    </a:p>
                  </a:txBody>
                  <a:tcPr marL="11215" marR="11215" marT="5607" marB="5607" anchor="ctr"/>
                </a:tc>
                <a:tc rowSpan="2">
                  <a:txBody>
                    <a:bodyPr/>
                    <a:lstStyle/>
                    <a:p>
                      <a:pPr algn="ctr"/>
                      <a:r>
                        <a:rPr lang="en-US" sz="1100" dirty="0" err="1"/>
                        <a:t>XGBoost</a:t>
                      </a:r>
                      <a:endParaRPr lang="en-US" sz="1100" dirty="0"/>
                    </a:p>
                  </a:txBody>
                  <a:tcPr marL="11215" marR="11215" marT="5607" marB="5607" anchor="ctr"/>
                </a:tc>
                <a:tc>
                  <a:txBody>
                    <a:bodyPr/>
                    <a:lstStyle/>
                    <a:p>
                      <a:pPr algn="ctr"/>
                      <a:r>
                        <a:rPr lang="en-US" sz="1100"/>
                        <a:t>0</a:t>
                      </a:r>
                    </a:p>
                  </a:txBody>
                  <a:tcPr marL="11215" marR="11215" marT="5607" marB="5607" anchor="ctr"/>
                </a:tc>
                <a:tc>
                  <a:txBody>
                    <a:bodyPr/>
                    <a:lstStyle/>
                    <a:p>
                      <a:pPr algn="ctr"/>
                      <a:r>
                        <a:rPr lang="en-US" sz="1100"/>
                        <a:t>0.94</a:t>
                      </a:r>
                    </a:p>
                  </a:txBody>
                  <a:tcPr marL="11215" marR="11215" marT="5607" marB="5607" anchor="ctr"/>
                </a:tc>
                <a:tc>
                  <a:txBody>
                    <a:bodyPr/>
                    <a:lstStyle/>
                    <a:p>
                      <a:pPr algn="ctr"/>
                      <a:r>
                        <a:rPr lang="en-US" sz="1100" dirty="0"/>
                        <a:t>0.92</a:t>
                      </a:r>
                    </a:p>
                  </a:txBody>
                  <a:tcPr marL="11215" marR="11215" marT="5607" marB="5607" anchor="ctr"/>
                </a:tc>
                <a:tc>
                  <a:txBody>
                    <a:bodyPr/>
                    <a:lstStyle/>
                    <a:p>
                      <a:pPr algn="ctr"/>
                      <a:r>
                        <a:rPr lang="en-US" sz="1100" dirty="0"/>
                        <a:t>0.93</a:t>
                      </a:r>
                    </a:p>
                  </a:txBody>
                  <a:tcPr marL="11215" marR="11215" marT="5607" marB="5607" anchor="ctr"/>
                </a:tc>
                <a:tc>
                  <a:txBody>
                    <a:bodyPr/>
                    <a:lstStyle/>
                    <a:p>
                      <a:pPr algn="ctr"/>
                      <a:r>
                        <a:rPr lang="en-US" sz="1100"/>
                        <a:t>7504</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354957904"/>
                  </a:ext>
                </a:extLst>
              </a:tr>
              <a:tr h="207760">
                <a:tc vMerge="1">
                  <a:txBody>
                    <a:bodyPr/>
                    <a:lstStyle/>
                    <a:p>
                      <a:pPr algn="ctr"/>
                      <a:endParaRPr lang="en-US" sz="1100" dirty="0"/>
                    </a:p>
                  </a:txBody>
                  <a:tcPr marL="11215" marR="11215" marT="5607" marB="5607" anchor="ctr"/>
                </a:tc>
                <a:tc vMerge="1">
                  <a:txBody>
                    <a:bodyPr/>
                    <a:lstStyle/>
                    <a:p>
                      <a:endParaRPr lang="en-US" sz="1100" dirty="0"/>
                    </a:p>
                  </a:txBody>
                  <a:tcPr marL="11215" marR="11215" marT="5607" marB="5607" anchor="ctr"/>
                </a:tc>
                <a:tc vMerge="1">
                  <a:txBody>
                    <a:bodyPr/>
                    <a:lstStyle/>
                    <a:p>
                      <a:pPr algn="ctr"/>
                      <a:endParaRPr lang="en-US" sz="1100" dirty="0"/>
                    </a:p>
                  </a:txBody>
                  <a:tcPr marL="11215" marR="11215" marT="5607" marB="5607" anchor="ctr"/>
                </a:tc>
                <a:tc>
                  <a:txBody>
                    <a:bodyPr/>
                    <a:lstStyle/>
                    <a:p>
                      <a:pPr algn="ctr"/>
                      <a:r>
                        <a:rPr lang="en-US" sz="1100"/>
                        <a:t>1</a:t>
                      </a:r>
                    </a:p>
                  </a:txBody>
                  <a:tcPr marL="11215" marR="11215" marT="5607" marB="5607" anchor="ctr"/>
                </a:tc>
                <a:tc>
                  <a:txBody>
                    <a:bodyPr/>
                    <a:lstStyle/>
                    <a:p>
                      <a:pPr algn="ctr"/>
                      <a:r>
                        <a:rPr lang="en-US" sz="1100"/>
                        <a:t>0.51</a:t>
                      </a:r>
                    </a:p>
                  </a:txBody>
                  <a:tcPr marL="11215" marR="11215" marT="5607" marB="5607" anchor="ctr"/>
                </a:tc>
                <a:tc>
                  <a:txBody>
                    <a:bodyPr/>
                    <a:lstStyle/>
                    <a:p>
                      <a:pPr algn="ctr"/>
                      <a:r>
                        <a:rPr lang="en-US" sz="1100" dirty="0"/>
                        <a:t>0.60</a:t>
                      </a:r>
                    </a:p>
                  </a:txBody>
                  <a:tcPr marL="11215" marR="11215" marT="5607" marB="5607" anchor="ctr">
                    <a:solidFill>
                      <a:srgbClr val="FFFF00"/>
                    </a:solidFill>
                  </a:tcPr>
                </a:tc>
                <a:tc>
                  <a:txBody>
                    <a:bodyPr/>
                    <a:lstStyle/>
                    <a:p>
                      <a:pPr algn="ctr"/>
                      <a:r>
                        <a:rPr lang="en-US" sz="1100" dirty="0"/>
                        <a:t>0.55</a:t>
                      </a:r>
                    </a:p>
                  </a:txBody>
                  <a:tcPr marL="11215" marR="11215" marT="5607" marB="5607" anchor="ctr">
                    <a:solidFill>
                      <a:schemeClr val="accent2">
                        <a:lumMod val="40000"/>
                        <a:lumOff val="60000"/>
                      </a:schemeClr>
                    </a:solidFill>
                  </a:tcPr>
                </a:tc>
                <a:tc>
                  <a:txBody>
                    <a:bodyPr/>
                    <a:lstStyle/>
                    <a:p>
                      <a:pPr algn="ctr"/>
                      <a:r>
                        <a:rPr lang="en-US" sz="1100"/>
                        <a:t>1058</a:t>
                      </a:r>
                    </a:p>
                  </a:txBody>
                  <a:tcPr marL="11215" marR="11215" marT="5607" marB="5607" anchor="ctr"/>
                </a:tc>
                <a:tc>
                  <a:txBody>
                    <a:bodyPr/>
                    <a:lstStyle/>
                    <a:p>
                      <a:pPr algn="ctr"/>
                      <a:r>
                        <a:rPr lang="en-US" sz="1100" dirty="0"/>
                        <a:t>0.88</a:t>
                      </a:r>
                    </a:p>
                  </a:txBody>
                  <a:tcPr marL="11215" marR="11215" marT="5607" marB="5607" anchor="ctr"/>
                </a:tc>
                <a:extLst>
                  <a:ext uri="{0D108BD9-81ED-4DB2-BD59-A6C34878D82A}">
                    <a16:rowId xmlns:a16="http://schemas.microsoft.com/office/drawing/2014/main" val="2502233175"/>
                  </a:ext>
                </a:extLst>
              </a:tr>
            </a:tbl>
          </a:graphicData>
        </a:graphic>
      </p:graphicFrame>
      <p:cxnSp>
        <p:nvCxnSpPr>
          <p:cNvPr id="6" name="Straight Arrow Connector 5">
            <a:extLst>
              <a:ext uri="{FF2B5EF4-FFF2-40B4-BE49-F238E27FC236}">
                <a16:creationId xmlns:a16="http://schemas.microsoft.com/office/drawing/2014/main" id="{C8C6ED2F-85F8-4F7D-A790-CFA21228F41F}"/>
              </a:ext>
            </a:extLst>
          </p:cNvPr>
          <p:cNvCxnSpPr/>
          <p:nvPr/>
        </p:nvCxnSpPr>
        <p:spPr>
          <a:xfrm>
            <a:off x="1908313" y="1828800"/>
            <a:ext cx="8348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E3B8DC5-AACB-42AB-870A-C684D6F0683B}"/>
              </a:ext>
            </a:extLst>
          </p:cNvPr>
          <p:cNvCxnSpPr/>
          <p:nvPr/>
        </p:nvCxnSpPr>
        <p:spPr>
          <a:xfrm>
            <a:off x="1908313" y="3902766"/>
            <a:ext cx="8348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401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2E86334-ACE8-4E09-B57F-96A7E74A14AE}"/>
              </a:ext>
            </a:extLst>
          </p:cNvPr>
          <p:cNvGraphicFramePr>
            <a:graphicFrameLocks noGrp="1"/>
          </p:cNvGraphicFramePr>
          <p:nvPr/>
        </p:nvGraphicFramePr>
        <p:xfrm>
          <a:off x="251791" y="155851"/>
          <a:ext cx="11847441" cy="6630672"/>
        </p:xfrm>
        <a:graphic>
          <a:graphicData uri="http://schemas.openxmlformats.org/drawingml/2006/table">
            <a:tbl>
              <a:tblPr>
                <a:tableStyleId>{5940675A-B579-460E-94D1-54222C63F5DA}</a:tableStyleId>
              </a:tblPr>
              <a:tblGrid>
                <a:gridCol w="1077040">
                  <a:extLst>
                    <a:ext uri="{9D8B030D-6E8A-4147-A177-3AD203B41FA5}">
                      <a16:colId xmlns:a16="http://schemas.microsoft.com/office/drawing/2014/main" val="3137466333"/>
                    </a:ext>
                  </a:extLst>
                </a:gridCol>
                <a:gridCol w="1077040">
                  <a:extLst>
                    <a:ext uri="{9D8B030D-6E8A-4147-A177-3AD203B41FA5}">
                      <a16:colId xmlns:a16="http://schemas.microsoft.com/office/drawing/2014/main" val="568637604"/>
                    </a:ext>
                  </a:extLst>
                </a:gridCol>
                <a:gridCol w="1343865">
                  <a:extLst>
                    <a:ext uri="{9D8B030D-6E8A-4147-A177-3AD203B41FA5}">
                      <a16:colId xmlns:a16="http://schemas.microsoft.com/office/drawing/2014/main" val="2108645401"/>
                    </a:ext>
                  </a:extLst>
                </a:gridCol>
                <a:gridCol w="810216">
                  <a:extLst>
                    <a:ext uri="{9D8B030D-6E8A-4147-A177-3AD203B41FA5}">
                      <a16:colId xmlns:a16="http://schemas.microsoft.com/office/drawing/2014/main" val="3088170691"/>
                    </a:ext>
                  </a:extLst>
                </a:gridCol>
                <a:gridCol w="1077040">
                  <a:extLst>
                    <a:ext uri="{9D8B030D-6E8A-4147-A177-3AD203B41FA5}">
                      <a16:colId xmlns:a16="http://schemas.microsoft.com/office/drawing/2014/main" val="3804337087"/>
                    </a:ext>
                  </a:extLst>
                </a:gridCol>
                <a:gridCol w="1077040">
                  <a:extLst>
                    <a:ext uri="{9D8B030D-6E8A-4147-A177-3AD203B41FA5}">
                      <a16:colId xmlns:a16="http://schemas.microsoft.com/office/drawing/2014/main" val="3607608493"/>
                    </a:ext>
                  </a:extLst>
                </a:gridCol>
                <a:gridCol w="1077040">
                  <a:extLst>
                    <a:ext uri="{9D8B030D-6E8A-4147-A177-3AD203B41FA5}">
                      <a16:colId xmlns:a16="http://schemas.microsoft.com/office/drawing/2014/main" val="3539618898"/>
                    </a:ext>
                  </a:extLst>
                </a:gridCol>
                <a:gridCol w="1077040">
                  <a:extLst>
                    <a:ext uri="{9D8B030D-6E8A-4147-A177-3AD203B41FA5}">
                      <a16:colId xmlns:a16="http://schemas.microsoft.com/office/drawing/2014/main" val="2228350688"/>
                    </a:ext>
                  </a:extLst>
                </a:gridCol>
                <a:gridCol w="1077040">
                  <a:extLst>
                    <a:ext uri="{9D8B030D-6E8A-4147-A177-3AD203B41FA5}">
                      <a16:colId xmlns:a16="http://schemas.microsoft.com/office/drawing/2014/main" val="3446646604"/>
                    </a:ext>
                  </a:extLst>
                </a:gridCol>
                <a:gridCol w="1077040">
                  <a:extLst>
                    <a:ext uri="{9D8B030D-6E8A-4147-A177-3AD203B41FA5}">
                      <a16:colId xmlns:a16="http://schemas.microsoft.com/office/drawing/2014/main" val="1320833243"/>
                    </a:ext>
                  </a:extLst>
                </a:gridCol>
                <a:gridCol w="1077040">
                  <a:extLst>
                    <a:ext uri="{9D8B030D-6E8A-4147-A177-3AD203B41FA5}">
                      <a16:colId xmlns:a16="http://schemas.microsoft.com/office/drawing/2014/main" val="3433387893"/>
                    </a:ext>
                  </a:extLst>
                </a:gridCol>
              </a:tblGrid>
              <a:tr h="267384">
                <a:tc>
                  <a:txBody>
                    <a:bodyPr/>
                    <a:lstStyle/>
                    <a:p>
                      <a:pPr algn="ctr"/>
                      <a:r>
                        <a:rPr lang="en-US" sz="1100" dirty="0"/>
                        <a:t>Dataset</a:t>
                      </a:r>
                    </a:p>
                  </a:txBody>
                  <a:tcPr marL="7621" marR="7621" marT="3810" marB="3810" anchor="ctr"/>
                </a:tc>
                <a:tc>
                  <a:txBody>
                    <a:bodyPr/>
                    <a:lstStyle/>
                    <a:p>
                      <a:pPr algn="ctr"/>
                      <a:r>
                        <a:rPr lang="en-US" sz="1100"/>
                        <a:t>Age Feature</a:t>
                      </a:r>
                    </a:p>
                  </a:txBody>
                  <a:tcPr marL="7621" marR="7621" marT="3810" marB="3810" anchor="ctr"/>
                </a:tc>
                <a:tc>
                  <a:txBody>
                    <a:bodyPr/>
                    <a:lstStyle/>
                    <a:p>
                      <a:pPr algn="ctr"/>
                      <a:r>
                        <a:rPr lang="en-US" sz="1100"/>
                        <a:t>Model</a:t>
                      </a:r>
                    </a:p>
                  </a:txBody>
                  <a:tcPr marL="7621" marR="7621" marT="3810" marB="3810" anchor="ctr"/>
                </a:tc>
                <a:tc>
                  <a:txBody>
                    <a:bodyPr/>
                    <a:lstStyle/>
                    <a:p>
                      <a:pPr algn="ctr"/>
                      <a:r>
                        <a:rPr lang="en-US" sz="1100" dirty="0"/>
                        <a:t>Class</a:t>
                      </a:r>
                    </a:p>
                  </a:txBody>
                  <a:tcPr marL="7621" marR="7621" marT="3810" marB="3810" anchor="ctr"/>
                </a:tc>
                <a:tc>
                  <a:txBody>
                    <a:bodyPr/>
                    <a:lstStyle/>
                    <a:p>
                      <a:pPr algn="ctr"/>
                      <a:r>
                        <a:rPr lang="en-US" sz="1100" dirty="0"/>
                        <a:t>Precision</a:t>
                      </a:r>
                    </a:p>
                  </a:txBody>
                  <a:tcPr marL="7621" marR="7621" marT="3810" marB="3810" anchor="ctr"/>
                </a:tc>
                <a:tc>
                  <a:txBody>
                    <a:bodyPr/>
                    <a:lstStyle/>
                    <a:p>
                      <a:pPr algn="ctr"/>
                      <a:r>
                        <a:rPr lang="en-US" sz="1100" dirty="0"/>
                        <a:t>Recall</a:t>
                      </a:r>
                    </a:p>
                  </a:txBody>
                  <a:tcPr marL="7621" marR="7621" marT="3810" marB="3810" anchor="ctr"/>
                </a:tc>
                <a:tc>
                  <a:txBody>
                    <a:bodyPr/>
                    <a:lstStyle/>
                    <a:p>
                      <a:pPr algn="ctr"/>
                      <a:r>
                        <a:rPr lang="en-US" sz="1100"/>
                        <a:t>F1-score</a:t>
                      </a:r>
                    </a:p>
                  </a:txBody>
                  <a:tcPr marL="7621" marR="7621" marT="3810" marB="3810" anchor="ctr"/>
                </a:tc>
                <a:tc>
                  <a:txBody>
                    <a:bodyPr/>
                    <a:lstStyle/>
                    <a:p>
                      <a:pPr algn="ctr"/>
                      <a:r>
                        <a:rPr lang="en-US" sz="1100"/>
                        <a:t>Support</a:t>
                      </a:r>
                    </a:p>
                  </a:txBody>
                  <a:tcPr marL="7621" marR="7621" marT="3810" marB="3810" anchor="ctr"/>
                </a:tc>
                <a:tc>
                  <a:txBody>
                    <a:bodyPr/>
                    <a:lstStyle/>
                    <a:p>
                      <a:pPr algn="ctr"/>
                      <a:r>
                        <a:rPr lang="en-US" sz="1100" dirty="0"/>
                        <a:t>Accuracy</a:t>
                      </a:r>
                    </a:p>
                  </a:txBody>
                  <a:tcPr marL="7621" marR="7621" marT="3810" marB="3810" anchor="ctr"/>
                </a:tc>
                <a:tc>
                  <a:txBody>
                    <a:bodyPr/>
                    <a:lstStyle/>
                    <a:p>
                      <a:pPr algn="ctr"/>
                      <a:r>
                        <a:rPr lang="en-US" sz="1100" dirty="0"/>
                        <a:t>Macro F1</a:t>
                      </a:r>
                    </a:p>
                  </a:txBody>
                  <a:tcPr marL="7621" marR="7621" marT="3810" marB="3810" anchor="ctr"/>
                </a:tc>
                <a:tc>
                  <a:txBody>
                    <a:bodyPr/>
                    <a:lstStyle/>
                    <a:p>
                      <a:pPr algn="ctr"/>
                      <a:r>
                        <a:rPr lang="en-US" sz="1100" dirty="0"/>
                        <a:t>Weighted F1</a:t>
                      </a:r>
                    </a:p>
                  </a:txBody>
                  <a:tcPr marL="7621" marR="7621" marT="3810" marB="3810" anchor="ctr"/>
                </a:tc>
                <a:extLst>
                  <a:ext uri="{0D108BD9-81ED-4DB2-BD59-A6C34878D82A}">
                    <a16:rowId xmlns:a16="http://schemas.microsoft.com/office/drawing/2014/main" val="2665343130"/>
                  </a:ext>
                </a:extLst>
              </a:tr>
              <a:tr h="267384">
                <a:tc rowSpan="10">
                  <a:txBody>
                    <a:bodyPr/>
                    <a:lstStyle/>
                    <a:p>
                      <a:pPr algn="ctr"/>
                      <a:r>
                        <a:rPr lang="en-US" sz="1100" dirty="0"/>
                        <a:t>A</a:t>
                      </a:r>
                    </a:p>
                  </a:txBody>
                  <a:tcPr marL="7621" marR="7621" marT="3810" marB="3810" anchor="ctr"/>
                </a:tc>
                <a:tc rowSpan="30">
                  <a:txBody>
                    <a:bodyPr/>
                    <a:lstStyle/>
                    <a:p>
                      <a:pPr algn="ctr"/>
                      <a:r>
                        <a:rPr lang="en-US" sz="1100" dirty="0">
                          <a:solidFill>
                            <a:srgbClr val="FF0000"/>
                          </a:solidFill>
                        </a:rPr>
                        <a:t>Without</a:t>
                      </a:r>
                    </a:p>
                  </a:txBody>
                  <a:tcPr marL="7621" marR="7621" marT="3810" marB="3810" anchor="ctr"/>
                </a:tc>
                <a:tc rowSpan="2">
                  <a:txBody>
                    <a:bodyPr/>
                    <a:lstStyle/>
                    <a:p>
                      <a:pPr algn="ctr"/>
                      <a:r>
                        <a:rPr lang="en-US" sz="1100" dirty="0"/>
                        <a:t>Logistic Regression</a:t>
                      </a:r>
                    </a:p>
                  </a:txBody>
                  <a:tcPr marL="7621" marR="7621" marT="3810" marB="3810" anchor="ctr"/>
                </a:tc>
                <a:tc>
                  <a:txBody>
                    <a:bodyPr/>
                    <a:lstStyle/>
                    <a:p>
                      <a:pPr algn="ctr"/>
                      <a:r>
                        <a:rPr lang="en-US" sz="1100" dirty="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0.67</a:t>
                      </a:r>
                    </a:p>
                  </a:txBody>
                  <a:tcPr marL="7621" marR="7621" marT="3810" marB="3810" anchor="ctr"/>
                </a:tc>
                <a:tc>
                  <a:txBody>
                    <a:bodyPr/>
                    <a:lstStyle/>
                    <a:p>
                      <a:pPr algn="ctr"/>
                      <a:r>
                        <a:rPr lang="en-US" sz="1100"/>
                        <a:t>0.79</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0.69</a:t>
                      </a:r>
                    </a:p>
                  </a:txBody>
                  <a:tcPr marL="7621" marR="7621" marT="3810" marB="3810" anchor="ctr"/>
                </a:tc>
                <a:tc>
                  <a:txBody>
                    <a:bodyPr/>
                    <a:lstStyle/>
                    <a:p>
                      <a:pPr algn="ctr"/>
                      <a:r>
                        <a:rPr lang="en-US" sz="1100"/>
                        <a:t>0.60</a:t>
                      </a:r>
                    </a:p>
                  </a:txBody>
                  <a:tcPr marL="7621" marR="7621" marT="3810" marB="3810" anchor="ctr"/>
                </a:tc>
                <a:tc>
                  <a:txBody>
                    <a:bodyPr/>
                    <a:lstStyle/>
                    <a:p>
                      <a:pPr algn="ctr"/>
                      <a:r>
                        <a:rPr lang="en-US" sz="1100"/>
                        <a:t>0.75</a:t>
                      </a:r>
                    </a:p>
                  </a:txBody>
                  <a:tcPr marL="7621" marR="7621" marT="3810" marB="3810" anchor="ctr"/>
                </a:tc>
                <a:extLst>
                  <a:ext uri="{0D108BD9-81ED-4DB2-BD59-A6C34878D82A}">
                    <a16:rowId xmlns:a16="http://schemas.microsoft.com/office/drawing/2014/main" val="3391230425"/>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0.27</a:t>
                      </a:r>
                    </a:p>
                  </a:txBody>
                  <a:tcPr marL="7621" marR="7621" marT="3810" marB="3810" anchor="ct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0.41</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037162843"/>
                  </a:ext>
                </a:extLst>
              </a:tr>
              <a:tr h="167819">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SVM</a:t>
                      </a:r>
                    </a:p>
                  </a:txBody>
                  <a:tcPr marL="7621" marR="7621" marT="3810" marB="3810" anchor="ctr">
                    <a:noFill/>
                  </a:tcP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0.73</a:t>
                      </a:r>
                    </a:p>
                  </a:txBody>
                  <a:tcPr marL="7621" marR="7621" marT="3810" marB="3810" anchor="ctr"/>
                </a:tc>
                <a:tc>
                  <a:txBody>
                    <a:bodyPr/>
                    <a:lstStyle/>
                    <a:p>
                      <a:pPr algn="ctr"/>
                      <a:r>
                        <a:rPr lang="en-US" sz="1100" dirty="0"/>
                        <a:t>0.83</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0.75</a:t>
                      </a:r>
                    </a:p>
                  </a:txBody>
                  <a:tcPr marL="7621" marR="7621" marT="3810" marB="3810" anchor="ctr"/>
                </a:tc>
                <a:tc>
                  <a:txBody>
                    <a:bodyPr/>
                    <a:lstStyle/>
                    <a:p>
                      <a:pPr algn="ctr"/>
                      <a:r>
                        <a:rPr lang="en-US" sz="1100"/>
                        <a:t>0.64</a:t>
                      </a:r>
                    </a:p>
                  </a:txBody>
                  <a:tcPr marL="7621" marR="7621" marT="3810" marB="3810" anchor="ctr"/>
                </a:tc>
                <a:tc>
                  <a:txBody>
                    <a:bodyPr/>
                    <a:lstStyle/>
                    <a:p>
                      <a:pPr algn="ctr"/>
                      <a:r>
                        <a:rPr lang="en-US" sz="1100"/>
                        <a:t>0.79</a:t>
                      </a:r>
                    </a:p>
                  </a:txBody>
                  <a:tcPr marL="7621" marR="7621" marT="3810" marB="3810" anchor="ctr"/>
                </a:tc>
                <a:extLst>
                  <a:ext uri="{0D108BD9-81ED-4DB2-BD59-A6C34878D82A}">
                    <a16:rowId xmlns:a16="http://schemas.microsoft.com/office/drawing/2014/main" val="31276634"/>
                  </a:ext>
                </a:extLst>
              </a:tr>
              <a:tr h="167819">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0.31</a:t>
                      </a:r>
                    </a:p>
                  </a:txBody>
                  <a:tcPr marL="7621" marR="7621" marT="3810" marB="3810" anchor="ctr"/>
                </a:tc>
                <a:tc>
                  <a:txBody>
                    <a:bodyPr/>
                    <a:lstStyle/>
                    <a:p>
                      <a:pPr algn="ctr"/>
                      <a:r>
                        <a:rPr lang="en-US" sz="1100" dirty="0"/>
                        <a:t>0.85</a:t>
                      </a:r>
                    </a:p>
                  </a:txBody>
                  <a:tcPr marL="7621" marR="7621" marT="3810" marB="3810" anchor="ctr">
                    <a:solidFill>
                      <a:schemeClr val="accent2">
                        <a:lumMod val="40000"/>
                        <a:lumOff val="60000"/>
                      </a:schemeClr>
                    </a:solidFill>
                  </a:tcPr>
                </a:tc>
                <a:tc>
                  <a:txBody>
                    <a:bodyPr/>
                    <a:lstStyle/>
                    <a:p>
                      <a:pPr algn="ctr"/>
                      <a:r>
                        <a:rPr lang="en-US" sz="1100" dirty="0"/>
                        <a:t>0.45</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3106967878"/>
                  </a:ext>
                </a:extLst>
              </a:tr>
              <a:tr h="167819">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Random Forest</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0.98</a:t>
                      </a:r>
                    </a:p>
                  </a:txBody>
                  <a:tcPr marL="7621" marR="7621" marT="3810" marB="3810" anchor="ctr"/>
                </a:tc>
                <a:tc>
                  <a:txBody>
                    <a:bodyPr/>
                    <a:lstStyle/>
                    <a:p>
                      <a:pPr algn="ctr"/>
                      <a:r>
                        <a:rPr lang="en-US" sz="1100" dirty="0"/>
                        <a:t>0.62</a:t>
                      </a:r>
                    </a:p>
                  </a:txBody>
                  <a:tcPr marL="7621" marR="7621" marT="3810" marB="3810" anchor="ctr"/>
                </a:tc>
                <a:tc>
                  <a:txBody>
                    <a:bodyPr/>
                    <a:lstStyle/>
                    <a:p>
                      <a:pPr algn="ctr"/>
                      <a:r>
                        <a:rPr lang="en-US" sz="1100" dirty="0"/>
                        <a:t>0.76</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0.66</a:t>
                      </a:r>
                    </a:p>
                  </a:txBody>
                  <a:tcPr marL="7621" marR="7621" marT="3810" marB="3810" anchor="ctr"/>
                </a:tc>
                <a:tc>
                  <a:txBody>
                    <a:bodyPr/>
                    <a:lstStyle/>
                    <a:p>
                      <a:pPr algn="ctr"/>
                      <a:r>
                        <a:rPr lang="en-US" sz="1100"/>
                        <a:t>0.58</a:t>
                      </a:r>
                    </a:p>
                  </a:txBody>
                  <a:tcPr marL="7621" marR="7621" marT="3810" marB="3810" anchor="ctr"/>
                </a:tc>
                <a:tc>
                  <a:txBody>
                    <a:bodyPr/>
                    <a:lstStyle/>
                    <a:p>
                      <a:pPr algn="ctr"/>
                      <a:r>
                        <a:rPr lang="en-US" sz="1100"/>
                        <a:t>0.72</a:t>
                      </a:r>
                    </a:p>
                  </a:txBody>
                  <a:tcPr marL="7621" marR="7621" marT="3810" marB="3810" anchor="ctr"/>
                </a:tc>
                <a:extLst>
                  <a:ext uri="{0D108BD9-81ED-4DB2-BD59-A6C34878D82A}">
                    <a16:rowId xmlns:a16="http://schemas.microsoft.com/office/drawing/2014/main" val="729702595"/>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0.25</a:t>
                      </a:r>
                    </a:p>
                  </a:txBody>
                  <a:tcPr marL="7621" marR="7621" marT="3810" marB="3810" anchor="ct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0.39</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382377700"/>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Gradient Boosting</a:t>
                      </a:r>
                    </a:p>
                  </a:txBody>
                  <a:tcPr marL="7621" marR="7621" marT="3810" marB="3810" anchor="ctr"/>
                </a:tc>
                <a:tc>
                  <a:txBody>
                    <a:bodyPr/>
                    <a:lstStyle/>
                    <a:p>
                      <a:pPr algn="ctr"/>
                      <a:r>
                        <a:rPr lang="en-US" sz="1100" dirty="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0.49</a:t>
                      </a:r>
                    </a:p>
                  </a:txBody>
                  <a:tcPr marL="7621" marR="7621" marT="3810" marB="3810" anchor="ctr"/>
                </a:tc>
                <a:tc>
                  <a:txBody>
                    <a:bodyPr/>
                    <a:lstStyle/>
                    <a:p>
                      <a:pPr algn="ctr"/>
                      <a:r>
                        <a:rPr lang="en-US" sz="1100" dirty="0"/>
                        <a:t>0.65</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0.54</a:t>
                      </a:r>
                    </a:p>
                  </a:txBody>
                  <a:tcPr marL="7621" marR="7621" marT="3810" marB="3810" anchor="ctr"/>
                </a:tc>
                <a:tc>
                  <a:txBody>
                    <a:bodyPr/>
                    <a:lstStyle/>
                    <a:p>
                      <a:pPr algn="ctr"/>
                      <a:r>
                        <a:rPr lang="en-US" sz="1100"/>
                        <a:t>0.49</a:t>
                      </a:r>
                    </a:p>
                  </a:txBody>
                  <a:tcPr marL="7621" marR="7621" marT="3810" marB="3810" anchor="ctr"/>
                </a:tc>
                <a:tc>
                  <a:txBody>
                    <a:bodyPr/>
                    <a:lstStyle/>
                    <a:p>
                      <a:pPr algn="ctr"/>
                      <a:r>
                        <a:rPr lang="en-US" sz="1100"/>
                        <a:t>0.61</a:t>
                      </a:r>
                    </a:p>
                  </a:txBody>
                  <a:tcPr marL="7621" marR="7621" marT="3810" marB="3810" anchor="ctr"/>
                </a:tc>
                <a:extLst>
                  <a:ext uri="{0D108BD9-81ED-4DB2-BD59-A6C34878D82A}">
                    <a16:rowId xmlns:a16="http://schemas.microsoft.com/office/drawing/2014/main" val="2899487046"/>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dirty="0"/>
                        <a:t>1</a:t>
                      </a:r>
                    </a:p>
                  </a:txBody>
                  <a:tcPr marL="7621" marR="7621" marT="3810" marB="3810" anchor="ctr"/>
                </a:tc>
                <a:tc>
                  <a:txBody>
                    <a:bodyPr/>
                    <a:lstStyle/>
                    <a:p>
                      <a:pPr algn="ctr"/>
                      <a:r>
                        <a:rPr lang="en-US" sz="1100"/>
                        <a:t>0.20</a:t>
                      </a:r>
                    </a:p>
                  </a:txBody>
                  <a:tcPr marL="7621" marR="7621" marT="3810" marB="3810" anchor="ct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0.33</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450703295"/>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err="1"/>
                        <a:t>XGBoost</a:t>
                      </a:r>
                      <a:endParaRPr lang="en-US" sz="1100" dirty="0"/>
                    </a:p>
                  </a:txBody>
                  <a:tcPr marL="7621" marR="7621" marT="3810" marB="3810" anchor="ctr"/>
                </a:tc>
                <a:tc>
                  <a:txBody>
                    <a:bodyPr/>
                    <a:lstStyle/>
                    <a:p>
                      <a:pPr algn="ctr"/>
                      <a:r>
                        <a:rPr lang="en-US" sz="1100" dirty="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0.49</a:t>
                      </a:r>
                    </a:p>
                  </a:txBody>
                  <a:tcPr marL="7621" marR="7621" marT="3810" marB="3810" anchor="ctr"/>
                </a:tc>
                <a:tc>
                  <a:txBody>
                    <a:bodyPr/>
                    <a:lstStyle/>
                    <a:p>
                      <a:pPr algn="ctr"/>
                      <a:r>
                        <a:rPr lang="en-US" sz="1100" dirty="0"/>
                        <a:t>0.65</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0.54</a:t>
                      </a:r>
                    </a:p>
                  </a:txBody>
                  <a:tcPr marL="7621" marR="7621" marT="3810" marB="3810" anchor="ctr"/>
                </a:tc>
                <a:tc>
                  <a:txBody>
                    <a:bodyPr/>
                    <a:lstStyle/>
                    <a:p>
                      <a:pPr algn="ctr"/>
                      <a:r>
                        <a:rPr lang="en-US" sz="1100"/>
                        <a:t>0.49</a:t>
                      </a:r>
                    </a:p>
                  </a:txBody>
                  <a:tcPr marL="7621" marR="7621" marT="3810" marB="3810" anchor="ctr"/>
                </a:tc>
                <a:tc>
                  <a:txBody>
                    <a:bodyPr/>
                    <a:lstStyle/>
                    <a:p>
                      <a:pPr algn="ctr"/>
                      <a:r>
                        <a:rPr lang="en-US" sz="1100"/>
                        <a:t>0.61</a:t>
                      </a:r>
                    </a:p>
                  </a:txBody>
                  <a:tcPr marL="7621" marR="7621" marT="3810" marB="3810" anchor="ctr"/>
                </a:tc>
                <a:extLst>
                  <a:ext uri="{0D108BD9-81ED-4DB2-BD59-A6C34878D82A}">
                    <a16:rowId xmlns:a16="http://schemas.microsoft.com/office/drawing/2014/main" val="1737575360"/>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0.20</a:t>
                      </a:r>
                    </a:p>
                  </a:txBody>
                  <a:tcPr marL="7621" marR="7621" marT="3810" marB="3810" anchor="ct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0.33</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662093011"/>
                  </a:ext>
                </a:extLst>
              </a:tr>
              <a:tr h="267384">
                <a:tc rowSpan="10">
                  <a:txBody>
                    <a:bodyPr/>
                    <a:lstStyle/>
                    <a:p>
                      <a:pPr algn="ctr"/>
                      <a:r>
                        <a:rPr lang="en-US" sz="1100" dirty="0"/>
                        <a:t>B</a:t>
                      </a:r>
                    </a:p>
                  </a:txBody>
                  <a:tcPr marL="7621" marR="7621" marT="3810" marB="3810" anchor="ctr">
                    <a:solidFill>
                      <a:srgbClr val="92D050"/>
                    </a:solidFill>
                  </a:tcPr>
                </a:tc>
                <a:tc vMerge="1">
                  <a:txBody>
                    <a:bodyPr/>
                    <a:lstStyle/>
                    <a:p>
                      <a:endParaRPr lang="en-US" sz="1100"/>
                    </a:p>
                  </a:txBody>
                  <a:tcPr marL="7621" marR="7621" marT="3810" marB="3810" anchor="ctr"/>
                </a:tc>
                <a:tc rowSpan="2">
                  <a:txBody>
                    <a:bodyPr/>
                    <a:lstStyle/>
                    <a:p>
                      <a:pPr algn="ctr"/>
                      <a:r>
                        <a:rPr lang="en-US" sz="1100" dirty="0"/>
                        <a:t>Logistic Regression</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0.67</a:t>
                      </a:r>
                    </a:p>
                  </a:txBody>
                  <a:tcPr marL="7621" marR="7621" marT="3810" marB="3810" anchor="ctr"/>
                </a:tc>
                <a:tc>
                  <a:txBody>
                    <a:bodyPr/>
                    <a:lstStyle/>
                    <a:p>
                      <a:pPr algn="ctr"/>
                      <a:r>
                        <a:rPr lang="en-US" sz="1100" dirty="0"/>
                        <a:t>0.79</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0.69</a:t>
                      </a:r>
                    </a:p>
                  </a:txBody>
                  <a:tcPr marL="7621" marR="7621" marT="3810" marB="3810" anchor="ctr"/>
                </a:tc>
                <a:tc>
                  <a:txBody>
                    <a:bodyPr/>
                    <a:lstStyle/>
                    <a:p>
                      <a:pPr algn="ctr"/>
                      <a:r>
                        <a:rPr lang="en-US" sz="1100"/>
                        <a:t>0.60</a:t>
                      </a:r>
                    </a:p>
                  </a:txBody>
                  <a:tcPr marL="7621" marR="7621" marT="3810" marB="3810" anchor="ctr"/>
                </a:tc>
                <a:tc>
                  <a:txBody>
                    <a:bodyPr/>
                    <a:lstStyle/>
                    <a:p>
                      <a:pPr algn="ctr"/>
                      <a:r>
                        <a:rPr lang="en-US" sz="1100"/>
                        <a:t>0.75</a:t>
                      </a:r>
                    </a:p>
                  </a:txBody>
                  <a:tcPr marL="7621" marR="7621" marT="3810" marB="3810" anchor="ctr"/>
                </a:tc>
                <a:extLst>
                  <a:ext uri="{0D108BD9-81ED-4DB2-BD59-A6C34878D82A}">
                    <a16:rowId xmlns:a16="http://schemas.microsoft.com/office/drawing/2014/main" val="3917326824"/>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0.27</a:t>
                      </a:r>
                    </a:p>
                  </a:txBody>
                  <a:tcPr marL="7621" marR="7621" marT="3810" marB="3810" anchor="ctr"/>
                </a:tc>
                <a:tc>
                  <a:txBody>
                    <a:bodyPr/>
                    <a:lstStyle/>
                    <a:p>
                      <a:pPr algn="ctr"/>
                      <a:r>
                        <a:rPr lang="en-US" sz="1100" dirty="0"/>
                        <a:t>0.85</a:t>
                      </a:r>
                    </a:p>
                  </a:txBody>
                  <a:tcPr marL="7621" marR="7621" marT="3810" marB="3810" anchor="ctr">
                    <a:solidFill>
                      <a:schemeClr val="accent2">
                        <a:lumMod val="40000"/>
                        <a:lumOff val="60000"/>
                      </a:schemeClr>
                    </a:solidFill>
                  </a:tcPr>
                </a:tc>
                <a:tc>
                  <a:txBody>
                    <a:bodyPr/>
                    <a:lstStyle/>
                    <a:p>
                      <a:pPr algn="ctr"/>
                      <a:r>
                        <a:rPr lang="en-US" sz="1100" dirty="0"/>
                        <a:t>0.41</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3841167105"/>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a:t>SVM</a:t>
                      </a:r>
                    </a:p>
                  </a:txBody>
                  <a:tcPr marL="7621" marR="7621" marT="3810" marB="3810" anchor="ctr">
                    <a:solidFill>
                      <a:srgbClr val="92D050"/>
                    </a:solidFill>
                  </a:tcP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0.73</a:t>
                      </a:r>
                    </a:p>
                  </a:txBody>
                  <a:tcPr marL="7621" marR="7621" marT="3810" marB="3810" anchor="ctr"/>
                </a:tc>
                <a:tc>
                  <a:txBody>
                    <a:bodyPr/>
                    <a:lstStyle/>
                    <a:p>
                      <a:pPr algn="ctr"/>
                      <a:r>
                        <a:rPr lang="en-US" sz="1100" dirty="0"/>
                        <a:t>0.83</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0.75</a:t>
                      </a:r>
                    </a:p>
                  </a:txBody>
                  <a:tcPr marL="7621" marR="7621" marT="3810" marB="3810" anchor="ctr"/>
                </a:tc>
                <a:tc>
                  <a:txBody>
                    <a:bodyPr/>
                    <a:lstStyle/>
                    <a:p>
                      <a:pPr algn="ctr"/>
                      <a:r>
                        <a:rPr lang="en-US" sz="1100"/>
                        <a:t>0.64</a:t>
                      </a:r>
                    </a:p>
                  </a:txBody>
                  <a:tcPr marL="7621" marR="7621" marT="3810" marB="3810" anchor="ctr"/>
                </a:tc>
                <a:tc>
                  <a:txBody>
                    <a:bodyPr/>
                    <a:lstStyle/>
                    <a:p>
                      <a:pPr algn="ctr"/>
                      <a:r>
                        <a:rPr lang="en-US" sz="1100" dirty="0"/>
                        <a:t>0.79</a:t>
                      </a:r>
                    </a:p>
                  </a:txBody>
                  <a:tcPr marL="7621" marR="7621" marT="3810" marB="3810" anchor="ctr"/>
                </a:tc>
                <a:extLst>
                  <a:ext uri="{0D108BD9-81ED-4DB2-BD59-A6C34878D82A}">
                    <a16:rowId xmlns:a16="http://schemas.microsoft.com/office/drawing/2014/main" val="3107454518"/>
                  </a:ext>
                </a:extLst>
              </a:tr>
              <a:tr h="167819">
                <a:tc vMerge="1">
                  <a:txBody>
                    <a:bodyPr/>
                    <a:lstStyle/>
                    <a:p>
                      <a:pPr algn="ctr"/>
                      <a:endParaRPr lang="en-US" sz="110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0.31</a:t>
                      </a:r>
                    </a:p>
                  </a:txBody>
                  <a:tcPr marL="7621" marR="7621" marT="3810" marB="3810" anchor="ctr">
                    <a:solidFill>
                      <a:schemeClr val="accent1">
                        <a:lumMod val="40000"/>
                        <a:lumOff val="60000"/>
                      </a:schemeClr>
                    </a:solidFill>
                  </a:tcP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0.45</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3095916092"/>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a:t>Random Forest</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0.98</a:t>
                      </a:r>
                    </a:p>
                  </a:txBody>
                  <a:tcPr marL="7621" marR="7621" marT="3810" marB="3810" anchor="ctr"/>
                </a:tc>
                <a:tc>
                  <a:txBody>
                    <a:bodyPr/>
                    <a:lstStyle/>
                    <a:p>
                      <a:pPr algn="ctr"/>
                      <a:r>
                        <a:rPr lang="en-US" sz="1100" dirty="0"/>
                        <a:t>0.62</a:t>
                      </a:r>
                    </a:p>
                  </a:txBody>
                  <a:tcPr marL="7621" marR="7621" marT="3810" marB="3810" anchor="ctr"/>
                </a:tc>
                <a:tc>
                  <a:txBody>
                    <a:bodyPr/>
                    <a:lstStyle/>
                    <a:p>
                      <a:pPr algn="ctr"/>
                      <a:r>
                        <a:rPr lang="en-US" sz="1100" dirty="0"/>
                        <a:t>0.76</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0.66</a:t>
                      </a:r>
                    </a:p>
                  </a:txBody>
                  <a:tcPr marL="7621" marR="7621" marT="3810" marB="3810" anchor="ctr"/>
                </a:tc>
                <a:tc>
                  <a:txBody>
                    <a:bodyPr/>
                    <a:lstStyle/>
                    <a:p>
                      <a:pPr algn="ctr"/>
                      <a:r>
                        <a:rPr lang="en-US" sz="1100"/>
                        <a:t>0.58</a:t>
                      </a:r>
                    </a:p>
                  </a:txBody>
                  <a:tcPr marL="7621" marR="7621" marT="3810" marB="3810" anchor="ctr"/>
                </a:tc>
                <a:tc>
                  <a:txBody>
                    <a:bodyPr/>
                    <a:lstStyle/>
                    <a:p>
                      <a:pPr algn="ctr"/>
                      <a:r>
                        <a:rPr lang="en-US" sz="1100" dirty="0"/>
                        <a:t>0.72</a:t>
                      </a:r>
                    </a:p>
                  </a:txBody>
                  <a:tcPr marL="7621" marR="7621" marT="3810" marB="3810" anchor="ctr"/>
                </a:tc>
                <a:extLst>
                  <a:ext uri="{0D108BD9-81ED-4DB2-BD59-A6C34878D82A}">
                    <a16:rowId xmlns:a16="http://schemas.microsoft.com/office/drawing/2014/main" val="3575196908"/>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0.25</a:t>
                      </a:r>
                    </a:p>
                  </a:txBody>
                  <a:tcPr marL="7621" marR="7621" marT="3810" marB="3810" anchor="ct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0.39</a:t>
                      </a:r>
                    </a:p>
                  </a:txBody>
                  <a:tcPr marL="7621" marR="7621" marT="3810" marB="3810" anchor="ctr">
                    <a:solidFill>
                      <a:srgbClr val="FFFF00"/>
                    </a:solidFill>
                  </a:tcPr>
                </a:tc>
                <a:tc>
                  <a:txBody>
                    <a:bodyPr/>
                    <a:lstStyle/>
                    <a:p>
                      <a:pPr algn="ctr"/>
                      <a:r>
                        <a:rPr lang="en-US" sz="1100" dirty="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1391948384"/>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Gradient Boosting</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0.48</a:t>
                      </a:r>
                    </a:p>
                  </a:txBody>
                  <a:tcPr marL="7621" marR="7621" marT="3810" marB="3810" anchor="ctr"/>
                </a:tc>
                <a:tc>
                  <a:txBody>
                    <a:bodyPr/>
                    <a:lstStyle/>
                    <a:p>
                      <a:pPr algn="ctr"/>
                      <a:r>
                        <a:rPr lang="en-US" sz="1100" dirty="0"/>
                        <a:t>0.65</a:t>
                      </a:r>
                    </a:p>
                  </a:txBody>
                  <a:tcPr marL="7621" marR="7621" marT="3810" marB="3810" anchor="ctr"/>
                </a:tc>
                <a:tc>
                  <a:txBody>
                    <a:bodyPr/>
                    <a:lstStyle/>
                    <a:p>
                      <a:pPr algn="ctr"/>
                      <a:r>
                        <a:rPr lang="en-US" sz="1100" dirty="0"/>
                        <a:t>9380</a:t>
                      </a:r>
                    </a:p>
                  </a:txBody>
                  <a:tcPr marL="7621" marR="7621" marT="3810" marB="3810" anchor="ctr"/>
                </a:tc>
                <a:tc>
                  <a:txBody>
                    <a:bodyPr/>
                    <a:lstStyle/>
                    <a:p>
                      <a:pPr algn="ctr"/>
                      <a:r>
                        <a:rPr lang="en-US" sz="1100" dirty="0"/>
                        <a:t>0.54</a:t>
                      </a:r>
                    </a:p>
                  </a:txBody>
                  <a:tcPr marL="7621" marR="7621" marT="3810" marB="3810" anchor="ctr"/>
                </a:tc>
                <a:tc>
                  <a:txBody>
                    <a:bodyPr/>
                    <a:lstStyle/>
                    <a:p>
                      <a:pPr algn="ctr"/>
                      <a:r>
                        <a:rPr lang="en-US" sz="1100" dirty="0"/>
                        <a:t>0.49</a:t>
                      </a:r>
                    </a:p>
                  </a:txBody>
                  <a:tcPr marL="7621" marR="7621" marT="3810" marB="3810" anchor="ctr"/>
                </a:tc>
                <a:tc>
                  <a:txBody>
                    <a:bodyPr/>
                    <a:lstStyle/>
                    <a:p>
                      <a:pPr algn="ctr"/>
                      <a:r>
                        <a:rPr lang="en-US" sz="1100" dirty="0"/>
                        <a:t>0.61</a:t>
                      </a:r>
                    </a:p>
                  </a:txBody>
                  <a:tcPr marL="7621" marR="7621" marT="3810" marB="3810" anchor="ctr"/>
                </a:tc>
                <a:extLst>
                  <a:ext uri="{0D108BD9-81ED-4DB2-BD59-A6C34878D82A}">
                    <a16:rowId xmlns:a16="http://schemas.microsoft.com/office/drawing/2014/main" val="4259722537"/>
                  </a:ext>
                </a:extLst>
              </a:tr>
              <a:tr h="267384">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0.20</a:t>
                      </a:r>
                    </a:p>
                  </a:txBody>
                  <a:tcPr marL="7621" marR="7621" marT="3810" marB="3810" anchor="ct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0.32</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2869768070"/>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err="1"/>
                        <a:t>XGBoost</a:t>
                      </a:r>
                      <a:endParaRPr lang="en-US" sz="1100" dirty="0"/>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0.98</a:t>
                      </a:r>
                    </a:p>
                  </a:txBody>
                  <a:tcPr marL="7621" marR="7621" marT="3810" marB="3810" anchor="ctr"/>
                </a:tc>
                <a:tc>
                  <a:txBody>
                    <a:bodyPr/>
                    <a:lstStyle/>
                    <a:p>
                      <a:pPr algn="ctr"/>
                      <a:r>
                        <a:rPr lang="en-US" sz="1100" dirty="0"/>
                        <a:t>0.49</a:t>
                      </a:r>
                    </a:p>
                  </a:txBody>
                  <a:tcPr marL="7621" marR="7621" marT="3810" marB="3810" anchor="ctr"/>
                </a:tc>
                <a:tc>
                  <a:txBody>
                    <a:bodyPr/>
                    <a:lstStyle/>
                    <a:p>
                      <a:pPr algn="ctr"/>
                      <a:r>
                        <a:rPr lang="en-US" sz="1100" dirty="0"/>
                        <a:t>0.65</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0.54</a:t>
                      </a:r>
                    </a:p>
                  </a:txBody>
                  <a:tcPr marL="7621" marR="7621" marT="3810" marB="3810" anchor="ctr"/>
                </a:tc>
                <a:tc>
                  <a:txBody>
                    <a:bodyPr/>
                    <a:lstStyle/>
                    <a:p>
                      <a:pPr algn="ctr"/>
                      <a:r>
                        <a:rPr lang="en-US" sz="1100"/>
                        <a:t>0.49</a:t>
                      </a:r>
                    </a:p>
                  </a:txBody>
                  <a:tcPr marL="7621" marR="7621" marT="3810" marB="3810" anchor="ctr"/>
                </a:tc>
                <a:tc>
                  <a:txBody>
                    <a:bodyPr/>
                    <a:lstStyle/>
                    <a:p>
                      <a:pPr algn="ctr"/>
                      <a:r>
                        <a:rPr lang="en-US" sz="1100" dirty="0"/>
                        <a:t>0.61</a:t>
                      </a:r>
                    </a:p>
                  </a:txBody>
                  <a:tcPr marL="7621" marR="7621" marT="3810" marB="3810" anchor="ctr"/>
                </a:tc>
                <a:extLst>
                  <a:ext uri="{0D108BD9-81ED-4DB2-BD59-A6C34878D82A}">
                    <a16:rowId xmlns:a16="http://schemas.microsoft.com/office/drawing/2014/main" val="816474980"/>
                  </a:ext>
                </a:extLst>
              </a:tr>
              <a:tr h="167819">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0.20</a:t>
                      </a:r>
                    </a:p>
                  </a:txBody>
                  <a:tcPr marL="7621" marR="7621" marT="3810" marB="3810" anchor="ctr"/>
                </a:tc>
                <a:tc>
                  <a:txBody>
                    <a:bodyPr/>
                    <a:lstStyle/>
                    <a:p>
                      <a:pPr algn="ctr"/>
                      <a:r>
                        <a:rPr lang="en-US" sz="1100" dirty="0"/>
                        <a:t>0.92</a:t>
                      </a:r>
                    </a:p>
                  </a:txBody>
                  <a:tcPr marL="7621" marR="7621" marT="3810" marB="3810" anchor="ctr">
                    <a:solidFill>
                      <a:schemeClr val="accent2">
                        <a:lumMod val="40000"/>
                        <a:lumOff val="60000"/>
                      </a:schemeClr>
                    </a:solidFill>
                  </a:tcPr>
                </a:tc>
                <a:tc>
                  <a:txBody>
                    <a:bodyPr/>
                    <a:lstStyle/>
                    <a:p>
                      <a:pPr algn="ctr"/>
                      <a:r>
                        <a:rPr lang="en-US" sz="1100" dirty="0"/>
                        <a:t>0.33</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dirty="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3013076376"/>
                  </a:ext>
                </a:extLst>
              </a:tr>
              <a:tr h="267384">
                <a:tc rowSpan="10">
                  <a:txBody>
                    <a:bodyPr/>
                    <a:lstStyle/>
                    <a:p>
                      <a:pPr algn="ctr"/>
                      <a:r>
                        <a:rPr lang="en-US" sz="1100" dirty="0"/>
                        <a:t>C</a:t>
                      </a:r>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a:t>Logistic Regression</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0.67</a:t>
                      </a:r>
                    </a:p>
                  </a:txBody>
                  <a:tcPr marL="7621" marR="7621" marT="3810" marB="3810" anchor="ctr"/>
                </a:tc>
                <a:tc>
                  <a:txBody>
                    <a:bodyPr/>
                    <a:lstStyle/>
                    <a:p>
                      <a:pPr algn="ctr"/>
                      <a:r>
                        <a:rPr lang="en-US" sz="1100" dirty="0"/>
                        <a:t>0.79</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0.69</a:t>
                      </a:r>
                    </a:p>
                  </a:txBody>
                  <a:tcPr marL="7621" marR="7621" marT="3810" marB="3810" anchor="ctr"/>
                </a:tc>
                <a:tc>
                  <a:txBody>
                    <a:bodyPr/>
                    <a:lstStyle/>
                    <a:p>
                      <a:pPr algn="ctr"/>
                      <a:r>
                        <a:rPr lang="en-US" sz="1100" dirty="0"/>
                        <a:t>0.60</a:t>
                      </a:r>
                    </a:p>
                  </a:txBody>
                  <a:tcPr marL="7621" marR="7621" marT="3810" marB="3810" anchor="ctr"/>
                </a:tc>
                <a:tc>
                  <a:txBody>
                    <a:bodyPr/>
                    <a:lstStyle/>
                    <a:p>
                      <a:pPr algn="ctr"/>
                      <a:r>
                        <a:rPr lang="en-US" sz="1100"/>
                        <a:t>0.74</a:t>
                      </a:r>
                    </a:p>
                  </a:txBody>
                  <a:tcPr marL="7621" marR="7621" marT="3810" marB="3810" anchor="ctr"/>
                </a:tc>
                <a:extLst>
                  <a:ext uri="{0D108BD9-81ED-4DB2-BD59-A6C34878D82A}">
                    <a16:rowId xmlns:a16="http://schemas.microsoft.com/office/drawing/2014/main" val="4123737836"/>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0.26</a:t>
                      </a:r>
                    </a:p>
                  </a:txBody>
                  <a:tcPr marL="7621" marR="7621" marT="3810" marB="3810" anchor="ctr"/>
                </a:tc>
                <a:tc>
                  <a:txBody>
                    <a:bodyPr/>
                    <a:lstStyle/>
                    <a:p>
                      <a:pPr algn="ctr"/>
                      <a:r>
                        <a:rPr lang="en-US" sz="1100" dirty="0"/>
                        <a:t>0.84</a:t>
                      </a:r>
                    </a:p>
                  </a:txBody>
                  <a:tcPr marL="7621" marR="7621" marT="3810" marB="3810" anchor="ctr">
                    <a:solidFill>
                      <a:schemeClr val="accent2">
                        <a:lumMod val="40000"/>
                        <a:lumOff val="60000"/>
                      </a:schemeClr>
                    </a:solidFill>
                  </a:tcPr>
                </a:tc>
                <a:tc>
                  <a:txBody>
                    <a:bodyPr/>
                    <a:lstStyle/>
                    <a:p>
                      <a:pPr algn="ctr"/>
                      <a:r>
                        <a:rPr lang="en-US" sz="1100" dirty="0"/>
                        <a:t>0.40</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3177266365"/>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a:t>SVM</a:t>
                      </a:r>
                    </a:p>
                  </a:txBody>
                  <a:tcPr marL="7621" marR="7621" marT="3810" marB="3810" anchor="ctr">
                    <a:noFill/>
                  </a:tcP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0.72</a:t>
                      </a:r>
                    </a:p>
                  </a:txBody>
                  <a:tcPr marL="7621" marR="7621" marT="3810" marB="3810" anchor="ctr"/>
                </a:tc>
                <a:tc>
                  <a:txBody>
                    <a:bodyPr/>
                    <a:lstStyle/>
                    <a:p>
                      <a:pPr algn="ctr"/>
                      <a:r>
                        <a:rPr lang="en-US" sz="1100" dirty="0"/>
                        <a:t>0.83</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0.74</a:t>
                      </a:r>
                    </a:p>
                  </a:txBody>
                  <a:tcPr marL="7621" marR="7621" marT="3810" marB="3810" anchor="ctr"/>
                </a:tc>
                <a:tc>
                  <a:txBody>
                    <a:bodyPr/>
                    <a:lstStyle/>
                    <a:p>
                      <a:pPr algn="ctr"/>
                      <a:r>
                        <a:rPr lang="en-US" sz="1100"/>
                        <a:t>0.64</a:t>
                      </a:r>
                    </a:p>
                  </a:txBody>
                  <a:tcPr marL="7621" marR="7621" marT="3810" marB="3810" anchor="ctr"/>
                </a:tc>
                <a:tc>
                  <a:txBody>
                    <a:bodyPr/>
                    <a:lstStyle/>
                    <a:p>
                      <a:pPr algn="ctr"/>
                      <a:r>
                        <a:rPr lang="en-US" sz="1100" dirty="0"/>
                        <a:t>0.78</a:t>
                      </a:r>
                    </a:p>
                  </a:txBody>
                  <a:tcPr marL="7621" marR="7621" marT="3810" marB="3810" anchor="ctr"/>
                </a:tc>
                <a:extLst>
                  <a:ext uri="{0D108BD9-81ED-4DB2-BD59-A6C34878D82A}">
                    <a16:rowId xmlns:a16="http://schemas.microsoft.com/office/drawing/2014/main" val="4046794080"/>
                  </a:ext>
                </a:extLst>
              </a:tr>
              <a:tr h="167819">
                <a:tc vMerge="1">
                  <a:txBody>
                    <a:bodyPr/>
                    <a:lstStyle/>
                    <a:p>
                      <a:pPr algn="ctr"/>
                      <a:endParaRPr lang="en-US" sz="110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0.30</a:t>
                      </a:r>
                    </a:p>
                  </a:txBody>
                  <a:tcPr marL="7621" marR="7621" marT="3810" marB="3810" anchor="ctr"/>
                </a:tc>
                <a:tc>
                  <a:txBody>
                    <a:bodyPr/>
                    <a:lstStyle/>
                    <a:p>
                      <a:pPr algn="ctr"/>
                      <a:r>
                        <a:rPr lang="en-US" sz="1100" dirty="0"/>
                        <a:t>0.85</a:t>
                      </a:r>
                    </a:p>
                  </a:txBody>
                  <a:tcPr marL="7621" marR="7621" marT="3810" marB="3810" anchor="ctr">
                    <a:solidFill>
                      <a:schemeClr val="accent2">
                        <a:lumMod val="40000"/>
                        <a:lumOff val="60000"/>
                      </a:schemeClr>
                    </a:solidFill>
                  </a:tcPr>
                </a:tc>
                <a:tc>
                  <a:txBody>
                    <a:bodyPr/>
                    <a:lstStyle/>
                    <a:p>
                      <a:pPr algn="ctr"/>
                      <a:r>
                        <a:rPr lang="en-US" sz="1100" dirty="0"/>
                        <a:t>0.45</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3672567681"/>
                  </a:ext>
                </a:extLst>
              </a:tr>
              <a:tr h="167819">
                <a:tc vMerge="1">
                  <a:txBody>
                    <a:bodyPr/>
                    <a:lstStyle/>
                    <a:p>
                      <a:pPr algn="ctr"/>
                      <a:endParaRPr lang="en-US" sz="1100" dirty="0"/>
                    </a:p>
                  </a:txBody>
                  <a:tcPr marL="7621" marR="7621" marT="3810" marB="3810" anchor="ctr"/>
                </a:tc>
                <a:tc vMerge="1">
                  <a:txBody>
                    <a:bodyPr/>
                    <a:lstStyle/>
                    <a:p>
                      <a:endParaRPr lang="en-US" sz="1100"/>
                    </a:p>
                  </a:txBody>
                  <a:tcPr marL="7621" marR="7621" marT="3810" marB="3810" anchor="ctr"/>
                </a:tc>
                <a:tc rowSpan="2">
                  <a:txBody>
                    <a:bodyPr/>
                    <a:lstStyle/>
                    <a:p>
                      <a:pPr algn="ctr"/>
                      <a:r>
                        <a:rPr lang="en-US" sz="1100" dirty="0"/>
                        <a:t>Random Forest</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0.98</a:t>
                      </a:r>
                    </a:p>
                  </a:txBody>
                  <a:tcPr marL="7621" marR="7621" marT="3810" marB="3810" anchor="ctr"/>
                </a:tc>
                <a:tc>
                  <a:txBody>
                    <a:bodyPr/>
                    <a:lstStyle/>
                    <a:p>
                      <a:pPr algn="ctr"/>
                      <a:r>
                        <a:rPr lang="en-US" sz="1100" dirty="0"/>
                        <a:t>0.60</a:t>
                      </a:r>
                    </a:p>
                  </a:txBody>
                  <a:tcPr marL="7621" marR="7621" marT="3810" marB="3810" anchor="ctr"/>
                </a:tc>
                <a:tc>
                  <a:txBody>
                    <a:bodyPr/>
                    <a:lstStyle/>
                    <a:p>
                      <a:pPr algn="ctr"/>
                      <a:r>
                        <a:rPr lang="en-US" sz="1100" dirty="0"/>
                        <a:t>0.75</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0.64</a:t>
                      </a:r>
                    </a:p>
                  </a:txBody>
                  <a:tcPr marL="7621" marR="7621" marT="3810" marB="3810" anchor="ctr"/>
                </a:tc>
                <a:tc>
                  <a:txBody>
                    <a:bodyPr/>
                    <a:lstStyle/>
                    <a:p>
                      <a:pPr algn="ctr"/>
                      <a:r>
                        <a:rPr lang="en-US" sz="1100"/>
                        <a:t>0.56</a:t>
                      </a:r>
                    </a:p>
                  </a:txBody>
                  <a:tcPr marL="7621" marR="7621" marT="3810" marB="3810" anchor="ctr"/>
                </a:tc>
                <a:tc>
                  <a:txBody>
                    <a:bodyPr/>
                    <a:lstStyle/>
                    <a:p>
                      <a:pPr algn="ctr"/>
                      <a:r>
                        <a:rPr lang="en-US" sz="1100" dirty="0"/>
                        <a:t>0.70</a:t>
                      </a:r>
                    </a:p>
                  </a:txBody>
                  <a:tcPr marL="7621" marR="7621" marT="3810" marB="3810" anchor="ctr"/>
                </a:tc>
                <a:extLst>
                  <a:ext uri="{0D108BD9-81ED-4DB2-BD59-A6C34878D82A}">
                    <a16:rowId xmlns:a16="http://schemas.microsoft.com/office/drawing/2014/main" val="4196746626"/>
                  </a:ext>
                </a:extLst>
              </a:tr>
              <a:tr h="167819">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0.24</a:t>
                      </a:r>
                    </a:p>
                  </a:txBody>
                  <a:tcPr marL="7621" marR="7621" marT="3810" marB="3810" anchor="ct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0.38</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1468776687"/>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Gradient Boosting</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0.97</a:t>
                      </a:r>
                    </a:p>
                  </a:txBody>
                  <a:tcPr marL="7621" marR="7621" marT="3810" marB="3810" anchor="ctr"/>
                </a:tc>
                <a:tc>
                  <a:txBody>
                    <a:bodyPr/>
                    <a:lstStyle/>
                    <a:p>
                      <a:pPr algn="ctr"/>
                      <a:r>
                        <a:rPr lang="en-US" sz="1100" dirty="0"/>
                        <a:t>0.47</a:t>
                      </a:r>
                    </a:p>
                  </a:txBody>
                  <a:tcPr marL="7621" marR="7621" marT="3810" marB="3810" anchor="ctr"/>
                </a:tc>
                <a:tc>
                  <a:txBody>
                    <a:bodyPr/>
                    <a:lstStyle/>
                    <a:p>
                      <a:pPr algn="ctr"/>
                      <a:r>
                        <a:rPr lang="en-US" sz="1100" dirty="0"/>
                        <a:t>0.63</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0.52</a:t>
                      </a:r>
                    </a:p>
                  </a:txBody>
                  <a:tcPr marL="7621" marR="7621" marT="3810" marB="3810" anchor="ctr"/>
                </a:tc>
                <a:tc>
                  <a:txBody>
                    <a:bodyPr/>
                    <a:lstStyle/>
                    <a:p>
                      <a:pPr algn="ctr"/>
                      <a:r>
                        <a:rPr lang="en-US" sz="1100"/>
                        <a:t>0.47</a:t>
                      </a:r>
                    </a:p>
                  </a:txBody>
                  <a:tcPr marL="7621" marR="7621" marT="3810" marB="3810" anchor="ctr"/>
                </a:tc>
                <a:tc>
                  <a:txBody>
                    <a:bodyPr/>
                    <a:lstStyle/>
                    <a:p>
                      <a:pPr algn="ctr"/>
                      <a:r>
                        <a:rPr lang="en-US" sz="1100" dirty="0"/>
                        <a:t>0.59</a:t>
                      </a:r>
                    </a:p>
                  </a:txBody>
                  <a:tcPr marL="7621" marR="7621" marT="3810" marB="3810" anchor="ctr"/>
                </a:tc>
                <a:extLst>
                  <a:ext uri="{0D108BD9-81ED-4DB2-BD59-A6C34878D82A}">
                    <a16:rowId xmlns:a16="http://schemas.microsoft.com/office/drawing/2014/main" val="3681810849"/>
                  </a:ext>
                </a:extLst>
              </a:tr>
              <a:tr h="267384">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0.19</a:t>
                      </a:r>
                    </a:p>
                  </a:txBody>
                  <a:tcPr marL="7621" marR="7621" marT="3810" marB="3810" anchor="ct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0.32</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1839027144"/>
                  </a:ext>
                </a:extLst>
              </a:tr>
              <a:tr h="167819">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err="1"/>
                        <a:t>XGBoost</a:t>
                      </a:r>
                      <a:endParaRPr lang="en-US" sz="1100" dirty="0"/>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a:t>0.98</a:t>
                      </a:r>
                    </a:p>
                  </a:txBody>
                  <a:tcPr marL="7621" marR="7621" marT="3810" marB="3810" anchor="ctr"/>
                </a:tc>
                <a:tc>
                  <a:txBody>
                    <a:bodyPr/>
                    <a:lstStyle/>
                    <a:p>
                      <a:pPr algn="ctr"/>
                      <a:r>
                        <a:rPr lang="en-US" sz="1100" dirty="0"/>
                        <a:t>0.48</a:t>
                      </a:r>
                    </a:p>
                  </a:txBody>
                  <a:tcPr marL="7621" marR="7621" marT="3810" marB="3810" anchor="ctr"/>
                </a:tc>
                <a:tc>
                  <a:txBody>
                    <a:bodyPr/>
                    <a:lstStyle/>
                    <a:p>
                      <a:pPr algn="ctr"/>
                      <a:r>
                        <a:rPr lang="en-US" sz="1100" dirty="0"/>
                        <a:t>0.64</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0.53</a:t>
                      </a:r>
                    </a:p>
                  </a:txBody>
                  <a:tcPr marL="7621" marR="7621" marT="3810" marB="3810" anchor="ctr"/>
                </a:tc>
                <a:tc>
                  <a:txBody>
                    <a:bodyPr/>
                    <a:lstStyle/>
                    <a:p>
                      <a:pPr algn="ctr"/>
                      <a:r>
                        <a:rPr lang="en-US" sz="1100"/>
                        <a:t>0.49</a:t>
                      </a:r>
                    </a:p>
                  </a:txBody>
                  <a:tcPr marL="7621" marR="7621" marT="3810" marB="3810" anchor="ctr"/>
                </a:tc>
                <a:tc>
                  <a:txBody>
                    <a:bodyPr/>
                    <a:lstStyle/>
                    <a:p>
                      <a:pPr algn="ctr"/>
                      <a:r>
                        <a:rPr lang="en-US" sz="1100" dirty="0"/>
                        <a:t>0.61</a:t>
                      </a:r>
                    </a:p>
                  </a:txBody>
                  <a:tcPr marL="7621" marR="7621" marT="3810" marB="3810" anchor="ctr"/>
                </a:tc>
                <a:extLst>
                  <a:ext uri="{0D108BD9-81ED-4DB2-BD59-A6C34878D82A}">
                    <a16:rowId xmlns:a16="http://schemas.microsoft.com/office/drawing/2014/main" val="4217125704"/>
                  </a:ext>
                </a:extLst>
              </a:tr>
              <a:tr h="167819">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a:t>0.20</a:t>
                      </a:r>
                    </a:p>
                  </a:txBody>
                  <a:tcPr marL="7621" marR="7621" marT="3810" marB="3810" anchor="ct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0.33</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3087489921"/>
                  </a:ext>
                </a:extLst>
              </a:tr>
            </a:tbl>
          </a:graphicData>
        </a:graphic>
      </p:graphicFrame>
      <p:cxnSp>
        <p:nvCxnSpPr>
          <p:cNvPr id="3" name="Straight Arrow Connector 2">
            <a:extLst>
              <a:ext uri="{FF2B5EF4-FFF2-40B4-BE49-F238E27FC236}">
                <a16:creationId xmlns:a16="http://schemas.microsoft.com/office/drawing/2014/main" id="{4E735826-38EF-4E5A-AD1E-61413391F85B}"/>
              </a:ext>
            </a:extLst>
          </p:cNvPr>
          <p:cNvCxnSpPr/>
          <p:nvPr/>
        </p:nvCxnSpPr>
        <p:spPr>
          <a:xfrm>
            <a:off x="1482437" y="3260036"/>
            <a:ext cx="7589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9788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A78A5A5-E517-4B89-A035-B8D8DF237D32}"/>
              </a:ext>
            </a:extLst>
          </p:cNvPr>
          <p:cNvGraphicFramePr>
            <a:graphicFrameLocks noGrp="1"/>
          </p:cNvGraphicFramePr>
          <p:nvPr/>
        </p:nvGraphicFramePr>
        <p:xfrm>
          <a:off x="238539" y="92767"/>
          <a:ext cx="11781186" cy="6644880"/>
        </p:xfrm>
        <a:graphic>
          <a:graphicData uri="http://schemas.openxmlformats.org/drawingml/2006/table">
            <a:tbl>
              <a:tblPr>
                <a:tableStyleId>{5940675A-B579-460E-94D1-54222C63F5DA}</a:tableStyleId>
              </a:tblPr>
              <a:tblGrid>
                <a:gridCol w="1071017">
                  <a:extLst>
                    <a:ext uri="{9D8B030D-6E8A-4147-A177-3AD203B41FA5}">
                      <a16:colId xmlns:a16="http://schemas.microsoft.com/office/drawing/2014/main" val="520007959"/>
                    </a:ext>
                  </a:extLst>
                </a:gridCol>
                <a:gridCol w="928052">
                  <a:extLst>
                    <a:ext uri="{9D8B030D-6E8A-4147-A177-3AD203B41FA5}">
                      <a16:colId xmlns:a16="http://schemas.microsoft.com/office/drawing/2014/main" val="3586722180"/>
                    </a:ext>
                  </a:extLst>
                </a:gridCol>
                <a:gridCol w="1213981">
                  <a:extLst>
                    <a:ext uri="{9D8B030D-6E8A-4147-A177-3AD203B41FA5}">
                      <a16:colId xmlns:a16="http://schemas.microsoft.com/office/drawing/2014/main" val="4065072181"/>
                    </a:ext>
                  </a:extLst>
                </a:gridCol>
                <a:gridCol w="1071017">
                  <a:extLst>
                    <a:ext uri="{9D8B030D-6E8A-4147-A177-3AD203B41FA5}">
                      <a16:colId xmlns:a16="http://schemas.microsoft.com/office/drawing/2014/main" val="343504089"/>
                    </a:ext>
                  </a:extLst>
                </a:gridCol>
                <a:gridCol w="1071017">
                  <a:extLst>
                    <a:ext uri="{9D8B030D-6E8A-4147-A177-3AD203B41FA5}">
                      <a16:colId xmlns:a16="http://schemas.microsoft.com/office/drawing/2014/main" val="4042896717"/>
                    </a:ext>
                  </a:extLst>
                </a:gridCol>
                <a:gridCol w="1071017">
                  <a:extLst>
                    <a:ext uri="{9D8B030D-6E8A-4147-A177-3AD203B41FA5}">
                      <a16:colId xmlns:a16="http://schemas.microsoft.com/office/drawing/2014/main" val="412644550"/>
                    </a:ext>
                  </a:extLst>
                </a:gridCol>
                <a:gridCol w="1071017">
                  <a:extLst>
                    <a:ext uri="{9D8B030D-6E8A-4147-A177-3AD203B41FA5}">
                      <a16:colId xmlns:a16="http://schemas.microsoft.com/office/drawing/2014/main" val="2990402329"/>
                    </a:ext>
                  </a:extLst>
                </a:gridCol>
                <a:gridCol w="1071017">
                  <a:extLst>
                    <a:ext uri="{9D8B030D-6E8A-4147-A177-3AD203B41FA5}">
                      <a16:colId xmlns:a16="http://schemas.microsoft.com/office/drawing/2014/main" val="772293038"/>
                    </a:ext>
                  </a:extLst>
                </a:gridCol>
                <a:gridCol w="1071017">
                  <a:extLst>
                    <a:ext uri="{9D8B030D-6E8A-4147-A177-3AD203B41FA5}">
                      <a16:colId xmlns:a16="http://schemas.microsoft.com/office/drawing/2014/main" val="2598524881"/>
                    </a:ext>
                  </a:extLst>
                </a:gridCol>
                <a:gridCol w="1071017">
                  <a:extLst>
                    <a:ext uri="{9D8B030D-6E8A-4147-A177-3AD203B41FA5}">
                      <a16:colId xmlns:a16="http://schemas.microsoft.com/office/drawing/2014/main" val="3008036536"/>
                    </a:ext>
                  </a:extLst>
                </a:gridCol>
                <a:gridCol w="1071017">
                  <a:extLst>
                    <a:ext uri="{9D8B030D-6E8A-4147-A177-3AD203B41FA5}">
                      <a16:colId xmlns:a16="http://schemas.microsoft.com/office/drawing/2014/main" val="1996860109"/>
                    </a:ext>
                  </a:extLst>
                </a:gridCol>
              </a:tblGrid>
              <a:tr h="171481">
                <a:tc>
                  <a:txBody>
                    <a:bodyPr/>
                    <a:lstStyle/>
                    <a:p>
                      <a:pPr algn="ctr"/>
                      <a:r>
                        <a:rPr lang="en-US" sz="1100" dirty="0"/>
                        <a:t>Dataset</a:t>
                      </a:r>
                    </a:p>
                  </a:txBody>
                  <a:tcPr marL="7621" marR="7621" marT="3810" marB="3810" anchor="ctr"/>
                </a:tc>
                <a:tc>
                  <a:txBody>
                    <a:bodyPr/>
                    <a:lstStyle/>
                    <a:p>
                      <a:pPr algn="ctr"/>
                      <a:r>
                        <a:rPr lang="en-US" sz="1100"/>
                        <a:t>Age Feature</a:t>
                      </a:r>
                    </a:p>
                  </a:txBody>
                  <a:tcPr marL="7621" marR="7621" marT="3810" marB="3810" anchor="ctr"/>
                </a:tc>
                <a:tc>
                  <a:txBody>
                    <a:bodyPr/>
                    <a:lstStyle/>
                    <a:p>
                      <a:pPr algn="ctr"/>
                      <a:r>
                        <a:rPr lang="en-US" sz="1100"/>
                        <a:t>Model</a:t>
                      </a:r>
                    </a:p>
                  </a:txBody>
                  <a:tcPr marL="7621" marR="7621" marT="3810" marB="3810" anchor="ctr"/>
                </a:tc>
                <a:tc>
                  <a:txBody>
                    <a:bodyPr/>
                    <a:lstStyle/>
                    <a:p>
                      <a:pPr algn="ctr"/>
                      <a:r>
                        <a:rPr lang="en-US" sz="1100" dirty="0"/>
                        <a:t>Class</a:t>
                      </a:r>
                    </a:p>
                  </a:txBody>
                  <a:tcPr marL="7621" marR="7621" marT="3810" marB="3810" anchor="ctr"/>
                </a:tc>
                <a:tc>
                  <a:txBody>
                    <a:bodyPr/>
                    <a:lstStyle/>
                    <a:p>
                      <a:pPr algn="ctr"/>
                      <a:r>
                        <a:rPr lang="en-US" sz="1100" dirty="0"/>
                        <a:t>Precision</a:t>
                      </a:r>
                    </a:p>
                  </a:txBody>
                  <a:tcPr marL="7621" marR="7621" marT="3810" marB="3810" anchor="ctr">
                    <a:noFill/>
                  </a:tcPr>
                </a:tc>
                <a:tc>
                  <a:txBody>
                    <a:bodyPr/>
                    <a:lstStyle/>
                    <a:p>
                      <a:pPr algn="ctr"/>
                      <a:r>
                        <a:rPr lang="en-US" sz="1100" dirty="0"/>
                        <a:t>Recall</a:t>
                      </a:r>
                    </a:p>
                  </a:txBody>
                  <a:tcPr marL="7621" marR="7621" marT="3810" marB="3810" anchor="ctr"/>
                </a:tc>
                <a:tc>
                  <a:txBody>
                    <a:bodyPr/>
                    <a:lstStyle/>
                    <a:p>
                      <a:pPr algn="ctr"/>
                      <a:r>
                        <a:rPr lang="en-US" sz="1100"/>
                        <a:t>F1-score</a:t>
                      </a:r>
                    </a:p>
                  </a:txBody>
                  <a:tcPr marL="7621" marR="7621" marT="3810" marB="3810" anchor="ctr"/>
                </a:tc>
                <a:tc>
                  <a:txBody>
                    <a:bodyPr/>
                    <a:lstStyle/>
                    <a:p>
                      <a:pPr algn="ctr"/>
                      <a:r>
                        <a:rPr lang="en-US" sz="1100"/>
                        <a:t>Support</a:t>
                      </a:r>
                    </a:p>
                  </a:txBody>
                  <a:tcPr marL="7621" marR="7621" marT="3810" marB="3810" anchor="ctr"/>
                </a:tc>
                <a:tc>
                  <a:txBody>
                    <a:bodyPr/>
                    <a:lstStyle/>
                    <a:p>
                      <a:pPr algn="ctr"/>
                      <a:r>
                        <a:rPr lang="en-US" sz="1100" dirty="0"/>
                        <a:t>Accuracy</a:t>
                      </a:r>
                    </a:p>
                  </a:txBody>
                  <a:tcPr marL="7621" marR="7621" marT="3810" marB="3810" anchor="ctr"/>
                </a:tc>
                <a:tc>
                  <a:txBody>
                    <a:bodyPr/>
                    <a:lstStyle/>
                    <a:p>
                      <a:pPr algn="ctr"/>
                      <a:r>
                        <a:rPr lang="en-US" sz="1100" dirty="0"/>
                        <a:t>Macro F1</a:t>
                      </a:r>
                    </a:p>
                  </a:txBody>
                  <a:tcPr marL="7621" marR="7621" marT="3810" marB="3810" anchor="ctr"/>
                </a:tc>
                <a:tc>
                  <a:txBody>
                    <a:bodyPr/>
                    <a:lstStyle/>
                    <a:p>
                      <a:pPr algn="ctr"/>
                      <a:r>
                        <a:rPr lang="en-US" sz="1100" dirty="0"/>
                        <a:t>Weighted F1</a:t>
                      </a:r>
                    </a:p>
                  </a:txBody>
                  <a:tcPr marL="7621" marR="7621" marT="3810" marB="3810" anchor="ctr"/>
                </a:tc>
                <a:extLst>
                  <a:ext uri="{0D108BD9-81ED-4DB2-BD59-A6C34878D82A}">
                    <a16:rowId xmlns:a16="http://schemas.microsoft.com/office/drawing/2014/main" val="2438169726"/>
                  </a:ext>
                </a:extLst>
              </a:tr>
              <a:tr h="276245">
                <a:tc rowSpan="10">
                  <a:txBody>
                    <a:bodyPr/>
                    <a:lstStyle/>
                    <a:p>
                      <a:pPr algn="ctr"/>
                      <a:r>
                        <a:rPr lang="en-US" sz="1100" dirty="0"/>
                        <a:t>A</a:t>
                      </a:r>
                    </a:p>
                  </a:txBody>
                  <a:tcPr marL="7621" marR="7621" marT="3810" marB="3810" anchor="ctr">
                    <a:solidFill>
                      <a:srgbClr val="92D050"/>
                    </a:solidFill>
                  </a:tcPr>
                </a:tc>
                <a:tc rowSpan="30">
                  <a:txBody>
                    <a:bodyPr/>
                    <a:lstStyle/>
                    <a:p>
                      <a:pPr algn="ctr"/>
                      <a:r>
                        <a:rPr lang="en-US" sz="1100" dirty="0">
                          <a:solidFill>
                            <a:srgbClr val="FF0000"/>
                          </a:solidFill>
                        </a:rPr>
                        <a:t>With</a:t>
                      </a:r>
                    </a:p>
                  </a:txBody>
                  <a:tcPr marL="7621" marR="7621" marT="3810" marB="3810" anchor="ctr"/>
                </a:tc>
                <a:tc rowSpan="2">
                  <a:txBody>
                    <a:bodyPr/>
                    <a:lstStyle/>
                    <a:p>
                      <a:pPr algn="ctr"/>
                      <a:r>
                        <a:rPr lang="en-US" sz="1100" dirty="0"/>
                        <a:t>Logistic Regression</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0.67</a:t>
                      </a:r>
                    </a:p>
                  </a:txBody>
                  <a:tcPr marL="7621" marR="7621" marT="3810" marB="3810" anchor="ctr"/>
                </a:tc>
                <a:tc>
                  <a:txBody>
                    <a:bodyPr/>
                    <a:lstStyle/>
                    <a:p>
                      <a:pPr algn="ctr"/>
                      <a:r>
                        <a:rPr lang="en-US" sz="1100" dirty="0"/>
                        <a:t>0.79</a:t>
                      </a:r>
                    </a:p>
                  </a:txBody>
                  <a:tcPr marL="7621" marR="7621" marT="3810" marB="3810" anchor="ctr"/>
                </a:tc>
                <a:tc>
                  <a:txBody>
                    <a:bodyPr/>
                    <a:lstStyle/>
                    <a:p>
                      <a:pPr algn="ctr"/>
                      <a:r>
                        <a:rPr lang="en-US" sz="1100" dirty="0"/>
                        <a:t>11256</a:t>
                      </a:r>
                    </a:p>
                  </a:txBody>
                  <a:tcPr marL="7621" marR="7621" marT="3810" marB="3810" anchor="ctr"/>
                </a:tc>
                <a:tc>
                  <a:txBody>
                    <a:bodyPr/>
                    <a:lstStyle/>
                    <a:p>
                      <a:pPr algn="ctr"/>
                      <a:r>
                        <a:rPr lang="en-US" sz="1100" dirty="0"/>
                        <a:t>0.69</a:t>
                      </a:r>
                    </a:p>
                  </a:txBody>
                  <a:tcPr marL="7621" marR="7621" marT="3810" marB="3810" anchor="ctr"/>
                </a:tc>
                <a:tc>
                  <a:txBody>
                    <a:bodyPr/>
                    <a:lstStyle/>
                    <a:p>
                      <a:pPr algn="ctr"/>
                      <a:r>
                        <a:rPr lang="en-US" sz="1100"/>
                        <a:t>0.60</a:t>
                      </a:r>
                    </a:p>
                  </a:txBody>
                  <a:tcPr marL="7621" marR="7621" marT="3810" marB="3810" anchor="ctr"/>
                </a:tc>
                <a:tc>
                  <a:txBody>
                    <a:bodyPr/>
                    <a:lstStyle/>
                    <a:p>
                      <a:pPr algn="ctr"/>
                      <a:r>
                        <a:rPr lang="en-US" sz="1100"/>
                        <a:t>0.75</a:t>
                      </a:r>
                    </a:p>
                  </a:txBody>
                  <a:tcPr marL="7621" marR="7621" marT="3810" marB="3810" anchor="ctr"/>
                </a:tc>
                <a:extLst>
                  <a:ext uri="{0D108BD9-81ED-4DB2-BD59-A6C34878D82A}">
                    <a16:rowId xmlns:a16="http://schemas.microsoft.com/office/drawing/2014/main" val="2749231708"/>
                  </a:ext>
                </a:extLst>
              </a:tr>
              <a:tr h="276245">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0.27</a:t>
                      </a:r>
                    </a:p>
                  </a:txBody>
                  <a:tcPr marL="7621" marR="7621" marT="3810" marB="3810" anchor="ctr">
                    <a:noFill/>
                  </a:tcP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0.41</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64918594"/>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SVM</a:t>
                      </a:r>
                    </a:p>
                  </a:txBody>
                  <a:tcPr marL="7621" marR="7621" marT="3810" marB="3810" anchor="ctr">
                    <a:solidFill>
                      <a:srgbClr val="92D050"/>
                    </a:solidFill>
                  </a:tcP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0.74</a:t>
                      </a:r>
                    </a:p>
                  </a:txBody>
                  <a:tcPr marL="7621" marR="7621" marT="3810" marB="3810" anchor="ctr"/>
                </a:tc>
                <a:tc>
                  <a:txBody>
                    <a:bodyPr/>
                    <a:lstStyle/>
                    <a:p>
                      <a:pPr algn="ctr"/>
                      <a:r>
                        <a:rPr lang="en-US" sz="1100" dirty="0"/>
                        <a:t>0.84</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0.75</a:t>
                      </a:r>
                    </a:p>
                  </a:txBody>
                  <a:tcPr marL="7621" marR="7621" marT="3810" marB="3810" anchor="ctr"/>
                </a:tc>
                <a:tc>
                  <a:txBody>
                    <a:bodyPr/>
                    <a:lstStyle/>
                    <a:p>
                      <a:pPr algn="ctr"/>
                      <a:r>
                        <a:rPr lang="en-US" sz="1100"/>
                        <a:t>0.65</a:t>
                      </a:r>
                    </a:p>
                  </a:txBody>
                  <a:tcPr marL="7621" marR="7621" marT="3810" marB="3810" anchor="ctr"/>
                </a:tc>
                <a:tc>
                  <a:txBody>
                    <a:bodyPr/>
                    <a:lstStyle/>
                    <a:p>
                      <a:pPr algn="ctr"/>
                      <a:r>
                        <a:rPr lang="en-US" sz="1100"/>
                        <a:t>0.79</a:t>
                      </a:r>
                    </a:p>
                  </a:txBody>
                  <a:tcPr marL="7621" marR="7621" marT="3810" marB="3810" anchor="ctr"/>
                </a:tc>
                <a:extLst>
                  <a:ext uri="{0D108BD9-81ED-4DB2-BD59-A6C34878D82A}">
                    <a16:rowId xmlns:a16="http://schemas.microsoft.com/office/drawing/2014/main" val="390185335"/>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dirty="0"/>
                        <a:t>1</a:t>
                      </a:r>
                    </a:p>
                  </a:txBody>
                  <a:tcPr marL="7621" marR="7621" marT="3810" marB="3810" anchor="ctr"/>
                </a:tc>
                <a:tc>
                  <a:txBody>
                    <a:bodyPr/>
                    <a:lstStyle/>
                    <a:p>
                      <a:pPr algn="ctr"/>
                      <a:r>
                        <a:rPr lang="en-US" sz="1100" dirty="0"/>
                        <a:t>0.32</a:t>
                      </a:r>
                    </a:p>
                  </a:txBody>
                  <a:tcPr marL="7621" marR="7621" marT="3810" marB="3810" anchor="ctr">
                    <a:solidFill>
                      <a:schemeClr val="accent5">
                        <a:lumMod val="40000"/>
                        <a:lumOff val="60000"/>
                      </a:schemeClr>
                    </a:solidFill>
                  </a:tcP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0.46</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249616594"/>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Random Forest</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0.98</a:t>
                      </a:r>
                    </a:p>
                  </a:txBody>
                  <a:tcPr marL="7621" marR="7621" marT="3810" marB="3810" anchor="ctr">
                    <a:noFill/>
                  </a:tcPr>
                </a:tc>
                <a:tc>
                  <a:txBody>
                    <a:bodyPr/>
                    <a:lstStyle/>
                    <a:p>
                      <a:pPr algn="ctr"/>
                      <a:r>
                        <a:rPr lang="en-US" sz="1100" dirty="0"/>
                        <a:t>0.62</a:t>
                      </a:r>
                    </a:p>
                  </a:txBody>
                  <a:tcPr marL="7621" marR="7621" marT="3810" marB="3810" anchor="ctr"/>
                </a:tc>
                <a:tc>
                  <a:txBody>
                    <a:bodyPr/>
                    <a:lstStyle/>
                    <a:p>
                      <a:pPr algn="ctr"/>
                      <a:r>
                        <a:rPr lang="en-US" sz="1100" dirty="0"/>
                        <a:t>0.76</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0.66</a:t>
                      </a:r>
                    </a:p>
                  </a:txBody>
                  <a:tcPr marL="7621" marR="7621" marT="3810" marB="3810" anchor="ctr"/>
                </a:tc>
                <a:tc>
                  <a:txBody>
                    <a:bodyPr/>
                    <a:lstStyle/>
                    <a:p>
                      <a:pPr algn="ctr"/>
                      <a:r>
                        <a:rPr lang="en-US" sz="1100"/>
                        <a:t>0.58</a:t>
                      </a:r>
                    </a:p>
                  </a:txBody>
                  <a:tcPr marL="7621" marR="7621" marT="3810" marB="3810" anchor="ctr"/>
                </a:tc>
                <a:tc>
                  <a:txBody>
                    <a:bodyPr/>
                    <a:lstStyle/>
                    <a:p>
                      <a:pPr algn="ctr"/>
                      <a:r>
                        <a:rPr lang="en-US" sz="1100"/>
                        <a:t>0.72</a:t>
                      </a:r>
                    </a:p>
                  </a:txBody>
                  <a:tcPr marL="7621" marR="7621" marT="3810" marB="3810" anchor="ctr"/>
                </a:tc>
                <a:extLst>
                  <a:ext uri="{0D108BD9-81ED-4DB2-BD59-A6C34878D82A}">
                    <a16:rowId xmlns:a16="http://schemas.microsoft.com/office/drawing/2014/main" val="435183846"/>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dirty="0"/>
                        <a:t>1</a:t>
                      </a:r>
                    </a:p>
                  </a:txBody>
                  <a:tcPr marL="7621" marR="7621" marT="3810" marB="3810" anchor="ctr"/>
                </a:tc>
                <a:tc>
                  <a:txBody>
                    <a:bodyPr/>
                    <a:lstStyle/>
                    <a:p>
                      <a:pPr algn="ctr"/>
                      <a:r>
                        <a:rPr lang="en-US" sz="1100" dirty="0"/>
                        <a:t>0.25</a:t>
                      </a:r>
                    </a:p>
                  </a:txBody>
                  <a:tcPr marL="7621" marR="7621" marT="3810" marB="3810" anchor="ctr">
                    <a:noFill/>
                  </a:tcP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0.39</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996478285"/>
                  </a:ext>
                </a:extLst>
              </a:tr>
              <a:tr h="276245">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Gradient Boosting</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0.50</a:t>
                      </a:r>
                    </a:p>
                  </a:txBody>
                  <a:tcPr marL="7621" marR="7621" marT="3810" marB="3810" anchor="ctr"/>
                </a:tc>
                <a:tc>
                  <a:txBody>
                    <a:bodyPr/>
                    <a:lstStyle/>
                    <a:p>
                      <a:pPr algn="ctr"/>
                      <a:r>
                        <a:rPr lang="en-US" sz="1100" dirty="0"/>
                        <a:t>0.66</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0.55</a:t>
                      </a:r>
                    </a:p>
                  </a:txBody>
                  <a:tcPr marL="7621" marR="7621" marT="3810" marB="3810" anchor="ctr"/>
                </a:tc>
                <a:tc>
                  <a:txBody>
                    <a:bodyPr/>
                    <a:lstStyle/>
                    <a:p>
                      <a:pPr algn="ctr"/>
                      <a:r>
                        <a:rPr lang="en-US" sz="1100"/>
                        <a:t>0.50</a:t>
                      </a:r>
                    </a:p>
                  </a:txBody>
                  <a:tcPr marL="7621" marR="7621" marT="3810" marB="3810" anchor="ctr"/>
                </a:tc>
                <a:tc>
                  <a:txBody>
                    <a:bodyPr/>
                    <a:lstStyle/>
                    <a:p>
                      <a:pPr algn="ctr"/>
                      <a:r>
                        <a:rPr lang="en-US" sz="1100"/>
                        <a:t>0.62</a:t>
                      </a:r>
                    </a:p>
                  </a:txBody>
                  <a:tcPr marL="7621" marR="7621" marT="3810" marB="3810" anchor="ctr"/>
                </a:tc>
                <a:extLst>
                  <a:ext uri="{0D108BD9-81ED-4DB2-BD59-A6C34878D82A}">
                    <a16:rowId xmlns:a16="http://schemas.microsoft.com/office/drawing/2014/main" val="796315764"/>
                  </a:ext>
                </a:extLst>
              </a:tr>
              <a:tr h="276245">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0.20</a:t>
                      </a:r>
                    </a:p>
                  </a:txBody>
                  <a:tcPr marL="7621" marR="7621" marT="3810" marB="3810" anchor="ctr">
                    <a:noFill/>
                  </a:tcP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0.33</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267439208"/>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err="1"/>
                        <a:t>XGBoost</a:t>
                      </a:r>
                      <a:endParaRPr lang="en-US" sz="1100" dirty="0"/>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0.98</a:t>
                      </a:r>
                    </a:p>
                  </a:txBody>
                  <a:tcPr marL="7621" marR="7621" marT="3810" marB="3810" anchor="ctr">
                    <a:noFill/>
                  </a:tcPr>
                </a:tc>
                <a:tc>
                  <a:txBody>
                    <a:bodyPr/>
                    <a:lstStyle/>
                    <a:p>
                      <a:pPr algn="ctr"/>
                      <a:r>
                        <a:rPr lang="en-US" sz="1100" dirty="0"/>
                        <a:t>0.52</a:t>
                      </a:r>
                    </a:p>
                  </a:txBody>
                  <a:tcPr marL="7621" marR="7621" marT="3810" marB="3810" anchor="ctr"/>
                </a:tc>
                <a:tc>
                  <a:txBody>
                    <a:bodyPr/>
                    <a:lstStyle/>
                    <a:p>
                      <a:pPr algn="ctr"/>
                      <a:r>
                        <a:rPr lang="en-US" sz="1100" dirty="0"/>
                        <a:t>0.68</a:t>
                      </a:r>
                    </a:p>
                  </a:txBody>
                  <a:tcPr marL="7621" marR="7621" marT="3810" marB="3810" anchor="ctr"/>
                </a:tc>
                <a:tc>
                  <a:txBody>
                    <a:bodyPr/>
                    <a:lstStyle/>
                    <a:p>
                      <a:pPr algn="ctr"/>
                      <a:r>
                        <a:rPr lang="en-US" sz="1100"/>
                        <a:t>11256</a:t>
                      </a:r>
                    </a:p>
                  </a:txBody>
                  <a:tcPr marL="7621" marR="7621" marT="3810" marB="3810" anchor="ctr"/>
                </a:tc>
                <a:tc>
                  <a:txBody>
                    <a:bodyPr/>
                    <a:lstStyle/>
                    <a:p>
                      <a:pPr algn="ctr"/>
                      <a:r>
                        <a:rPr lang="en-US" sz="1100"/>
                        <a:t>0.57</a:t>
                      </a:r>
                    </a:p>
                  </a:txBody>
                  <a:tcPr marL="7621" marR="7621" marT="3810" marB="3810" anchor="ctr"/>
                </a:tc>
                <a:tc>
                  <a:txBody>
                    <a:bodyPr/>
                    <a:lstStyle/>
                    <a:p>
                      <a:pPr algn="ctr"/>
                      <a:r>
                        <a:rPr lang="en-US" sz="1100"/>
                        <a:t>0.51</a:t>
                      </a:r>
                    </a:p>
                  </a:txBody>
                  <a:tcPr marL="7621" marR="7621" marT="3810" marB="3810" anchor="ctr"/>
                </a:tc>
                <a:tc>
                  <a:txBody>
                    <a:bodyPr/>
                    <a:lstStyle/>
                    <a:p>
                      <a:pPr algn="ctr"/>
                      <a:r>
                        <a:rPr lang="en-US" sz="1100"/>
                        <a:t>0.64</a:t>
                      </a:r>
                    </a:p>
                  </a:txBody>
                  <a:tcPr marL="7621" marR="7621" marT="3810" marB="3810" anchor="ctr"/>
                </a:tc>
                <a:extLst>
                  <a:ext uri="{0D108BD9-81ED-4DB2-BD59-A6C34878D82A}">
                    <a16:rowId xmlns:a16="http://schemas.microsoft.com/office/drawing/2014/main" val="3790797077"/>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0.21</a:t>
                      </a:r>
                    </a:p>
                  </a:txBody>
                  <a:tcPr marL="7621" marR="7621" marT="3810" marB="3810" anchor="ctr">
                    <a:noFill/>
                  </a:tcP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0.34</a:t>
                      </a:r>
                    </a:p>
                  </a:txBody>
                  <a:tcPr marL="7621" marR="7621" marT="3810" marB="3810" anchor="ctr">
                    <a:solidFill>
                      <a:srgbClr val="FFFF00"/>
                    </a:solidFill>
                  </a:tcPr>
                </a:tc>
                <a:tc>
                  <a:txBody>
                    <a:bodyPr/>
                    <a:lstStyle/>
                    <a:p>
                      <a:pPr algn="ctr"/>
                      <a:r>
                        <a:rPr lang="en-US" sz="1100"/>
                        <a:t>1587</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3705842035"/>
                  </a:ext>
                </a:extLst>
              </a:tr>
              <a:tr h="276245">
                <a:tc rowSpan="10">
                  <a:txBody>
                    <a:bodyPr/>
                    <a:lstStyle/>
                    <a:p>
                      <a:pPr algn="ctr"/>
                      <a:r>
                        <a:rPr lang="en-US" sz="1100" dirty="0"/>
                        <a:t>B</a:t>
                      </a:r>
                    </a:p>
                  </a:txBody>
                  <a:tcPr marL="7621" marR="7621" marT="3810" marB="3810" anchor="ctr">
                    <a:solidFill>
                      <a:srgbClr val="92D050"/>
                    </a:solidFill>
                  </a:tcPr>
                </a:tc>
                <a:tc vMerge="1">
                  <a:txBody>
                    <a:bodyPr/>
                    <a:lstStyle/>
                    <a:p>
                      <a:endParaRPr lang="en-US" sz="1100" dirty="0"/>
                    </a:p>
                  </a:txBody>
                  <a:tcPr marL="7621" marR="7621" marT="3810" marB="3810" anchor="ctr"/>
                </a:tc>
                <a:tc rowSpan="2">
                  <a:txBody>
                    <a:bodyPr/>
                    <a:lstStyle/>
                    <a:p>
                      <a:pPr algn="ctr"/>
                      <a:r>
                        <a:rPr lang="en-US" sz="1100" dirty="0"/>
                        <a:t>Logistic Regression</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0.68</a:t>
                      </a:r>
                    </a:p>
                  </a:txBody>
                  <a:tcPr marL="7621" marR="7621" marT="3810" marB="3810" anchor="ctr"/>
                </a:tc>
                <a:tc>
                  <a:txBody>
                    <a:bodyPr/>
                    <a:lstStyle/>
                    <a:p>
                      <a:pPr algn="ctr"/>
                      <a:r>
                        <a:rPr lang="en-US" sz="1100" dirty="0"/>
                        <a:t>0.80</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0.70</a:t>
                      </a:r>
                    </a:p>
                  </a:txBody>
                  <a:tcPr marL="7621" marR="7621" marT="3810" marB="3810" anchor="ctr"/>
                </a:tc>
                <a:tc>
                  <a:txBody>
                    <a:bodyPr/>
                    <a:lstStyle/>
                    <a:p>
                      <a:pPr algn="ctr"/>
                      <a:r>
                        <a:rPr lang="en-US" sz="1100"/>
                        <a:t>0.61</a:t>
                      </a:r>
                    </a:p>
                  </a:txBody>
                  <a:tcPr marL="7621" marR="7621" marT="3810" marB="3810" anchor="ctr"/>
                </a:tc>
                <a:tc>
                  <a:txBody>
                    <a:bodyPr/>
                    <a:lstStyle/>
                    <a:p>
                      <a:pPr algn="ctr"/>
                      <a:r>
                        <a:rPr lang="en-US" sz="1100"/>
                        <a:t>0.75</a:t>
                      </a:r>
                    </a:p>
                  </a:txBody>
                  <a:tcPr marL="7621" marR="7621" marT="3810" marB="3810" anchor="ctr"/>
                </a:tc>
                <a:extLst>
                  <a:ext uri="{0D108BD9-81ED-4DB2-BD59-A6C34878D82A}">
                    <a16:rowId xmlns:a16="http://schemas.microsoft.com/office/drawing/2014/main" val="2417957067"/>
                  </a:ext>
                </a:extLst>
              </a:tr>
              <a:tr h="276245">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0.27</a:t>
                      </a:r>
                    </a:p>
                  </a:txBody>
                  <a:tcPr marL="7621" marR="7621" marT="3810" marB="3810" anchor="ctr">
                    <a:noFill/>
                  </a:tcP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0.41</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2314379646"/>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SVM</a:t>
                      </a:r>
                    </a:p>
                  </a:txBody>
                  <a:tcPr marL="7621" marR="7621" marT="3810" marB="3810" anchor="ctr">
                    <a:solidFill>
                      <a:srgbClr val="92D050"/>
                    </a:solidFill>
                  </a:tcP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0.74</a:t>
                      </a:r>
                    </a:p>
                  </a:txBody>
                  <a:tcPr marL="7621" marR="7621" marT="3810" marB="3810" anchor="ctr"/>
                </a:tc>
                <a:tc>
                  <a:txBody>
                    <a:bodyPr/>
                    <a:lstStyle/>
                    <a:p>
                      <a:pPr algn="ctr"/>
                      <a:r>
                        <a:rPr lang="en-US" sz="1100" dirty="0"/>
                        <a:t>0.84</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0.75</a:t>
                      </a:r>
                    </a:p>
                  </a:txBody>
                  <a:tcPr marL="7621" marR="7621" marT="3810" marB="3810" anchor="ctr"/>
                </a:tc>
                <a:tc>
                  <a:txBody>
                    <a:bodyPr/>
                    <a:lstStyle/>
                    <a:p>
                      <a:pPr algn="ctr"/>
                      <a:r>
                        <a:rPr lang="en-US" sz="1100" dirty="0"/>
                        <a:t>0.65</a:t>
                      </a:r>
                    </a:p>
                  </a:txBody>
                  <a:tcPr marL="7621" marR="7621" marT="3810" marB="3810" anchor="ctr"/>
                </a:tc>
                <a:tc>
                  <a:txBody>
                    <a:bodyPr/>
                    <a:lstStyle/>
                    <a:p>
                      <a:pPr algn="ctr"/>
                      <a:r>
                        <a:rPr lang="en-US" sz="1100"/>
                        <a:t>0.79</a:t>
                      </a:r>
                    </a:p>
                  </a:txBody>
                  <a:tcPr marL="7621" marR="7621" marT="3810" marB="3810" anchor="ctr"/>
                </a:tc>
                <a:extLst>
                  <a:ext uri="{0D108BD9-81ED-4DB2-BD59-A6C34878D82A}">
                    <a16:rowId xmlns:a16="http://schemas.microsoft.com/office/drawing/2014/main" val="531645809"/>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0.32</a:t>
                      </a:r>
                    </a:p>
                  </a:txBody>
                  <a:tcPr marL="7621" marR="7621" marT="3810" marB="3810" anchor="ctr">
                    <a:solidFill>
                      <a:schemeClr val="accent5">
                        <a:lumMod val="40000"/>
                        <a:lumOff val="60000"/>
                      </a:schemeClr>
                    </a:solidFill>
                  </a:tcP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0.46</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3381753659"/>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Random Forest</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0.98</a:t>
                      </a:r>
                    </a:p>
                  </a:txBody>
                  <a:tcPr marL="7621" marR="7621" marT="3810" marB="3810" anchor="ctr">
                    <a:noFill/>
                  </a:tcPr>
                </a:tc>
                <a:tc>
                  <a:txBody>
                    <a:bodyPr/>
                    <a:lstStyle/>
                    <a:p>
                      <a:pPr algn="ctr"/>
                      <a:r>
                        <a:rPr lang="en-US" sz="1100" dirty="0"/>
                        <a:t>0.61</a:t>
                      </a:r>
                    </a:p>
                  </a:txBody>
                  <a:tcPr marL="7621" marR="7621" marT="3810" marB="3810" anchor="ctr"/>
                </a:tc>
                <a:tc>
                  <a:txBody>
                    <a:bodyPr/>
                    <a:lstStyle/>
                    <a:p>
                      <a:pPr algn="ctr"/>
                      <a:r>
                        <a:rPr lang="en-US" sz="1100" dirty="0"/>
                        <a:t>0.76</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0.65</a:t>
                      </a:r>
                    </a:p>
                  </a:txBody>
                  <a:tcPr marL="7621" marR="7621" marT="3810" marB="3810" anchor="ctr"/>
                </a:tc>
                <a:tc>
                  <a:txBody>
                    <a:bodyPr/>
                    <a:lstStyle/>
                    <a:p>
                      <a:pPr algn="ctr"/>
                      <a:r>
                        <a:rPr lang="en-US" sz="1100"/>
                        <a:t>0.57</a:t>
                      </a:r>
                    </a:p>
                  </a:txBody>
                  <a:tcPr marL="7621" marR="7621" marT="3810" marB="3810" anchor="ctr"/>
                </a:tc>
                <a:tc>
                  <a:txBody>
                    <a:bodyPr/>
                    <a:lstStyle/>
                    <a:p>
                      <a:pPr algn="ctr"/>
                      <a:r>
                        <a:rPr lang="en-US" sz="1100"/>
                        <a:t>0.71</a:t>
                      </a:r>
                    </a:p>
                  </a:txBody>
                  <a:tcPr marL="7621" marR="7621" marT="3810" marB="3810" anchor="ctr"/>
                </a:tc>
                <a:extLst>
                  <a:ext uri="{0D108BD9-81ED-4DB2-BD59-A6C34878D82A}">
                    <a16:rowId xmlns:a16="http://schemas.microsoft.com/office/drawing/2014/main" val="957513815"/>
                  </a:ext>
                </a:extLst>
              </a:tr>
              <a:tr h="171481">
                <a:tc vMerge="1">
                  <a:txBody>
                    <a:bodyPr/>
                    <a:lstStyle/>
                    <a:p>
                      <a:pPr algn="ctr"/>
                      <a:endParaRPr lang="en-US" sz="1100"/>
                    </a:p>
                  </a:txBody>
                  <a:tcPr marL="7621" marR="7621" marT="3810" marB="3810" anchor="ctr"/>
                </a:tc>
                <a:tc vMerge="1">
                  <a:txBody>
                    <a:bodyPr/>
                    <a:lstStyle/>
                    <a:p>
                      <a:endParaRPr lang="en-US" sz="110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dirty="0"/>
                        <a:t>1</a:t>
                      </a:r>
                    </a:p>
                  </a:txBody>
                  <a:tcPr marL="7621" marR="7621" marT="3810" marB="3810" anchor="ctr"/>
                </a:tc>
                <a:tc>
                  <a:txBody>
                    <a:bodyPr/>
                    <a:lstStyle/>
                    <a:p>
                      <a:pPr algn="ctr"/>
                      <a:r>
                        <a:rPr lang="en-US" sz="1100" dirty="0"/>
                        <a:t>0.25</a:t>
                      </a:r>
                    </a:p>
                  </a:txBody>
                  <a:tcPr marL="7621" marR="7621" marT="3810" marB="3810" anchor="ctr">
                    <a:noFill/>
                  </a:tcP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0.39</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879668119"/>
                  </a:ext>
                </a:extLst>
              </a:tr>
              <a:tr h="276245">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Gradient Boosting</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0.51</a:t>
                      </a:r>
                    </a:p>
                  </a:txBody>
                  <a:tcPr marL="7621" marR="7621" marT="3810" marB="3810" anchor="ctr"/>
                </a:tc>
                <a:tc>
                  <a:txBody>
                    <a:bodyPr/>
                    <a:lstStyle/>
                    <a:p>
                      <a:pPr algn="ctr"/>
                      <a:r>
                        <a:rPr lang="en-US" sz="1100" dirty="0"/>
                        <a:t>0.67</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0.56</a:t>
                      </a:r>
                    </a:p>
                  </a:txBody>
                  <a:tcPr marL="7621" marR="7621" marT="3810" marB="3810" anchor="ctr"/>
                </a:tc>
                <a:tc>
                  <a:txBody>
                    <a:bodyPr/>
                    <a:lstStyle/>
                    <a:p>
                      <a:pPr algn="ctr"/>
                      <a:r>
                        <a:rPr lang="en-US" sz="1100"/>
                        <a:t>0.51</a:t>
                      </a:r>
                    </a:p>
                  </a:txBody>
                  <a:tcPr marL="7621" marR="7621" marT="3810" marB="3810" anchor="ctr"/>
                </a:tc>
                <a:tc>
                  <a:txBody>
                    <a:bodyPr/>
                    <a:lstStyle/>
                    <a:p>
                      <a:pPr algn="ctr"/>
                      <a:r>
                        <a:rPr lang="en-US" sz="1100"/>
                        <a:t>0.63</a:t>
                      </a:r>
                    </a:p>
                  </a:txBody>
                  <a:tcPr marL="7621" marR="7621" marT="3810" marB="3810" anchor="ctr"/>
                </a:tc>
                <a:extLst>
                  <a:ext uri="{0D108BD9-81ED-4DB2-BD59-A6C34878D82A}">
                    <a16:rowId xmlns:a16="http://schemas.microsoft.com/office/drawing/2014/main" val="352741657"/>
                  </a:ext>
                </a:extLst>
              </a:tr>
              <a:tr h="276245">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0.21</a:t>
                      </a:r>
                    </a:p>
                  </a:txBody>
                  <a:tcPr marL="7621" marR="7621" marT="3810" marB="3810" anchor="ctr">
                    <a:noFill/>
                  </a:tcP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0.34</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dirty="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467495212"/>
                  </a:ext>
                </a:extLst>
              </a:tr>
              <a:tr h="171481">
                <a:tc vMerge="1">
                  <a:txBody>
                    <a:bodyPr/>
                    <a:lstStyle/>
                    <a:p>
                      <a:pPr algn="ctr"/>
                      <a:endParaRPr lang="en-US" sz="110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err="1"/>
                        <a:t>XGBoost</a:t>
                      </a:r>
                      <a:endParaRPr lang="en-US" sz="1100" dirty="0"/>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0.98</a:t>
                      </a:r>
                    </a:p>
                  </a:txBody>
                  <a:tcPr marL="7621" marR="7621" marT="3810" marB="3810" anchor="ctr">
                    <a:noFill/>
                  </a:tcPr>
                </a:tc>
                <a:tc>
                  <a:txBody>
                    <a:bodyPr/>
                    <a:lstStyle/>
                    <a:p>
                      <a:pPr algn="ctr"/>
                      <a:r>
                        <a:rPr lang="en-US" sz="1100" dirty="0"/>
                        <a:t>0.53</a:t>
                      </a:r>
                    </a:p>
                  </a:txBody>
                  <a:tcPr marL="7621" marR="7621" marT="3810" marB="3810" anchor="ctr"/>
                </a:tc>
                <a:tc>
                  <a:txBody>
                    <a:bodyPr/>
                    <a:lstStyle/>
                    <a:p>
                      <a:pPr algn="ctr"/>
                      <a:r>
                        <a:rPr lang="en-US" sz="1100" dirty="0"/>
                        <a:t>0.69</a:t>
                      </a:r>
                    </a:p>
                  </a:txBody>
                  <a:tcPr marL="7621" marR="7621" marT="3810" marB="3810" anchor="ctr"/>
                </a:tc>
                <a:tc>
                  <a:txBody>
                    <a:bodyPr/>
                    <a:lstStyle/>
                    <a:p>
                      <a:pPr algn="ctr"/>
                      <a:r>
                        <a:rPr lang="en-US" sz="1100"/>
                        <a:t>9380</a:t>
                      </a:r>
                    </a:p>
                  </a:txBody>
                  <a:tcPr marL="7621" marR="7621" marT="3810" marB="3810" anchor="ctr"/>
                </a:tc>
                <a:tc>
                  <a:txBody>
                    <a:bodyPr/>
                    <a:lstStyle/>
                    <a:p>
                      <a:pPr algn="ctr"/>
                      <a:r>
                        <a:rPr lang="en-US" sz="1100"/>
                        <a:t>0.58</a:t>
                      </a:r>
                    </a:p>
                  </a:txBody>
                  <a:tcPr marL="7621" marR="7621" marT="3810" marB="3810" anchor="ctr"/>
                </a:tc>
                <a:tc>
                  <a:txBody>
                    <a:bodyPr/>
                    <a:lstStyle/>
                    <a:p>
                      <a:pPr algn="ctr"/>
                      <a:r>
                        <a:rPr lang="en-US" sz="1100"/>
                        <a:t>0.52</a:t>
                      </a:r>
                    </a:p>
                  </a:txBody>
                  <a:tcPr marL="7621" marR="7621" marT="3810" marB="3810" anchor="ctr"/>
                </a:tc>
                <a:tc>
                  <a:txBody>
                    <a:bodyPr/>
                    <a:lstStyle/>
                    <a:p>
                      <a:pPr algn="ctr"/>
                      <a:r>
                        <a:rPr lang="en-US" sz="1100"/>
                        <a:t>0.65</a:t>
                      </a:r>
                    </a:p>
                  </a:txBody>
                  <a:tcPr marL="7621" marR="7621" marT="3810" marB="3810" anchor="ctr"/>
                </a:tc>
                <a:extLst>
                  <a:ext uri="{0D108BD9-81ED-4DB2-BD59-A6C34878D82A}">
                    <a16:rowId xmlns:a16="http://schemas.microsoft.com/office/drawing/2014/main" val="1715278389"/>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0.22</a:t>
                      </a:r>
                    </a:p>
                  </a:txBody>
                  <a:tcPr marL="7621" marR="7621" marT="3810" marB="3810" anchor="ctr">
                    <a:noFill/>
                  </a:tcP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0.35</a:t>
                      </a:r>
                    </a:p>
                  </a:txBody>
                  <a:tcPr marL="7621" marR="7621" marT="3810" marB="3810" anchor="ctr">
                    <a:solidFill>
                      <a:srgbClr val="FFFF00"/>
                    </a:solidFill>
                  </a:tcPr>
                </a:tc>
                <a:tc>
                  <a:txBody>
                    <a:bodyPr/>
                    <a:lstStyle/>
                    <a:p>
                      <a:pPr algn="ctr"/>
                      <a:r>
                        <a:rPr lang="en-US" sz="1100"/>
                        <a:t>1322</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4215931705"/>
                  </a:ext>
                </a:extLst>
              </a:tr>
              <a:tr h="276245">
                <a:tc rowSpan="10">
                  <a:txBody>
                    <a:bodyPr/>
                    <a:lstStyle/>
                    <a:p>
                      <a:pPr algn="ctr"/>
                      <a:r>
                        <a:rPr lang="en-US" sz="1100" dirty="0"/>
                        <a:t>C</a:t>
                      </a:r>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Logistic Regression</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0.67</a:t>
                      </a:r>
                    </a:p>
                  </a:txBody>
                  <a:tcPr marL="7621" marR="7621" marT="3810" marB="3810" anchor="ctr"/>
                </a:tc>
                <a:tc>
                  <a:txBody>
                    <a:bodyPr/>
                    <a:lstStyle/>
                    <a:p>
                      <a:pPr algn="ctr"/>
                      <a:r>
                        <a:rPr lang="en-US" sz="1100" dirty="0"/>
                        <a:t>0.79</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0.69</a:t>
                      </a:r>
                    </a:p>
                  </a:txBody>
                  <a:tcPr marL="7621" marR="7621" marT="3810" marB="3810" anchor="ctr"/>
                </a:tc>
                <a:tc>
                  <a:txBody>
                    <a:bodyPr/>
                    <a:lstStyle/>
                    <a:p>
                      <a:pPr algn="ctr"/>
                      <a:r>
                        <a:rPr lang="en-US" sz="1100"/>
                        <a:t>0.60</a:t>
                      </a:r>
                    </a:p>
                  </a:txBody>
                  <a:tcPr marL="7621" marR="7621" marT="3810" marB="3810" anchor="ctr"/>
                </a:tc>
                <a:tc>
                  <a:txBody>
                    <a:bodyPr/>
                    <a:lstStyle/>
                    <a:p>
                      <a:pPr algn="ctr"/>
                      <a:r>
                        <a:rPr lang="en-US" sz="1100"/>
                        <a:t>0.75</a:t>
                      </a:r>
                    </a:p>
                  </a:txBody>
                  <a:tcPr marL="7621" marR="7621" marT="3810" marB="3810" anchor="ctr"/>
                </a:tc>
                <a:extLst>
                  <a:ext uri="{0D108BD9-81ED-4DB2-BD59-A6C34878D82A}">
                    <a16:rowId xmlns:a16="http://schemas.microsoft.com/office/drawing/2014/main" val="3041719388"/>
                  </a:ext>
                </a:extLst>
              </a:tr>
              <a:tr h="276245">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0.27</a:t>
                      </a:r>
                    </a:p>
                  </a:txBody>
                  <a:tcPr marL="7621" marR="7621" marT="3810" marB="3810" anchor="ctr">
                    <a:noFill/>
                  </a:tcPr>
                </a:tc>
                <a:tc>
                  <a:txBody>
                    <a:bodyPr/>
                    <a:lstStyle/>
                    <a:p>
                      <a:pPr algn="ctr"/>
                      <a:r>
                        <a:rPr lang="en-US" sz="1100" dirty="0"/>
                        <a:t>0.85</a:t>
                      </a:r>
                    </a:p>
                  </a:txBody>
                  <a:tcPr marL="7621" marR="7621" marT="3810" marB="3810" anchor="ctr">
                    <a:solidFill>
                      <a:schemeClr val="accent2">
                        <a:lumMod val="40000"/>
                        <a:lumOff val="60000"/>
                      </a:schemeClr>
                    </a:solidFill>
                  </a:tcPr>
                </a:tc>
                <a:tc>
                  <a:txBody>
                    <a:bodyPr/>
                    <a:lstStyle/>
                    <a:p>
                      <a:pPr algn="ctr"/>
                      <a:r>
                        <a:rPr lang="en-US" sz="1100" dirty="0"/>
                        <a:t>0.41</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640379824"/>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SVM</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0.74</a:t>
                      </a:r>
                    </a:p>
                  </a:txBody>
                  <a:tcPr marL="7621" marR="7621" marT="3810" marB="3810" anchor="ctr"/>
                </a:tc>
                <a:tc>
                  <a:txBody>
                    <a:bodyPr/>
                    <a:lstStyle/>
                    <a:p>
                      <a:pPr algn="ctr"/>
                      <a:r>
                        <a:rPr lang="en-US" sz="1100" dirty="0"/>
                        <a:t>0.84</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0.75</a:t>
                      </a:r>
                    </a:p>
                  </a:txBody>
                  <a:tcPr marL="7621" marR="7621" marT="3810" marB="3810" anchor="ctr"/>
                </a:tc>
                <a:tc>
                  <a:txBody>
                    <a:bodyPr/>
                    <a:lstStyle/>
                    <a:p>
                      <a:pPr algn="ctr"/>
                      <a:r>
                        <a:rPr lang="en-US" sz="1100"/>
                        <a:t>0.65</a:t>
                      </a:r>
                    </a:p>
                  </a:txBody>
                  <a:tcPr marL="7621" marR="7621" marT="3810" marB="3810" anchor="ctr"/>
                </a:tc>
                <a:tc>
                  <a:txBody>
                    <a:bodyPr/>
                    <a:lstStyle/>
                    <a:p>
                      <a:pPr algn="ctr"/>
                      <a:r>
                        <a:rPr lang="en-US" sz="1100"/>
                        <a:t>0.79</a:t>
                      </a:r>
                    </a:p>
                  </a:txBody>
                  <a:tcPr marL="7621" marR="7621" marT="3810" marB="3810" anchor="ctr"/>
                </a:tc>
                <a:extLst>
                  <a:ext uri="{0D108BD9-81ED-4DB2-BD59-A6C34878D82A}">
                    <a16:rowId xmlns:a16="http://schemas.microsoft.com/office/drawing/2014/main" val="1319949718"/>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0.31</a:t>
                      </a:r>
                    </a:p>
                  </a:txBody>
                  <a:tcPr marL="7621" marR="7621" marT="3810" marB="3810" anchor="ctr">
                    <a:solidFill>
                      <a:schemeClr val="accent5">
                        <a:lumMod val="40000"/>
                        <a:lumOff val="60000"/>
                      </a:schemeClr>
                    </a:solidFill>
                  </a:tcPr>
                </a:tc>
                <a:tc>
                  <a:txBody>
                    <a:bodyPr/>
                    <a:lstStyle/>
                    <a:p>
                      <a:pPr algn="ctr"/>
                      <a:r>
                        <a:rPr lang="en-US" sz="1100" dirty="0"/>
                        <a:t>0.86</a:t>
                      </a:r>
                    </a:p>
                  </a:txBody>
                  <a:tcPr marL="7621" marR="7621" marT="3810" marB="3810" anchor="ctr">
                    <a:solidFill>
                      <a:schemeClr val="accent2">
                        <a:lumMod val="40000"/>
                        <a:lumOff val="60000"/>
                      </a:schemeClr>
                    </a:solidFill>
                  </a:tcPr>
                </a:tc>
                <a:tc>
                  <a:txBody>
                    <a:bodyPr/>
                    <a:lstStyle/>
                    <a:p>
                      <a:pPr algn="ctr"/>
                      <a:r>
                        <a:rPr lang="en-US" sz="1100" dirty="0"/>
                        <a:t>0.46</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2747334127"/>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Random Forest</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0.98</a:t>
                      </a:r>
                    </a:p>
                  </a:txBody>
                  <a:tcPr marL="7621" marR="7621" marT="3810" marB="3810" anchor="ctr">
                    <a:noFill/>
                  </a:tcPr>
                </a:tc>
                <a:tc>
                  <a:txBody>
                    <a:bodyPr/>
                    <a:lstStyle/>
                    <a:p>
                      <a:pPr algn="ctr"/>
                      <a:r>
                        <a:rPr lang="en-US" sz="1100" dirty="0"/>
                        <a:t>0.61</a:t>
                      </a:r>
                    </a:p>
                  </a:txBody>
                  <a:tcPr marL="7621" marR="7621" marT="3810" marB="3810" anchor="ctr"/>
                </a:tc>
                <a:tc>
                  <a:txBody>
                    <a:bodyPr/>
                    <a:lstStyle/>
                    <a:p>
                      <a:pPr algn="ctr"/>
                      <a:r>
                        <a:rPr lang="en-US" sz="1100" dirty="0"/>
                        <a:t>0.75</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0.65</a:t>
                      </a:r>
                    </a:p>
                  </a:txBody>
                  <a:tcPr marL="7621" marR="7621" marT="3810" marB="3810" anchor="ctr"/>
                </a:tc>
                <a:tc>
                  <a:txBody>
                    <a:bodyPr/>
                    <a:lstStyle/>
                    <a:p>
                      <a:pPr algn="ctr"/>
                      <a:r>
                        <a:rPr lang="en-US" sz="1100"/>
                        <a:t>0.57</a:t>
                      </a:r>
                    </a:p>
                  </a:txBody>
                  <a:tcPr marL="7621" marR="7621" marT="3810" marB="3810" anchor="ctr"/>
                </a:tc>
                <a:tc>
                  <a:txBody>
                    <a:bodyPr/>
                    <a:lstStyle/>
                    <a:p>
                      <a:pPr algn="ctr"/>
                      <a:r>
                        <a:rPr lang="en-US" sz="1100"/>
                        <a:t>0.71</a:t>
                      </a:r>
                    </a:p>
                  </a:txBody>
                  <a:tcPr marL="7621" marR="7621" marT="3810" marB="3810" anchor="ctr"/>
                </a:tc>
                <a:extLst>
                  <a:ext uri="{0D108BD9-81ED-4DB2-BD59-A6C34878D82A}">
                    <a16:rowId xmlns:a16="http://schemas.microsoft.com/office/drawing/2014/main" val="3559893760"/>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0.25</a:t>
                      </a:r>
                    </a:p>
                  </a:txBody>
                  <a:tcPr marL="7621" marR="7621" marT="3810" marB="3810" anchor="ctr">
                    <a:noFill/>
                  </a:tcP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0.39</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3865076452"/>
                  </a:ext>
                </a:extLst>
              </a:tr>
              <a:tr h="276245">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a:t>Gradient Boosting</a:t>
                      </a:r>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0.97</a:t>
                      </a:r>
                    </a:p>
                  </a:txBody>
                  <a:tcPr marL="7621" marR="7621" marT="3810" marB="3810" anchor="ctr">
                    <a:noFill/>
                  </a:tcPr>
                </a:tc>
                <a:tc>
                  <a:txBody>
                    <a:bodyPr/>
                    <a:lstStyle/>
                    <a:p>
                      <a:pPr algn="ctr"/>
                      <a:r>
                        <a:rPr lang="en-US" sz="1100" dirty="0"/>
                        <a:t>0.49</a:t>
                      </a:r>
                    </a:p>
                  </a:txBody>
                  <a:tcPr marL="7621" marR="7621" marT="3810" marB="3810" anchor="ctr"/>
                </a:tc>
                <a:tc>
                  <a:txBody>
                    <a:bodyPr/>
                    <a:lstStyle/>
                    <a:p>
                      <a:pPr algn="ctr"/>
                      <a:r>
                        <a:rPr lang="en-US" sz="1100" dirty="0"/>
                        <a:t>0.65</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0.54</a:t>
                      </a:r>
                    </a:p>
                  </a:txBody>
                  <a:tcPr marL="7621" marR="7621" marT="3810" marB="3810" anchor="ctr"/>
                </a:tc>
                <a:tc>
                  <a:txBody>
                    <a:bodyPr/>
                    <a:lstStyle/>
                    <a:p>
                      <a:pPr algn="ctr"/>
                      <a:r>
                        <a:rPr lang="en-US" sz="1100"/>
                        <a:t>0.49</a:t>
                      </a:r>
                    </a:p>
                  </a:txBody>
                  <a:tcPr marL="7621" marR="7621" marT="3810" marB="3810" anchor="ctr"/>
                </a:tc>
                <a:tc>
                  <a:txBody>
                    <a:bodyPr/>
                    <a:lstStyle/>
                    <a:p>
                      <a:pPr algn="ctr"/>
                      <a:r>
                        <a:rPr lang="en-US" sz="1100"/>
                        <a:t>0.61</a:t>
                      </a:r>
                    </a:p>
                  </a:txBody>
                  <a:tcPr marL="7621" marR="7621" marT="3810" marB="3810" anchor="ctr"/>
                </a:tc>
                <a:extLst>
                  <a:ext uri="{0D108BD9-81ED-4DB2-BD59-A6C34878D82A}">
                    <a16:rowId xmlns:a16="http://schemas.microsoft.com/office/drawing/2014/main" val="1296721111"/>
                  </a:ext>
                </a:extLst>
              </a:tr>
              <a:tr h="276245">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0.20</a:t>
                      </a:r>
                    </a:p>
                  </a:txBody>
                  <a:tcPr marL="7621" marR="7621" marT="3810" marB="3810" anchor="ctr">
                    <a:noFill/>
                  </a:tcPr>
                </a:tc>
                <a:tc>
                  <a:txBody>
                    <a:bodyPr/>
                    <a:lstStyle/>
                    <a:p>
                      <a:pPr algn="ctr"/>
                      <a:r>
                        <a:rPr lang="en-US" sz="1100" dirty="0"/>
                        <a:t>0.90</a:t>
                      </a:r>
                    </a:p>
                  </a:txBody>
                  <a:tcPr marL="7621" marR="7621" marT="3810" marB="3810" anchor="ctr">
                    <a:solidFill>
                      <a:schemeClr val="accent2">
                        <a:lumMod val="40000"/>
                        <a:lumOff val="60000"/>
                      </a:schemeClr>
                    </a:solidFill>
                  </a:tcPr>
                </a:tc>
                <a:tc>
                  <a:txBody>
                    <a:bodyPr/>
                    <a:lstStyle/>
                    <a:p>
                      <a:pPr algn="ctr"/>
                      <a:r>
                        <a:rPr lang="en-US" sz="1100" dirty="0"/>
                        <a:t>0.33</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extLst>
                  <a:ext uri="{0D108BD9-81ED-4DB2-BD59-A6C34878D82A}">
                    <a16:rowId xmlns:a16="http://schemas.microsoft.com/office/drawing/2014/main" val="1163302443"/>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rowSpan="2">
                  <a:txBody>
                    <a:bodyPr/>
                    <a:lstStyle/>
                    <a:p>
                      <a:pPr algn="ctr"/>
                      <a:r>
                        <a:rPr lang="en-US" sz="1100" dirty="0" err="1"/>
                        <a:t>XGBoost</a:t>
                      </a:r>
                      <a:endParaRPr lang="en-US" sz="1100" dirty="0"/>
                    </a:p>
                  </a:txBody>
                  <a:tcPr marL="7621" marR="7621" marT="3810" marB="3810" anchor="ctr"/>
                </a:tc>
                <a:tc>
                  <a:txBody>
                    <a:bodyPr/>
                    <a:lstStyle/>
                    <a:p>
                      <a:pPr algn="ctr"/>
                      <a:r>
                        <a:rPr lang="en-US" sz="1100"/>
                        <a:t>0</a:t>
                      </a:r>
                    </a:p>
                  </a:txBody>
                  <a:tcPr marL="7621" marR="7621" marT="3810" marB="3810" anchor="ctr"/>
                </a:tc>
                <a:tc>
                  <a:txBody>
                    <a:bodyPr/>
                    <a:lstStyle/>
                    <a:p>
                      <a:pPr algn="ctr"/>
                      <a:r>
                        <a:rPr lang="en-US" sz="1100" dirty="0"/>
                        <a:t>0.98</a:t>
                      </a:r>
                    </a:p>
                  </a:txBody>
                  <a:tcPr marL="7621" marR="7621" marT="3810" marB="3810" anchor="ctr">
                    <a:noFill/>
                  </a:tcPr>
                </a:tc>
                <a:tc>
                  <a:txBody>
                    <a:bodyPr/>
                    <a:lstStyle/>
                    <a:p>
                      <a:pPr algn="ctr"/>
                      <a:r>
                        <a:rPr lang="en-US" sz="1100" dirty="0"/>
                        <a:t>0.54</a:t>
                      </a:r>
                    </a:p>
                  </a:txBody>
                  <a:tcPr marL="7621" marR="7621" marT="3810" marB="3810" anchor="ctr"/>
                </a:tc>
                <a:tc>
                  <a:txBody>
                    <a:bodyPr/>
                    <a:lstStyle/>
                    <a:p>
                      <a:pPr algn="ctr"/>
                      <a:r>
                        <a:rPr lang="en-US" sz="1100" dirty="0"/>
                        <a:t>0.69</a:t>
                      </a:r>
                    </a:p>
                  </a:txBody>
                  <a:tcPr marL="7621" marR="7621" marT="3810" marB="3810" anchor="ctr"/>
                </a:tc>
                <a:tc>
                  <a:txBody>
                    <a:bodyPr/>
                    <a:lstStyle/>
                    <a:p>
                      <a:pPr algn="ctr"/>
                      <a:r>
                        <a:rPr lang="en-US" sz="1100"/>
                        <a:t>7504</a:t>
                      </a:r>
                    </a:p>
                  </a:txBody>
                  <a:tcPr marL="7621" marR="7621" marT="3810" marB="3810" anchor="ctr"/>
                </a:tc>
                <a:tc>
                  <a:txBody>
                    <a:bodyPr/>
                    <a:lstStyle/>
                    <a:p>
                      <a:pPr algn="ctr"/>
                      <a:r>
                        <a:rPr lang="en-US" sz="1100"/>
                        <a:t>0.58</a:t>
                      </a:r>
                    </a:p>
                  </a:txBody>
                  <a:tcPr marL="7621" marR="7621" marT="3810" marB="3810" anchor="ctr"/>
                </a:tc>
                <a:tc>
                  <a:txBody>
                    <a:bodyPr/>
                    <a:lstStyle/>
                    <a:p>
                      <a:pPr algn="ctr"/>
                      <a:r>
                        <a:rPr lang="en-US" sz="1100"/>
                        <a:t>0.52</a:t>
                      </a:r>
                    </a:p>
                  </a:txBody>
                  <a:tcPr marL="7621" marR="7621" marT="3810" marB="3810" anchor="ctr"/>
                </a:tc>
                <a:tc>
                  <a:txBody>
                    <a:bodyPr/>
                    <a:lstStyle/>
                    <a:p>
                      <a:pPr algn="ctr"/>
                      <a:r>
                        <a:rPr lang="en-US" sz="1100"/>
                        <a:t>0.65</a:t>
                      </a:r>
                    </a:p>
                  </a:txBody>
                  <a:tcPr marL="7621" marR="7621" marT="3810" marB="3810" anchor="ctr"/>
                </a:tc>
                <a:extLst>
                  <a:ext uri="{0D108BD9-81ED-4DB2-BD59-A6C34878D82A}">
                    <a16:rowId xmlns:a16="http://schemas.microsoft.com/office/drawing/2014/main" val="300894496"/>
                  </a:ext>
                </a:extLst>
              </a:tr>
              <a:tr h="171481">
                <a:tc vMerge="1">
                  <a:txBody>
                    <a:bodyPr/>
                    <a:lstStyle/>
                    <a:p>
                      <a:pPr algn="ctr"/>
                      <a:endParaRPr lang="en-US" sz="1100" dirty="0"/>
                    </a:p>
                  </a:txBody>
                  <a:tcPr marL="7621" marR="7621" marT="3810" marB="3810" anchor="ctr"/>
                </a:tc>
                <a:tc vMerge="1">
                  <a:txBody>
                    <a:bodyPr/>
                    <a:lstStyle/>
                    <a:p>
                      <a:endParaRPr lang="en-US" sz="1100" dirty="0"/>
                    </a:p>
                  </a:txBody>
                  <a:tcPr marL="7621" marR="7621" marT="3810" marB="3810" anchor="ctr"/>
                </a:tc>
                <a:tc vMerge="1">
                  <a:txBody>
                    <a:bodyPr/>
                    <a:lstStyle/>
                    <a:p>
                      <a:pPr algn="ctr"/>
                      <a:endParaRPr lang="en-US" sz="1100" dirty="0"/>
                    </a:p>
                  </a:txBody>
                  <a:tcPr marL="7621" marR="7621" marT="3810" marB="3810" anchor="ctr"/>
                </a:tc>
                <a:tc>
                  <a:txBody>
                    <a:bodyPr/>
                    <a:lstStyle/>
                    <a:p>
                      <a:pPr algn="ctr"/>
                      <a:r>
                        <a:rPr lang="en-US" sz="1100"/>
                        <a:t>1</a:t>
                      </a:r>
                    </a:p>
                  </a:txBody>
                  <a:tcPr marL="7621" marR="7621" marT="3810" marB="3810" anchor="ctr"/>
                </a:tc>
                <a:tc>
                  <a:txBody>
                    <a:bodyPr/>
                    <a:lstStyle/>
                    <a:p>
                      <a:pPr algn="ctr"/>
                      <a:r>
                        <a:rPr lang="en-US" sz="1100" dirty="0"/>
                        <a:t>0.22</a:t>
                      </a:r>
                    </a:p>
                  </a:txBody>
                  <a:tcPr marL="7621" marR="7621" marT="3810" marB="3810" anchor="ctr">
                    <a:noFill/>
                  </a:tcPr>
                </a:tc>
                <a:tc>
                  <a:txBody>
                    <a:bodyPr/>
                    <a:lstStyle/>
                    <a:p>
                      <a:pPr algn="ctr"/>
                      <a:r>
                        <a:rPr lang="en-US" sz="1100" dirty="0"/>
                        <a:t>0.91</a:t>
                      </a:r>
                    </a:p>
                  </a:txBody>
                  <a:tcPr marL="7621" marR="7621" marT="3810" marB="3810" anchor="ctr">
                    <a:solidFill>
                      <a:schemeClr val="accent2">
                        <a:lumMod val="40000"/>
                        <a:lumOff val="60000"/>
                      </a:schemeClr>
                    </a:solidFill>
                  </a:tcPr>
                </a:tc>
                <a:tc>
                  <a:txBody>
                    <a:bodyPr/>
                    <a:lstStyle/>
                    <a:p>
                      <a:pPr algn="ctr"/>
                      <a:r>
                        <a:rPr lang="en-US" sz="1100" dirty="0"/>
                        <a:t>0.35</a:t>
                      </a:r>
                    </a:p>
                  </a:txBody>
                  <a:tcPr marL="7621" marR="7621" marT="3810" marB="3810" anchor="ctr">
                    <a:solidFill>
                      <a:srgbClr val="FFFF00"/>
                    </a:solidFill>
                  </a:tcPr>
                </a:tc>
                <a:tc>
                  <a:txBody>
                    <a:bodyPr/>
                    <a:lstStyle/>
                    <a:p>
                      <a:pPr algn="ctr"/>
                      <a:r>
                        <a:rPr lang="en-US" sz="1100"/>
                        <a:t>1058</a:t>
                      </a:r>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a:p>
                  </a:txBody>
                  <a:tcPr marL="7621" marR="7621" marT="3810" marB="3810" anchor="ctr"/>
                </a:tc>
                <a:tc>
                  <a:txBody>
                    <a:bodyPr/>
                    <a:lstStyle/>
                    <a:p>
                      <a:pPr algn="ctr"/>
                      <a:endParaRPr lang="en-US" sz="1100" dirty="0"/>
                    </a:p>
                  </a:txBody>
                  <a:tcPr marL="7621" marR="7621" marT="3810" marB="3810" anchor="ctr"/>
                </a:tc>
                <a:extLst>
                  <a:ext uri="{0D108BD9-81ED-4DB2-BD59-A6C34878D82A}">
                    <a16:rowId xmlns:a16="http://schemas.microsoft.com/office/drawing/2014/main" val="3785113267"/>
                  </a:ext>
                </a:extLst>
              </a:tr>
            </a:tbl>
          </a:graphicData>
        </a:graphic>
      </p:graphicFrame>
      <p:cxnSp>
        <p:nvCxnSpPr>
          <p:cNvPr id="4" name="Straight Arrow Connector 3">
            <a:extLst>
              <a:ext uri="{FF2B5EF4-FFF2-40B4-BE49-F238E27FC236}">
                <a16:creationId xmlns:a16="http://schemas.microsoft.com/office/drawing/2014/main" id="{E9BE6A2C-0092-4695-8D4B-6C2E521E3B0A}"/>
              </a:ext>
            </a:extLst>
          </p:cNvPr>
          <p:cNvCxnSpPr/>
          <p:nvPr/>
        </p:nvCxnSpPr>
        <p:spPr>
          <a:xfrm>
            <a:off x="1389671" y="1000540"/>
            <a:ext cx="7589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08FFED0-172F-4F6D-BD1A-1A7F3CBC7AE9}"/>
              </a:ext>
            </a:extLst>
          </p:cNvPr>
          <p:cNvCxnSpPr/>
          <p:nvPr/>
        </p:nvCxnSpPr>
        <p:spPr>
          <a:xfrm>
            <a:off x="1389671" y="3154019"/>
            <a:ext cx="7589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4571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CBC6B2-F359-4A79-986F-59C69122CF44}"/>
              </a:ext>
            </a:extLst>
          </p:cNvPr>
          <p:cNvSpPr/>
          <p:nvPr/>
        </p:nvSpPr>
        <p:spPr>
          <a:xfrm>
            <a:off x="238539" y="1205946"/>
            <a:ext cx="11714921" cy="518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ctr">
              <a:buFont typeface="Arial" panose="020B0604020202020204" pitchFamily="34" charset="0"/>
              <a:buChar char="•"/>
            </a:pPr>
            <a:r>
              <a:rPr lang="en-US" sz="2400" dirty="0">
                <a:solidFill>
                  <a:schemeClr val="tx1"/>
                </a:solidFill>
              </a:rPr>
              <a:t>Using </a:t>
            </a:r>
            <a:r>
              <a:rPr lang="en-US" sz="2400" b="1" dirty="0" err="1">
                <a:solidFill>
                  <a:schemeClr val="tx1"/>
                </a:solidFill>
              </a:rPr>
              <a:t>SMOTETomek</a:t>
            </a:r>
            <a:r>
              <a:rPr lang="en-US" sz="2400" dirty="0">
                <a:solidFill>
                  <a:schemeClr val="tx1"/>
                </a:solidFill>
              </a:rPr>
              <a:t> and after modeling (with </a:t>
            </a:r>
            <a:r>
              <a:rPr lang="en-US" sz="2400" b="1" dirty="0">
                <a:solidFill>
                  <a:schemeClr val="tx1"/>
                </a:solidFill>
              </a:rPr>
              <a:t>Age</a:t>
            </a:r>
            <a:r>
              <a:rPr lang="en-US" sz="2400" dirty="0">
                <a:solidFill>
                  <a:schemeClr val="tx1"/>
                </a:solidFill>
              </a:rPr>
              <a:t> column) the best model was the </a:t>
            </a:r>
            <a:r>
              <a:rPr lang="en-US" sz="2400" b="1" dirty="0">
                <a:solidFill>
                  <a:schemeClr val="tx1"/>
                </a:solidFill>
              </a:rPr>
              <a:t>Gradient Boosting</a:t>
            </a:r>
            <a:r>
              <a:rPr lang="en-US" sz="2400" dirty="0">
                <a:solidFill>
                  <a:schemeClr val="tx1"/>
                </a:solidFill>
              </a:rPr>
              <a:t> model, by taking (</a:t>
            </a:r>
            <a:r>
              <a:rPr lang="en-US" sz="2400" b="1" dirty="0" err="1">
                <a:solidFill>
                  <a:schemeClr val="tx1"/>
                </a:solidFill>
              </a:rPr>
              <a:t>test_size</a:t>
            </a:r>
            <a:r>
              <a:rPr lang="en-US" sz="2400" b="1" dirty="0">
                <a:solidFill>
                  <a:schemeClr val="tx1"/>
                </a:solidFill>
              </a:rPr>
              <a:t> = 0.3 </a:t>
            </a:r>
            <a:r>
              <a:rPr lang="en-US" sz="2400" dirty="0">
                <a:solidFill>
                  <a:schemeClr val="tx1"/>
                </a:solidFill>
              </a:rPr>
              <a:t>and </a:t>
            </a:r>
            <a:r>
              <a:rPr lang="en-US" sz="2400" b="1" dirty="0" err="1">
                <a:solidFill>
                  <a:schemeClr val="tx1"/>
                </a:solidFill>
              </a:rPr>
              <a:t>test_size</a:t>
            </a:r>
            <a:r>
              <a:rPr lang="en-US" sz="2400" b="1" dirty="0">
                <a:solidFill>
                  <a:schemeClr val="tx1"/>
                </a:solidFill>
              </a:rPr>
              <a:t> = 0.25</a:t>
            </a:r>
            <a:r>
              <a:rPr lang="en-US" sz="2400" dirty="0">
                <a:solidFill>
                  <a:schemeClr val="tx1"/>
                </a:solidFill>
              </a:rPr>
              <a:t>) with (</a:t>
            </a:r>
            <a:r>
              <a:rPr lang="en-US" sz="2400" b="1" dirty="0">
                <a:solidFill>
                  <a:schemeClr val="tx1"/>
                </a:solidFill>
              </a:rPr>
              <a:t>Precision = </a:t>
            </a:r>
            <a:r>
              <a:rPr lang="en-US" sz="2400" dirty="0">
                <a:solidFill>
                  <a:schemeClr val="tx1"/>
                </a:solidFill>
              </a:rPr>
              <a:t>0.48</a:t>
            </a:r>
            <a:r>
              <a:rPr lang="en-US" sz="2400" b="1" dirty="0">
                <a:solidFill>
                  <a:schemeClr val="tx1"/>
                </a:solidFill>
              </a:rPr>
              <a:t> , Recall = </a:t>
            </a:r>
            <a:r>
              <a:rPr lang="en-US" sz="2400" dirty="0">
                <a:solidFill>
                  <a:schemeClr val="tx1"/>
                </a:solidFill>
              </a:rPr>
              <a:t>0.67</a:t>
            </a:r>
            <a:r>
              <a:rPr lang="en-US" sz="2400" b="1" dirty="0">
                <a:solidFill>
                  <a:schemeClr val="tx1"/>
                </a:solidFill>
              </a:rPr>
              <a:t> , </a:t>
            </a:r>
            <a:r>
              <a:rPr lang="en-US" sz="2400" dirty="0">
                <a:solidFill>
                  <a:schemeClr val="tx1"/>
                </a:solidFill>
              </a:rPr>
              <a:t>and</a:t>
            </a:r>
            <a:r>
              <a:rPr lang="en-US" sz="2400" b="1" dirty="0">
                <a:solidFill>
                  <a:schemeClr val="tx1"/>
                </a:solidFill>
              </a:rPr>
              <a:t> F1-score =</a:t>
            </a:r>
            <a:r>
              <a:rPr lang="en-US" sz="2400" dirty="0">
                <a:solidFill>
                  <a:schemeClr val="tx1"/>
                </a:solidFill>
              </a:rPr>
              <a:t> 0.56) , while without </a:t>
            </a:r>
            <a:r>
              <a:rPr lang="en-US" sz="2400" b="1" dirty="0">
                <a:solidFill>
                  <a:schemeClr val="tx1"/>
                </a:solidFill>
              </a:rPr>
              <a:t>Age </a:t>
            </a:r>
            <a:r>
              <a:rPr lang="en-US" sz="2400" dirty="0">
                <a:solidFill>
                  <a:schemeClr val="tx1"/>
                </a:solidFill>
              </a:rPr>
              <a:t>column the best model was also the </a:t>
            </a:r>
            <a:r>
              <a:rPr lang="en-US" sz="2400" b="1" dirty="0">
                <a:solidFill>
                  <a:schemeClr val="tx1"/>
                </a:solidFill>
              </a:rPr>
              <a:t>Gradient Boosting</a:t>
            </a:r>
            <a:r>
              <a:rPr lang="en-US" sz="2400" dirty="0">
                <a:solidFill>
                  <a:schemeClr val="tx1"/>
                </a:solidFill>
              </a:rPr>
              <a:t> model (</a:t>
            </a:r>
            <a:r>
              <a:rPr lang="en-US" sz="2400" b="1" dirty="0" err="1">
                <a:solidFill>
                  <a:schemeClr val="tx1"/>
                </a:solidFill>
              </a:rPr>
              <a:t>test_size</a:t>
            </a:r>
            <a:r>
              <a:rPr lang="en-US" sz="2400" b="1" dirty="0">
                <a:solidFill>
                  <a:schemeClr val="tx1"/>
                </a:solidFill>
              </a:rPr>
              <a:t> =</a:t>
            </a:r>
            <a:r>
              <a:rPr lang="en-US" sz="2400" dirty="0">
                <a:solidFill>
                  <a:schemeClr val="tx1"/>
                </a:solidFill>
              </a:rPr>
              <a:t> </a:t>
            </a:r>
            <a:r>
              <a:rPr lang="en-US" sz="2400" b="1" dirty="0">
                <a:solidFill>
                  <a:schemeClr val="tx1"/>
                </a:solidFill>
              </a:rPr>
              <a:t>0.25) </a:t>
            </a:r>
            <a:r>
              <a:rPr lang="en-US" sz="2400" dirty="0">
                <a:solidFill>
                  <a:schemeClr val="tx1"/>
                </a:solidFill>
              </a:rPr>
              <a:t>with (</a:t>
            </a:r>
            <a:r>
              <a:rPr lang="en-US" sz="2400" b="1" dirty="0">
                <a:solidFill>
                  <a:schemeClr val="tx1"/>
                </a:solidFill>
              </a:rPr>
              <a:t>Precision = </a:t>
            </a:r>
            <a:r>
              <a:rPr lang="en-US" sz="2400" dirty="0">
                <a:solidFill>
                  <a:schemeClr val="tx1"/>
                </a:solidFill>
              </a:rPr>
              <a:t>0.48 , </a:t>
            </a:r>
            <a:r>
              <a:rPr lang="en-US" sz="2400" b="1" dirty="0">
                <a:solidFill>
                  <a:schemeClr val="tx1"/>
                </a:solidFill>
              </a:rPr>
              <a:t>Recall = </a:t>
            </a:r>
            <a:r>
              <a:rPr lang="en-US" sz="2400" dirty="0">
                <a:solidFill>
                  <a:schemeClr val="tx1"/>
                </a:solidFill>
              </a:rPr>
              <a:t>0.66 , and </a:t>
            </a:r>
            <a:r>
              <a:rPr lang="en-US" sz="2400" b="1" dirty="0">
                <a:solidFill>
                  <a:schemeClr val="tx1"/>
                </a:solidFill>
              </a:rPr>
              <a:t>F1-score = </a:t>
            </a:r>
            <a:r>
              <a:rPr lang="en-US" sz="2400" dirty="0">
                <a:solidFill>
                  <a:schemeClr val="tx1"/>
                </a:solidFill>
              </a:rPr>
              <a:t>0.55).</a:t>
            </a:r>
          </a:p>
          <a:p>
            <a:pPr marL="285750" indent="-285750" fontAlgn="ctr">
              <a:buFont typeface="Arial" panose="020B0604020202020204" pitchFamily="34" charset="0"/>
              <a:buChar char="•"/>
            </a:pPr>
            <a:r>
              <a:rPr lang="en-US" sz="2400" dirty="0">
                <a:solidFill>
                  <a:schemeClr val="tx1"/>
                </a:solidFill>
              </a:rPr>
              <a:t>Both with and without are almost the same, and this is normal because we have applied this method on the purpose of the </a:t>
            </a:r>
            <a:r>
              <a:rPr lang="en-US" sz="2400" b="1" dirty="0">
                <a:solidFill>
                  <a:schemeClr val="tx1"/>
                </a:solidFill>
              </a:rPr>
              <a:t>Logistic Regression</a:t>
            </a:r>
            <a:r>
              <a:rPr lang="en-US" sz="2400" dirty="0">
                <a:solidFill>
                  <a:schemeClr val="tx1"/>
                </a:solidFill>
              </a:rPr>
              <a:t> only.</a:t>
            </a:r>
          </a:p>
          <a:p>
            <a:pPr marL="285750" indent="-285750" fontAlgn="ctr">
              <a:buFont typeface="Arial" panose="020B0604020202020204" pitchFamily="34" charset="0"/>
              <a:buChar char="•"/>
            </a:pPr>
            <a:r>
              <a:rPr lang="en-US" sz="2400" dirty="0">
                <a:solidFill>
                  <a:schemeClr val="tx1"/>
                </a:solidFill>
              </a:rPr>
              <a:t>Using </a:t>
            </a:r>
            <a:r>
              <a:rPr lang="en-US" sz="2400" b="1" dirty="0" err="1">
                <a:solidFill>
                  <a:schemeClr val="tx1"/>
                </a:solidFill>
              </a:rPr>
              <a:t>NearMiss</a:t>
            </a:r>
            <a:r>
              <a:rPr lang="en-US" sz="2400" dirty="0">
                <a:solidFill>
                  <a:schemeClr val="tx1"/>
                </a:solidFill>
              </a:rPr>
              <a:t> and after modeling (with </a:t>
            </a:r>
            <a:r>
              <a:rPr lang="en-US" sz="2400" b="1" dirty="0">
                <a:solidFill>
                  <a:schemeClr val="tx1"/>
                </a:solidFill>
              </a:rPr>
              <a:t>Age</a:t>
            </a:r>
            <a:r>
              <a:rPr lang="en-US" sz="2400" dirty="0">
                <a:solidFill>
                  <a:schemeClr val="tx1"/>
                </a:solidFill>
              </a:rPr>
              <a:t> column) the best model was the </a:t>
            </a:r>
            <a:r>
              <a:rPr lang="en-US" sz="2400" b="1" dirty="0">
                <a:solidFill>
                  <a:schemeClr val="tx1"/>
                </a:solidFill>
              </a:rPr>
              <a:t>SVM </a:t>
            </a:r>
            <a:r>
              <a:rPr lang="en-US" sz="2400" dirty="0">
                <a:solidFill>
                  <a:schemeClr val="tx1"/>
                </a:solidFill>
              </a:rPr>
              <a:t>model, by taking (</a:t>
            </a:r>
            <a:r>
              <a:rPr lang="en-US" sz="2400" b="1" dirty="0" err="1">
                <a:solidFill>
                  <a:schemeClr val="tx1"/>
                </a:solidFill>
              </a:rPr>
              <a:t>test_size</a:t>
            </a:r>
            <a:r>
              <a:rPr lang="en-US" sz="2400" b="1" dirty="0">
                <a:solidFill>
                  <a:schemeClr val="tx1"/>
                </a:solidFill>
              </a:rPr>
              <a:t> = 0.3 </a:t>
            </a:r>
            <a:r>
              <a:rPr lang="en-US" sz="2400" dirty="0">
                <a:solidFill>
                  <a:schemeClr val="tx1"/>
                </a:solidFill>
              </a:rPr>
              <a:t>and </a:t>
            </a:r>
            <a:r>
              <a:rPr lang="en-US" sz="2400" b="1" dirty="0" err="1">
                <a:solidFill>
                  <a:schemeClr val="tx1"/>
                </a:solidFill>
              </a:rPr>
              <a:t>test_size</a:t>
            </a:r>
            <a:r>
              <a:rPr lang="en-US" sz="2400" b="1" dirty="0">
                <a:solidFill>
                  <a:schemeClr val="tx1"/>
                </a:solidFill>
              </a:rPr>
              <a:t> = 0.25</a:t>
            </a:r>
            <a:r>
              <a:rPr lang="en-US" sz="2400" dirty="0">
                <a:solidFill>
                  <a:schemeClr val="tx1"/>
                </a:solidFill>
              </a:rPr>
              <a:t>) with (</a:t>
            </a:r>
            <a:r>
              <a:rPr lang="en-US" sz="2400" b="1" dirty="0">
                <a:solidFill>
                  <a:schemeClr val="tx1"/>
                </a:solidFill>
              </a:rPr>
              <a:t>Precision = </a:t>
            </a:r>
            <a:r>
              <a:rPr lang="en-US" sz="2400" dirty="0">
                <a:solidFill>
                  <a:schemeClr val="tx1"/>
                </a:solidFill>
              </a:rPr>
              <a:t>0.32</a:t>
            </a:r>
            <a:r>
              <a:rPr lang="en-US" sz="2400" b="1" dirty="0">
                <a:solidFill>
                  <a:schemeClr val="tx1"/>
                </a:solidFill>
              </a:rPr>
              <a:t> , Recall = </a:t>
            </a:r>
            <a:r>
              <a:rPr lang="en-US" sz="2400" dirty="0">
                <a:solidFill>
                  <a:schemeClr val="tx1"/>
                </a:solidFill>
              </a:rPr>
              <a:t>0.86</a:t>
            </a:r>
            <a:r>
              <a:rPr lang="en-US" sz="2400" b="1" dirty="0">
                <a:solidFill>
                  <a:schemeClr val="tx1"/>
                </a:solidFill>
              </a:rPr>
              <a:t> , </a:t>
            </a:r>
            <a:r>
              <a:rPr lang="en-US" sz="2400" dirty="0">
                <a:solidFill>
                  <a:schemeClr val="tx1"/>
                </a:solidFill>
              </a:rPr>
              <a:t>and</a:t>
            </a:r>
            <a:r>
              <a:rPr lang="en-US" sz="2400" b="1" dirty="0">
                <a:solidFill>
                  <a:schemeClr val="tx1"/>
                </a:solidFill>
              </a:rPr>
              <a:t> F1-score =</a:t>
            </a:r>
            <a:r>
              <a:rPr lang="en-US" sz="2400" dirty="0">
                <a:solidFill>
                  <a:schemeClr val="tx1"/>
                </a:solidFill>
              </a:rPr>
              <a:t> 0.46) , while without </a:t>
            </a:r>
            <a:r>
              <a:rPr lang="en-US" sz="2400" b="1" dirty="0">
                <a:solidFill>
                  <a:schemeClr val="tx1"/>
                </a:solidFill>
              </a:rPr>
              <a:t>Age </a:t>
            </a:r>
            <a:r>
              <a:rPr lang="en-US" sz="2400" dirty="0">
                <a:solidFill>
                  <a:schemeClr val="tx1"/>
                </a:solidFill>
              </a:rPr>
              <a:t>column the best model was also the </a:t>
            </a:r>
            <a:r>
              <a:rPr lang="en-US" sz="2400" b="1" dirty="0">
                <a:solidFill>
                  <a:schemeClr val="tx1"/>
                </a:solidFill>
              </a:rPr>
              <a:t>SVM </a:t>
            </a:r>
            <a:r>
              <a:rPr lang="en-US" sz="2400" dirty="0">
                <a:solidFill>
                  <a:schemeClr val="tx1"/>
                </a:solidFill>
              </a:rPr>
              <a:t>model (</a:t>
            </a:r>
            <a:r>
              <a:rPr lang="en-US" sz="2400" b="1" dirty="0" err="1">
                <a:solidFill>
                  <a:schemeClr val="tx1"/>
                </a:solidFill>
              </a:rPr>
              <a:t>test_size</a:t>
            </a:r>
            <a:r>
              <a:rPr lang="en-US" sz="2400" b="1" dirty="0">
                <a:solidFill>
                  <a:schemeClr val="tx1"/>
                </a:solidFill>
              </a:rPr>
              <a:t> =</a:t>
            </a:r>
            <a:r>
              <a:rPr lang="en-US" sz="2400" dirty="0">
                <a:solidFill>
                  <a:schemeClr val="tx1"/>
                </a:solidFill>
              </a:rPr>
              <a:t> </a:t>
            </a:r>
            <a:r>
              <a:rPr lang="en-US" sz="2400" b="1" dirty="0">
                <a:solidFill>
                  <a:schemeClr val="tx1"/>
                </a:solidFill>
              </a:rPr>
              <a:t>0.25) </a:t>
            </a:r>
            <a:r>
              <a:rPr lang="en-US" sz="2400" dirty="0">
                <a:solidFill>
                  <a:schemeClr val="tx1"/>
                </a:solidFill>
              </a:rPr>
              <a:t>with (</a:t>
            </a:r>
            <a:r>
              <a:rPr lang="en-US" sz="2400" b="1" dirty="0">
                <a:solidFill>
                  <a:schemeClr val="tx1"/>
                </a:solidFill>
              </a:rPr>
              <a:t>Precision = </a:t>
            </a:r>
            <a:r>
              <a:rPr lang="en-US" sz="2400" dirty="0">
                <a:solidFill>
                  <a:schemeClr val="tx1"/>
                </a:solidFill>
              </a:rPr>
              <a:t>0.31 , </a:t>
            </a:r>
            <a:r>
              <a:rPr lang="en-US" sz="2400" b="1" dirty="0">
                <a:solidFill>
                  <a:schemeClr val="tx1"/>
                </a:solidFill>
              </a:rPr>
              <a:t>Recall = </a:t>
            </a:r>
            <a:r>
              <a:rPr lang="en-US" sz="2400" dirty="0">
                <a:solidFill>
                  <a:schemeClr val="tx1"/>
                </a:solidFill>
              </a:rPr>
              <a:t>0.86 , and </a:t>
            </a:r>
            <a:r>
              <a:rPr lang="en-US" sz="2400" b="1" dirty="0">
                <a:solidFill>
                  <a:schemeClr val="tx1"/>
                </a:solidFill>
              </a:rPr>
              <a:t>F1-score = </a:t>
            </a:r>
            <a:r>
              <a:rPr lang="en-US" sz="2400" dirty="0">
                <a:solidFill>
                  <a:schemeClr val="tx1"/>
                </a:solidFill>
              </a:rPr>
              <a:t>0.45).</a:t>
            </a:r>
          </a:p>
          <a:p>
            <a:pPr marL="285750" indent="-285750" fontAlgn="ctr">
              <a:buFont typeface="Arial" panose="020B0604020202020204" pitchFamily="34" charset="0"/>
              <a:buChar char="•"/>
            </a:pPr>
            <a:r>
              <a:rPr lang="en-US" sz="2400" dirty="0">
                <a:solidFill>
                  <a:schemeClr val="tx1"/>
                </a:solidFill>
              </a:rPr>
              <a:t>Both with and without are almost the same, and this is normal because we have applied this method on the purpose of the </a:t>
            </a:r>
            <a:r>
              <a:rPr lang="en-US" sz="2400" b="1" dirty="0">
                <a:solidFill>
                  <a:schemeClr val="tx1"/>
                </a:solidFill>
              </a:rPr>
              <a:t>Logistic Regression</a:t>
            </a:r>
            <a:r>
              <a:rPr lang="en-US" sz="2400" dirty="0">
                <a:solidFill>
                  <a:schemeClr val="tx1"/>
                </a:solidFill>
              </a:rPr>
              <a:t> only.</a:t>
            </a:r>
          </a:p>
          <a:p>
            <a:pPr algn="ctr"/>
            <a:endParaRPr lang="en-US" sz="2400" dirty="0">
              <a:solidFill>
                <a:schemeClr val="tx1"/>
              </a:solidFill>
            </a:endParaRPr>
          </a:p>
        </p:txBody>
      </p:sp>
      <p:sp>
        <p:nvSpPr>
          <p:cNvPr id="3" name="Rectangle 2">
            <a:extLst>
              <a:ext uri="{FF2B5EF4-FFF2-40B4-BE49-F238E27FC236}">
                <a16:creationId xmlns:a16="http://schemas.microsoft.com/office/drawing/2014/main" id="{4CA02BC6-D094-4653-9C9E-886A8BEAB79E}"/>
              </a:ext>
            </a:extLst>
          </p:cNvPr>
          <p:cNvSpPr/>
          <p:nvPr/>
        </p:nvSpPr>
        <p:spPr>
          <a:xfrm>
            <a:off x="-490331" y="371059"/>
            <a:ext cx="4426226" cy="5168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u="sng" dirty="0">
                <a:solidFill>
                  <a:schemeClr val="tx1"/>
                </a:solidFill>
              </a:rPr>
              <a:t>Interpretation:</a:t>
            </a:r>
          </a:p>
        </p:txBody>
      </p:sp>
    </p:spTree>
    <p:extLst>
      <p:ext uri="{BB962C8B-B14F-4D97-AF65-F5344CB8AC3E}">
        <p14:creationId xmlns:p14="http://schemas.microsoft.com/office/powerpoint/2010/main" val="4054098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CBC6B2-F359-4A79-986F-59C69122CF44}"/>
              </a:ext>
            </a:extLst>
          </p:cNvPr>
          <p:cNvSpPr/>
          <p:nvPr/>
        </p:nvSpPr>
        <p:spPr>
          <a:xfrm>
            <a:off x="238539" y="1205946"/>
            <a:ext cx="11714921" cy="518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3" name="Rectangle 2">
            <a:extLst>
              <a:ext uri="{FF2B5EF4-FFF2-40B4-BE49-F238E27FC236}">
                <a16:creationId xmlns:a16="http://schemas.microsoft.com/office/drawing/2014/main" id="{4CA02BC6-D094-4653-9C9E-886A8BEAB79E}"/>
              </a:ext>
            </a:extLst>
          </p:cNvPr>
          <p:cNvSpPr/>
          <p:nvPr/>
        </p:nvSpPr>
        <p:spPr>
          <a:xfrm>
            <a:off x="-490331" y="371059"/>
            <a:ext cx="4426226" cy="5168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u="sng" dirty="0">
                <a:solidFill>
                  <a:schemeClr val="tx1"/>
                </a:solidFill>
              </a:rPr>
              <a:t>Interpretation:</a:t>
            </a:r>
          </a:p>
        </p:txBody>
      </p:sp>
      <p:graphicFrame>
        <p:nvGraphicFramePr>
          <p:cNvPr id="5" name="Table 4">
            <a:extLst>
              <a:ext uri="{FF2B5EF4-FFF2-40B4-BE49-F238E27FC236}">
                <a16:creationId xmlns:a16="http://schemas.microsoft.com/office/drawing/2014/main" id="{1A32DCAF-89B5-4188-BD78-425854E289F3}"/>
              </a:ext>
            </a:extLst>
          </p:cNvPr>
          <p:cNvGraphicFramePr>
            <a:graphicFrameLocks noGrp="1"/>
          </p:cNvGraphicFramePr>
          <p:nvPr/>
        </p:nvGraphicFramePr>
        <p:xfrm>
          <a:off x="238539" y="1205946"/>
          <a:ext cx="10515600" cy="109728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2730950672"/>
                    </a:ext>
                  </a:extLst>
                </a:gridCol>
                <a:gridCol w="2103120">
                  <a:extLst>
                    <a:ext uri="{9D8B030D-6E8A-4147-A177-3AD203B41FA5}">
                      <a16:colId xmlns:a16="http://schemas.microsoft.com/office/drawing/2014/main" val="4088779241"/>
                    </a:ext>
                  </a:extLst>
                </a:gridCol>
                <a:gridCol w="2103120">
                  <a:extLst>
                    <a:ext uri="{9D8B030D-6E8A-4147-A177-3AD203B41FA5}">
                      <a16:colId xmlns:a16="http://schemas.microsoft.com/office/drawing/2014/main" val="3767334545"/>
                    </a:ext>
                  </a:extLst>
                </a:gridCol>
                <a:gridCol w="2103120">
                  <a:extLst>
                    <a:ext uri="{9D8B030D-6E8A-4147-A177-3AD203B41FA5}">
                      <a16:colId xmlns:a16="http://schemas.microsoft.com/office/drawing/2014/main" val="4102717050"/>
                    </a:ext>
                  </a:extLst>
                </a:gridCol>
                <a:gridCol w="2103120">
                  <a:extLst>
                    <a:ext uri="{9D8B030D-6E8A-4147-A177-3AD203B41FA5}">
                      <a16:colId xmlns:a16="http://schemas.microsoft.com/office/drawing/2014/main" val="2943845321"/>
                    </a:ext>
                  </a:extLst>
                </a:gridCol>
              </a:tblGrid>
              <a:tr h="0">
                <a:tc>
                  <a:txBody>
                    <a:bodyPr/>
                    <a:lstStyle/>
                    <a:p>
                      <a:r>
                        <a:rPr lang="en-US"/>
                        <a:t>Method</a:t>
                      </a:r>
                    </a:p>
                  </a:txBody>
                  <a:tcPr anchor="ctr"/>
                </a:tc>
                <a:tc>
                  <a:txBody>
                    <a:bodyPr/>
                    <a:lstStyle/>
                    <a:p>
                      <a:r>
                        <a:rPr lang="en-US"/>
                        <a:t>Model</a:t>
                      </a:r>
                    </a:p>
                  </a:txBody>
                  <a:tcPr anchor="ctr"/>
                </a:tc>
                <a:tc>
                  <a:txBody>
                    <a:bodyPr/>
                    <a:lstStyle/>
                    <a:p>
                      <a:r>
                        <a:rPr lang="en-US"/>
                        <a:t>Precision</a:t>
                      </a:r>
                    </a:p>
                  </a:txBody>
                  <a:tcPr anchor="ctr"/>
                </a:tc>
                <a:tc>
                  <a:txBody>
                    <a:bodyPr/>
                    <a:lstStyle/>
                    <a:p>
                      <a:r>
                        <a:rPr lang="en-US"/>
                        <a:t>Recall</a:t>
                      </a:r>
                    </a:p>
                  </a:txBody>
                  <a:tcPr anchor="ctr"/>
                </a:tc>
                <a:tc>
                  <a:txBody>
                    <a:bodyPr/>
                    <a:lstStyle/>
                    <a:p>
                      <a:r>
                        <a:rPr lang="en-US"/>
                        <a:t>F1-score</a:t>
                      </a:r>
                    </a:p>
                  </a:txBody>
                  <a:tcPr anchor="ctr"/>
                </a:tc>
                <a:extLst>
                  <a:ext uri="{0D108BD9-81ED-4DB2-BD59-A6C34878D82A}">
                    <a16:rowId xmlns:a16="http://schemas.microsoft.com/office/drawing/2014/main" val="3729597256"/>
                  </a:ext>
                </a:extLst>
              </a:tr>
              <a:tr h="0">
                <a:tc>
                  <a:txBody>
                    <a:bodyPr/>
                    <a:lstStyle/>
                    <a:p>
                      <a:r>
                        <a:rPr lang="en-US"/>
                        <a:t>SMOTETomek</a:t>
                      </a:r>
                    </a:p>
                  </a:txBody>
                  <a:tcPr anchor="ctr"/>
                </a:tc>
                <a:tc>
                  <a:txBody>
                    <a:bodyPr/>
                    <a:lstStyle/>
                    <a:p>
                      <a:r>
                        <a:rPr lang="en-US"/>
                        <a:t>Gradient Boosting</a:t>
                      </a:r>
                    </a:p>
                  </a:txBody>
                  <a:tcPr anchor="ctr"/>
                </a:tc>
                <a:tc>
                  <a:txBody>
                    <a:bodyPr/>
                    <a:lstStyle/>
                    <a:p>
                      <a:r>
                        <a:rPr lang="en-US"/>
                        <a:t>0.48</a:t>
                      </a:r>
                    </a:p>
                  </a:txBody>
                  <a:tcPr anchor="ctr"/>
                </a:tc>
                <a:tc>
                  <a:txBody>
                    <a:bodyPr/>
                    <a:lstStyle/>
                    <a:p>
                      <a:r>
                        <a:rPr lang="en-US"/>
                        <a:t>0.67</a:t>
                      </a:r>
                    </a:p>
                  </a:txBody>
                  <a:tcPr anchor="ctr"/>
                </a:tc>
                <a:tc>
                  <a:txBody>
                    <a:bodyPr/>
                    <a:lstStyle/>
                    <a:p>
                      <a:r>
                        <a:rPr lang="en-US"/>
                        <a:t>0.56</a:t>
                      </a:r>
                    </a:p>
                  </a:txBody>
                  <a:tcPr anchor="ctr"/>
                </a:tc>
                <a:extLst>
                  <a:ext uri="{0D108BD9-81ED-4DB2-BD59-A6C34878D82A}">
                    <a16:rowId xmlns:a16="http://schemas.microsoft.com/office/drawing/2014/main" val="1273941497"/>
                  </a:ext>
                </a:extLst>
              </a:tr>
              <a:tr h="0">
                <a:tc>
                  <a:txBody>
                    <a:bodyPr/>
                    <a:lstStyle/>
                    <a:p>
                      <a:r>
                        <a:rPr lang="en-US"/>
                        <a:t>NearMiss</a:t>
                      </a:r>
                    </a:p>
                  </a:txBody>
                  <a:tcPr anchor="ctr"/>
                </a:tc>
                <a:tc>
                  <a:txBody>
                    <a:bodyPr/>
                    <a:lstStyle/>
                    <a:p>
                      <a:r>
                        <a:rPr lang="en-US"/>
                        <a:t>SVM</a:t>
                      </a:r>
                    </a:p>
                  </a:txBody>
                  <a:tcPr anchor="ctr"/>
                </a:tc>
                <a:tc>
                  <a:txBody>
                    <a:bodyPr/>
                    <a:lstStyle/>
                    <a:p>
                      <a:r>
                        <a:rPr lang="en-US"/>
                        <a:t>0.32</a:t>
                      </a:r>
                    </a:p>
                  </a:txBody>
                  <a:tcPr anchor="ctr"/>
                </a:tc>
                <a:tc>
                  <a:txBody>
                    <a:bodyPr/>
                    <a:lstStyle/>
                    <a:p>
                      <a:r>
                        <a:rPr lang="en-US"/>
                        <a:t>0.86</a:t>
                      </a:r>
                    </a:p>
                  </a:txBody>
                  <a:tcPr anchor="ctr"/>
                </a:tc>
                <a:tc>
                  <a:txBody>
                    <a:bodyPr/>
                    <a:lstStyle/>
                    <a:p>
                      <a:r>
                        <a:rPr lang="en-US" dirty="0"/>
                        <a:t>0.46</a:t>
                      </a:r>
                    </a:p>
                  </a:txBody>
                  <a:tcPr anchor="ctr"/>
                </a:tc>
                <a:extLst>
                  <a:ext uri="{0D108BD9-81ED-4DB2-BD59-A6C34878D82A}">
                    <a16:rowId xmlns:a16="http://schemas.microsoft.com/office/drawing/2014/main" val="355297136"/>
                  </a:ext>
                </a:extLst>
              </a:tr>
            </a:tbl>
          </a:graphicData>
        </a:graphic>
      </p:graphicFrame>
      <p:sp>
        <p:nvSpPr>
          <p:cNvPr id="6" name="Rectangle 5">
            <a:extLst>
              <a:ext uri="{FF2B5EF4-FFF2-40B4-BE49-F238E27FC236}">
                <a16:creationId xmlns:a16="http://schemas.microsoft.com/office/drawing/2014/main" id="{5B8228EA-FFA4-4B1A-B57E-E44F73CC362C}"/>
              </a:ext>
            </a:extLst>
          </p:cNvPr>
          <p:cNvSpPr/>
          <p:nvPr/>
        </p:nvSpPr>
        <p:spPr>
          <a:xfrm>
            <a:off x="238539" y="2464905"/>
            <a:ext cx="11714921" cy="43930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Gradient Boosting</a:t>
            </a:r>
            <a:r>
              <a:rPr lang="en-US" sz="2000" dirty="0">
                <a:solidFill>
                  <a:schemeClr val="tx1"/>
                </a:solidFill>
              </a:rPr>
              <a:t> (</a:t>
            </a:r>
            <a:r>
              <a:rPr lang="en-US" sz="2000" dirty="0" err="1">
                <a:solidFill>
                  <a:schemeClr val="tx1"/>
                </a:solidFill>
              </a:rPr>
              <a:t>SMOTETomek</a:t>
            </a:r>
            <a:r>
              <a:rPr lang="en-US" sz="2000" dirty="0">
                <a:solidFill>
                  <a:schemeClr val="tx1"/>
                </a:solidFill>
              </a:rPr>
              <a:t>) Is Better:</a:t>
            </a:r>
            <a:endParaRPr lang="en-US" sz="2000" b="1" dirty="0">
              <a:solidFill>
                <a:schemeClr val="tx1"/>
              </a:solidFill>
            </a:endParaRPr>
          </a:p>
          <a:p>
            <a:r>
              <a:rPr lang="en-US" sz="2000" b="1" dirty="0">
                <a:solidFill>
                  <a:schemeClr val="tx1"/>
                </a:solidFill>
              </a:rPr>
              <a:t>1. Higher F1-score (0.56):</a:t>
            </a:r>
          </a:p>
          <a:p>
            <a:r>
              <a:rPr lang="en-US" sz="2000" dirty="0">
                <a:solidFill>
                  <a:schemeClr val="tx1"/>
                </a:solidFill>
              </a:rPr>
              <a:t>This means it balances false positives and false negatives better than the SVM with </a:t>
            </a:r>
            <a:r>
              <a:rPr lang="en-US" sz="2000" dirty="0" err="1">
                <a:solidFill>
                  <a:schemeClr val="tx1"/>
                </a:solidFill>
              </a:rPr>
              <a:t>NearMiss</a:t>
            </a:r>
            <a:r>
              <a:rPr lang="en-US" sz="2000" dirty="0">
                <a:solidFill>
                  <a:schemeClr val="tx1"/>
                </a:solidFill>
              </a:rPr>
              <a:t>.</a:t>
            </a:r>
          </a:p>
          <a:p>
            <a:endParaRPr lang="en-US" sz="2000" b="1" dirty="0">
              <a:solidFill>
                <a:schemeClr val="tx1"/>
              </a:solidFill>
            </a:endParaRPr>
          </a:p>
          <a:p>
            <a:r>
              <a:rPr lang="en-US" sz="2000" b="1" dirty="0">
                <a:solidFill>
                  <a:schemeClr val="tx1"/>
                </a:solidFill>
              </a:rPr>
              <a:t>2. Higher precision (0.48)</a:t>
            </a:r>
          </a:p>
          <a:p>
            <a:r>
              <a:rPr lang="en-US" sz="2000" dirty="0">
                <a:solidFill>
                  <a:schemeClr val="tx1"/>
                </a:solidFill>
              </a:rPr>
              <a:t>SVM’s precision is much lower (0.32).</a:t>
            </a:r>
            <a:br>
              <a:rPr lang="en-US" sz="2000" dirty="0">
                <a:solidFill>
                  <a:schemeClr val="tx1"/>
                </a:solidFill>
              </a:rPr>
            </a:br>
            <a:r>
              <a:rPr lang="en-US" sz="2000" dirty="0">
                <a:solidFill>
                  <a:schemeClr val="tx1"/>
                </a:solidFill>
              </a:rPr>
              <a:t>In marketing, </a:t>
            </a:r>
            <a:r>
              <a:rPr lang="en-US" sz="2000" b="1" dirty="0">
                <a:solidFill>
                  <a:schemeClr val="tx1"/>
                </a:solidFill>
              </a:rPr>
              <a:t>precision matters</a:t>
            </a:r>
            <a:r>
              <a:rPr lang="en-US" sz="2000" dirty="0">
                <a:solidFill>
                  <a:schemeClr val="tx1"/>
                </a:solidFill>
              </a:rPr>
              <a:t> because:</a:t>
            </a:r>
          </a:p>
          <a:p>
            <a:r>
              <a:rPr lang="en-US" sz="2000" dirty="0">
                <a:solidFill>
                  <a:schemeClr val="tx1"/>
                </a:solidFill>
              </a:rPr>
              <a:t>A low precision means many customers are incorrectly classified as “yes”</a:t>
            </a:r>
          </a:p>
          <a:p>
            <a:r>
              <a:rPr lang="en-US" sz="2000" dirty="0">
                <a:solidFill>
                  <a:schemeClr val="tx1"/>
                </a:solidFill>
              </a:rPr>
              <a:t>This leads to </a:t>
            </a:r>
            <a:r>
              <a:rPr lang="en-US" sz="2000" b="1" dirty="0">
                <a:solidFill>
                  <a:schemeClr val="tx1"/>
                </a:solidFill>
              </a:rPr>
              <a:t>wasted marketing calls</a:t>
            </a:r>
            <a:r>
              <a:rPr lang="en-US" sz="2000" dirty="0">
                <a:solidFill>
                  <a:schemeClr val="tx1"/>
                </a:solidFill>
              </a:rPr>
              <a:t>, </a:t>
            </a:r>
            <a:r>
              <a:rPr lang="en-US" sz="2000" b="1" dirty="0">
                <a:solidFill>
                  <a:schemeClr val="tx1"/>
                </a:solidFill>
              </a:rPr>
              <a:t>wasted budget</a:t>
            </a:r>
            <a:r>
              <a:rPr lang="en-US" sz="2000" dirty="0">
                <a:solidFill>
                  <a:schemeClr val="tx1"/>
                </a:solidFill>
              </a:rPr>
              <a:t>, and </a:t>
            </a:r>
            <a:r>
              <a:rPr lang="en-US" sz="2000" b="1" dirty="0">
                <a:solidFill>
                  <a:schemeClr val="tx1"/>
                </a:solidFill>
              </a:rPr>
              <a:t>annoyed customers.</a:t>
            </a:r>
          </a:p>
          <a:p>
            <a:endParaRPr lang="en-US" sz="2000" dirty="0">
              <a:solidFill>
                <a:schemeClr val="tx1"/>
              </a:solidFill>
            </a:endParaRPr>
          </a:p>
          <a:p>
            <a:r>
              <a:rPr lang="en-US" sz="2000" b="1" dirty="0">
                <a:solidFill>
                  <a:schemeClr val="tx1"/>
                </a:solidFill>
              </a:rPr>
              <a:t>3. Good recall (0.67)</a:t>
            </a:r>
          </a:p>
          <a:p>
            <a:r>
              <a:rPr lang="en-US" sz="2000" dirty="0">
                <a:solidFill>
                  <a:schemeClr val="tx1"/>
                </a:solidFill>
              </a:rPr>
              <a:t>Not as high as SVM, but still strong.</a:t>
            </a:r>
            <a:br>
              <a:rPr lang="en-US" sz="2000" dirty="0">
                <a:solidFill>
                  <a:schemeClr val="tx1"/>
                </a:solidFill>
              </a:rPr>
            </a:br>
            <a:r>
              <a:rPr lang="en-US" sz="2000" dirty="0">
                <a:solidFill>
                  <a:schemeClr val="tx1"/>
                </a:solidFill>
              </a:rPr>
              <a:t>It catches most customers who will subscribe.</a:t>
            </a:r>
          </a:p>
          <a:p>
            <a:pPr algn="ctr"/>
            <a:endParaRPr lang="en-US" sz="2000" dirty="0">
              <a:solidFill>
                <a:schemeClr val="tx1"/>
              </a:solidFill>
            </a:endParaRPr>
          </a:p>
        </p:txBody>
      </p:sp>
    </p:spTree>
    <p:extLst>
      <p:ext uri="{BB962C8B-B14F-4D97-AF65-F5344CB8AC3E}">
        <p14:creationId xmlns:p14="http://schemas.microsoft.com/office/powerpoint/2010/main" val="17476029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2B5723-A2AC-2545-0D6C-E745BDCB272E}"/>
              </a:ext>
            </a:extLst>
          </p:cNvPr>
          <p:cNvSpPr txBox="1"/>
          <p:nvPr/>
        </p:nvSpPr>
        <p:spPr>
          <a:xfrm>
            <a:off x="500743" y="632561"/>
            <a:ext cx="11190513" cy="5592878"/>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2400" b="1" u="sng" kern="100" dirty="0">
                <a:effectLst/>
                <a:latin typeface="Aptos" panose="020B0004020202020204" pitchFamily="34" charset="0"/>
                <a:ea typeface="Aptos" panose="020B0004020202020204" pitchFamily="34" charset="0"/>
                <a:cs typeface="Arial" panose="020B0604020202020204" pitchFamily="34" charset="0"/>
              </a:rPr>
              <a:t>Challenges</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During the procedure of our project, we faced some challenges and difficulties that made us struggle to find an appropriate solution for it.</a:t>
            </a: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Some of these challenges are:</a:t>
            </a:r>
          </a:p>
          <a:p>
            <a:pPr marL="4572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 </a:t>
            </a:r>
          </a:p>
          <a:p>
            <a:pPr marL="342900" marR="0" lvl="0" indent="-342900">
              <a:lnSpc>
                <a:spcPct val="115000"/>
              </a:lnSpc>
              <a:buFont typeface="Symbol" panose="05050102010706020507" pitchFamily="18" charset="2"/>
              <a:buChar char=""/>
            </a:pPr>
            <a:r>
              <a:rPr lang="en-US" sz="2400" kern="100" dirty="0">
                <a:effectLst/>
                <a:latin typeface="Aptos" panose="020B0004020202020204" pitchFamily="34" charset="0"/>
                <a:ea typeface="Aptos" panose="020B0004020202020204" pitchFamily="34" charset="0"/>
                <a:cs typeface="Arial" panose="020B0604020202020204" pitchFamily="34" charset="0"/>
              </a:rPr>
              <a:t>The target variable (“y”) was highly </a:t>
            </a:r>
            <a:r>
              <a:rPr lang="en-US" sz="2400" b="1" kern="100" dirty="0">
                <a:effectLst/>
                <a:latin typeface="Aptos" panose="020B0004020202020204" pitchFamily="34" charset="0"/>
                <a:ea typeface="Aptos" panose="020B0004020202020204" pitchFamily="34" charset="0"/>
                <a:cs typeface="Arial" panose="020B0604020202020204" pitchFamily="34" charset="0"/>
              </a:rPr>
              <a:t>imbalanced</a:t>
            </a:r>
            <a:r>
              <a:rPr lang="en-US" sz="2400" kern="100" dirty="0">
                <a:effectLst/>
                <a:latin typeface="Aptos" panose="020B0004020202020204" pitchFamily="34" charset="0"/>
                <a:ea typeface="Aptos" panose="020B0004020202020204" pitchFamily="34" charset="0"/>
                <a:cs typeface="Arial" panose="020B0604020202020204" pitchFamily="34" charset="0"/>
              </a:rPr>
              <a:t>, and this created a critical challenge in the project. Handling this issue required using specific techniques so that the model’s accuracy and predictions wouldn’t be affected.</a:t>
            </a:r>
          </a:p>
          <a:p>
            <a:pPr marL="914400" marR="0">
              <a:lnSpc>
                <a:spcPct val="115000"/>
              </a:lnSpc>
              <a:buNone/>
            </a:pPr>
            <a:r>
              <a:rPr lang="en-US" sz="24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nSpc>
                <a:spcPct val="115000"/>
              </a:lnSpc>
              <a:spcAft>
                <a:spcPts val="800"/>
              </a:spcAft>
              <a:buFont typeface="Symbol" panose="05050102010706020507" pitchFamily="18" charset="2"/>
              <a:buChar char=""/>
            </a:pPr>
            <a:r>
              <a:rPr lang="en-US" sz="2400" kern="100" dirty="0">
                <a:effectLst/>
                <a:latin typeface="Aptos" panose="020B0004020202020204" pitchFamily="34" charset="0"/>
                <a:ea typeface="Aptos" panose="020B0004020202020204" pitchFamily="34" charset="0"/>
                <a:cs typeface="Arial" panose="020B0604020202020204" pitchFamily="34" charset="0"/>
              </a:rPr>
              <a:t>Most of the features in the dataset were</a:t>
            </a:r>
            <a:r>
              <a:rPr lang="en-US" sz="2400" b="1" kern="100" dirty="0">
                <a:effectLst/>
                <a:latin typeface="Aptos" panose="020B0004020202020204" pitchFamily="34" charset="0"/>
                <a:ea typeface="Aptos" panose="020B0004020202020204" pitchFamily="34" charset="0"/>
                <a:cs typeface="Arial" panose="020B0604020202020204" pitchFamily="34" charset="0"/>
              </a:rPr>
              <a:t> Categorical</a:t>
            </a:r>
            <a:r>
              <a:rPr lang="en-US" sz="2400" kern="100" dirty="0">
                <a:effectLst/>
                <a:latin typeface="Aptos" panose="020B0004020202020204" pitchFamily="34" charset="0"/>
                <a:ea typeface="Aptos" panose="020B0004020202020204" pitchFamily="34" charset="0"/>
                <a:cs typeface="Arial" panose="020B0604020202020204" pitchFamily="34" charset="0"/>
              </a:rPr>
              <a:t>, which meant we had to do extra work and apply specific techniques to process them. This included applying </a:t>
            </a:r>
            <a:r>
              <a:rPr lang="en-US" sz="2400" b="1" kern="100" dirty="0">
                <a:effectLst/>
                <a:latin typeface="Aptos" panose="020B0004020202020204" pitchFamily="34" charset="0"/>
                <a:ea typeface="Aptos" panose="020B0004020202020204" pitchFamily="34" charset="0"/>
                <a:cs typeface="Arial" panose="020B0604020202020204" pitchFamily="34" charset="0"/>
              </a:rPr>
              <a:t>feature encoding</a:t>
            </a:r>
            <a:r>
              <a:rPr lang="en-US" sz="2400" kern="100" dirty="0">
                <a:effectLst/>
                <a:latin typeface="Aptos" panose="020B0004020202020204" pitchFamily="34" charset="0"/>
                <a:ea typeface="Aptos" panose="020B0004020202020204" pitchFamily="34" charset="0"/>
                <a:cs typeface="Arial" panose="020B0604020202020204" pitchFamily="34" charset="0"/>
              </a:rPr>
              <a:t> and several additional steps, which required more time and effort.</a:t>
            </a:r>
          </a:p>
        </p:txBody>
      </p:sp>
    </p:spTree>
    <p:extLst>
      <p:ext uri="{BB962C8B-B14F-4D97-AF65-F5344CB8AC3E}">
        <p14:creationId xmlns:p14="http://schemas.microsoft.com/office/powerpoint/2010/main" val="24015390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2D3AD34-47F8-5291-54C3-EAA045EBD40C}"/>
              </a:ext>
            </a:extLst>
          </p:cNvPr>
          <p:cNvSpPr txBox="1"/>
          <p:nvPr/>
        </p:nvSpPr>
        <p:spPr>
          <a:xfrm>
            <a:off x="510289" y="562047"/>
            <a:ext cx="6096000" cy="1770293"/>
          </a:xfrm>
          <a:prstGeom prst="rect">
            <a:avLst/>
          </a:prstGeom>
          <a:noFill/>
        </p:spPr>
        <p:txBody>
          <a:bodyPr wrap="square">
            <a:spAutoFit/>
          </a:bodyPr>
          <a:lstStyle/>
          <a:p>
            <a:pPr marL="342900" marR="0" lvl="0" indent="-342900" rtl="0">
              <a:lnSpc>
                <a:spcPct val="115000"/>
              </a:lnSpc>
              <a:buFont typeface="Wingdings" panose="05000000000000000000" pitchFamily="2" charset="2"/>
              <a:buChar char=""/>
            </a:pPr>
            <a:r>
              <a:rPr lang="en-US" sz="2400" b="1" u="sng" kern="100" dirty="0">
                <a:effectLst/>
                <a:latin typeface="Aptos" panose="020B0004020202020204" pitchFamily="34" charset="0"/>
                <a:ea typeface="Aptos" panose="020B0004020202020204" pitchFamily="34" charset="0"/>
                <a:cs typeface="Arial" panose="020B0604020202020204" pitchFamily="34" charset="0"/>
              </a:rPr>
              <a:t>References</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buFont typeface="Symbol" panose="05050102010706020507" pitchFamily="18" charset="2"/>
              <a:buChar char=""/>
            </a:pPr>
            <a:r>
              <a:rPr lang="en-US" sz="2400" kern="100" dirty="0">
                <a:effectLst/>
                <a:latin typeface="Aptos" panose="020B0004020202020204" pitchFamily="34" charset="0"/>
                <a:ea typeface="Aptos" panose="020B0004020202020204" pitchFamily="34" charset="0"/>
                <a:cs typeface="Arial" panose="020B0604020202020204" pitchFamily="34" charset="0"/>
              </a:rPr>
              <a:t>Dataset: </a:t>
            </a:r>
            <a:r>
              <a:rPr lang="en-US" sz="2400" u="sng" kern="100" dirty="0">
                <a:solidFill>
                  <a:srgbClr val="0000FF"/>
                </a:solidFill>
                <a:effectLst/>
                <a:latin typeface="Aptos" panose="020B0004020202020204" pitchFamily="34" charset="0"/>
                <a:ea typeface="Aptos" panose="020B0004020202020204" pitchFamily="34" charset="0"/>
                <a:cs typeface="Arial" panose="020B0604020202020204" pitchFamily="34" charset="0"/>
                <a:hlinkClick r:id="rId3"/>
              </a:rPr>
              <a:t>UCI</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buFont typeface="Symbol" panose="05050102010706020507" pitchFamily="18" charset="2"/>
              <a:buChar char=""/>
            </a:pPr>
            <a:r>
              <a:rPr lang="en-US" sz="2400" u="sng" kern="100" dirty="0">
                <a:solidFill>
                  <a:srgbClr val="0000FF"/>
                </a:solidFill>
                <a:effectLst/>
                <a:latin typeface="Aptos" panose="020B0004020202020204" pitchFamily="34" charset="0"/>
                <a:ea typeface="Aptos" panose="020B0004020202020204" pitchFamily="34" charset="0"/>
                <a:cs typeface="Arial" panose="020B0604020202020204" pitchFamily="34" charset="0"/>
                <a:hlinkClick r:id="rId4"/>
              </a:rPr>
              <a:t>VIF</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800100" lvl="1" indent="-342900">
              <a:lnSpc>
                <a:spcPct val="115000"/>
              </a:lnSpc>
              <a:spcAft>
                <a:spcPts val="800"/>
              </a:spcAft>
              <a:buFont typeface="Symbol" panose="05050102010706020507" pitchFamily="18" charset="2"/>
              <a:buChar char=""/>
            </a:pPr>
            <a:r>
              <a:rPr lang="en-US" sz="2400" u="sng" kern="100" dirty="0" err="1">
                <a:solidFill>
                  <a:srgbClr val="0000FF"/>
                </a:solidFill>
                <a:effectLst/>
                <a:latin typeface="Aptos" panose="020B0004020202020204" pitchFamily="34" charset="0"/>
                <a:ea typeface="Aptos" panose="020B0004020202020204" pitchFamily="34" charset="0"/>
                <a:cs typeface="Arial" panose="020B0604020202020204" pitchFamily="34" charset="0"/>
                <a:hlinkClick r:id="rId5"/>
              </a:rPr>
              <a:t>SMOTETenc</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2909172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D08997-1B5E-4F07-A7BE-47F11167B8B0}"/>
              </a:ext>
            </a:extLst>
          </p:cNvPr>
          <p:cNvSpPr/>
          <p:nvPr/>
        </p:nvSpPr>
        <p:spPr>
          <a:xfrm>
            <a:off x="576470" y="742122"/>
            <a:ext cx="11039060" cy="518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solidFill>
                  <a:schemeClr val="tx1"/>
                </a:solidFill>
              </a:rPr>
              <a:t>Thanks for Listening</a:t>
            </a:r>
          </a:p>
          <a:p>
            <a:pPr algn="ctr"/>
            <a:r>
              <a:rPr lang="en-US" sz="2400" dirty="0">
                <a:solidFill>
                  <a:schemeClr val="tx1"/>
                </a:solidFill>
              </a:rPr>
              <a:t>Prepared by: Mohamad Badra</a:t>
            </a:r>
          </a:p>
        </p:txBody>
      </p:sp>
    </p:spTree>
    <p:extLst>
      <p:ext uri="{BB962C8B-B14F-4D97-AF65-F5344CB8AC3E}">
        <p14:creationId xmlns:p14="http://schemas.microsoft.com/office/powerpoint/2010/main" val="741862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3904</Words>
  <Application>Microsoft Office PowerPoint</Application>
  <PresentationFormat>Widescreen</PresentationFormat>
  <Paragraphs>1636</Paragraphs>
  <Slides>52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Aptos</vt:lpstr>
      <vt:lpstr>Aptos Display</vt:lpstr>
      <vt:lpstr>Arial</vt:lpstr>
      <vt:lpstr>Calibri</vt:lpstr>
      <vt:lpstr>Mangal</vt:lpstr>
      <vt:lpstr>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Oussama Obeid</dc:creator>
  <cp:lastModifiedBy>Mohamad Badra</cp:lastModifiedBy>
  <cp:revision>42</cp:revision>
  <dcterms:created xsi:type="dcterms:W3CDTF">2025-11-16T19:59:58Z</dcterms:created>
  <dcterms:modified xsi:type="dcterms:W3CDTF">2026-07-29T03:04:47Z</dcterms:modified>
</cp:coreProperties>
</file>